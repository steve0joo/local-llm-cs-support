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charts/chart3.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27"/>
  </p:notesMasterIdLst>
  <p:sldIdLst>
    <p:sldId id="361" r:id="rId2"/>
    <p:sldId id="341" r:id="rId3"/>
    <p:sldId id="342" r:id="rId4"/>
    <p:sldId id="345" r:id="rId5"/>
    <p:sldId id="344" r:id="rId6"/>
    <p:sldId id="343" r:id="rId7"/>
    <p:sldId id="346" r:id="rId8"/>
    <p:sldId id="347" r:id="rId9"/>
    <p:sldId id="348" r:id="rId10"/>
    <p:sldId id="349" r:id="rId11"/>
    <p:sldId id="350" r:id="rId12"/>
    <p:sldId id="301" r:id="rId13"/>
    <p:sldId id="328" r:id="rId14"/>
    <p:sldId id="303" r:id="rId15"/>
    <p:sldId id="257" r:id="rId16"/>
    <p:sldId id="305" r:id="rId17"/>
    <p:sldId id="256" r:id="rId18"/>
    <p:sldId id="258" r:id="rId19"/>
    <p:sldId id="259" r:id="rId20"/>
    <p:sldId id="352" r:id="rId21"/>
    <p:sldId id="353" r:id="rId22"/>
    <p:sldId id="354" r:id="rId23"/>
    <p:sldId id="355" r:id="rId24"/>
    <p:sldId id="364" r:id="rId25"/>
    <p:sldId id="365"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5753" autoAdjust="0"/>
  </p:normalViewPr>
  <p:slideViewPr>
    <p:cSldViewPr snapToGrid="0" snapToObjects="1">
      <p:cViewPr varScale="1">
        <p:scale>
          <a:sx n="98" d="100"/>
          <a:sy n="98" d="100"/>
        </p:scale>
        <p:origin x="73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0"/>
    <c:plotArea>
      <c:layout/>
      <c:barChart>
        <c:barDir val="col"/>
        <c:grouping val="clustered"/>
        <c:varyColors val="1"/>
        <c:ser>
          <c:idx val="0"/>
          <c:order val="0"/>
          <c:tx>
            <c:strRef>
              <c:f>Sheet1!$B$1</c:f>
              <c:strCache>
                <c:ptCount val="1"/>
                <c:pt idx="0">
                  <c:v>에이전트 단위 정확도</c:v>
                </c:pt>
              </c:strCache>
            </c:strRef>
          </c:tx>
          <c:spPr>
            <a:solidFill>
              <a:srgbClr val="41659E"/>
            </a:solidFill>
          </c:spPr>
          <c:invertIfNegative val="1"/>
          <c:dLbls>
            <c:numFmt formatCode="General" sourceLinked="0"/>
            <c:spPr>
              <a:noFill/>
              <a:ln>
                <a:noFill/>
              </a:ln>
              <a:effectLst/>
            </c:spPr>
            <c:txPr>
              <a:bodyPr/>
              <a:lstStyle/>
              <a:p>
                <a:pPr>
                  <a:defRPr sz="850"/>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학습 1번</c:v>
                </c:pt>
                <c:pt idx="1">
                  <c:v>학습 2번</c:v>
                </c:pt>
                <c:pt idx="2">
                  <c:v>현 cs-router</c:v>
                </c:pt>
              </c:strCache>
            </c:strRef>
          </c:cat>
          <c:val>
            <c:numRef>
              <c:f>Sheet1!$B$2:$B$4</c:f>
              <c:numCache>
                <c:formatCode>General</c:formatCode>
                <c:ptCount val="3"/>
                <c:pt idx="0">
                  <c:v>5.7</c:v>
                </c:pt>
                <c:pt idx="1">
                  <c:v>80.5</c:v>
                </c:pt>
                <c:pt idx="2">
                  <c:v>81.900000000000006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524-4396-94A1-047F1B0F0902}"/>
            </c:ext>
          </c:extLst>
        </c:ser>
        <c:ser>
          <c:idx val="1"/>
          <c:order val="1"/>
          <c:tx>
            <c:strRef>
              <c:f>Sheet1!$C$1</c:f>
              <c:strCache>
                <c:ptCount val="1"/>
                <c:pt idx="0">
                  <c:v>9주제 정확도</c:v>
                </c:pt>
              </c:strCache>
            </c:strRef>
          </c:tx>
          <c:spPr>
            <a:solidFill>
              <a:srgbClr val="8FB0DD"/>
            </a:solidFill>
          </c:spPr>
          <c:invertIfNegative val="1"/>
          <c:dLbls>
            <c:numFmt formatCode="General" sourceLinked="0"/>
            <c:spPr>
              <a:noFill/>
              <a:ln>
                <a:noFill/>
              </a:ln>
              <a:effectLst/>
            </c:spPr>
            <c:txPr>
              <a:bodyPr/>
              <a:lstStyle/>
              <a:p>
                <a:pPr>
                  <a:defRPr sz="850"/>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학습 1번</c:v>
                </c:pt>
                <c:pt idx="1">
                  <c:v>학습 2번</c:v>
                </c:pt>
                <c:pt idx="2">
                  <c:v>현 cs-router</c:v>
                </c:pt>
              </c:strCache>
            </c:strRef>
          </c:cat>
          <c:val>
            <c:numRef>
              <c:f>Sheet1!$C$2:$C$4</c:f>
              <c:numCache>
                <c:formatCode>General</c:formatCode>
                <c:ptCount val="3"/>
                <c:pt idx="0">
                  <c:v>5.7</c:v>
                </c:pt>
                <c:pt idx="1">
                  <c:v>76.599999999999994</c:v>
                </c:pt>
                <c:pt idx="2">
                  <c:v>78.8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A524-4396-94A1-047F1B0F0902}"/>
            </c:ext>
          </c:extLst>
        </c:ser>
        <c:ser>
          <c:idx val="2"/>
          <c:order val="2"/>
          <c:tx>
            <c:strRef>
              <c:f>Sheet1!$D$1</c:f>
              <c:strCache>
                <c:ptCount val="1"/>
                <c:pt idx="0">
                  <c:v>macro-F1 (×100)</c:v>
                </c:pt>
              </c:strCache>
            </c:strRef>
          </c:tx>
          <c:spPr>
            <a:solidFill>
              <a:srgbClr val="CBD5E1"/>
            </a:solidFill>
          </c:spPr>
          <c:invertIfNegative val="1"/>
          <c:dLbls>
            <c:numFmt formatCode="General" sourceLinked="0"/>
            <c:spPr>
              <a:noFill/>
              <a:ln>
                <a:noFill/>
              </a:ln>
              <a:effectLst/>
            </c:spPr>
            <c:txPr>
              <a:bodyPr/>
              <a:lstStyle/>
              <a:p>
                <a:pPr>
                  <a:defRPr sz="850"/>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학습 1번</c:v>
                </c:pt>
                <c:pt idx="1">
                  <c:v>학습 2번</c:v>
                </c:pt>
                <c:pt idx="2">
                  <c:v>현 cs-router</c:v>
                </c:pt>
              </c:strCache>
            </c:strRef>
          </c:cat>
          <c:val>
            <c:numRef>
              <c:f>Sheet1!$D$2:$D$4</c:f>
              <c:numCache>
                <c:formatCode>General</c:formatCode>
                <c:ptCount val="3"/>
                <c:pt idx="0">
                  <c:v>3.1</c:v>
                </c:pt>
                <c:pt idx="1">
                  <c:v>71.099999999999994</c:v>
                </c:pt>
                <c:pt idx="2">
                  <c:v>74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A524-4396-94A1-047F1B0F0902}"/>
            </c:ext>
          </c:extLst>
        </c:ser>
        <c:dLbls>
          <c:dLblPos val="outEnd"/>
          <c:showLegendKey val="0"/>
          <c:showVal val="1"/>
          <c:showCatName val="0"/>
          <c:showSerName val="0"/>
          <c:showPercent val="0"/>
          <c:showBubbleSize val="0"/>
        </c:dLbls>
        <c:gapWidth val="6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BD5E1"/>
            </a:solidFill>
          </a:ln>
        </c:spPr>
        <c:txPr>
          <a:bodyPr/>
          <a:lstStyle/>
          <a:p>
            <a:pPr>
              <a:defRPr sz="1000">
                <a:solidFill>
                  <a:srgbClr val="64748B"/>
                </a:solidFill>
              </a:defRPr>
            </a:pPr>
            <a:endParaRPr lang="ko-KR"/>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legend>
      <c:legendPos val="b"/>
      <c:overlay val="0"/>
      <c:txPr>
        <a:bodyPr/>
        <a:lstStyle/>
        <a:p>
          <a:pPr>
            <a:defRPr sz="900">
              <a:solidFill>
                <a:srgbClr val="64748B"/>
              </a:solidFill>
            </a:defRPr>
          </a:pPr>
          <a:endParaRPr lang="ko-KR"/>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100" b="0" i="0" u="none" strike="noStrike">
                <a:solidFill>
                  <a:srgbClr val="1B2A3A"/>
                </a:solidFill>
                <a:latin typeface="맑은 고딕"/>
              </a:defRPr>
            </a:pPr>
            <a:r>
              <a:rPr lang="ko-KR" altLang="en-US" sz="1100" b="0" i="0" u="none" strike="noStrike">
                <a:solidFill>
                  <a:srgbClr val="1B2A3A"/>
                </a:solidFill>
                <a:latin typeface="맑은 고딕"/>
              </a:rPr>
              <a:t>규칙 준수율 </a:t>
            </a:r>
            <a:r>
              <a:rPr lang="en-US" altLang="ko-KR" sz="1100" b="0" i="0" u="none" strike="noStrike">
                <a:solidFill>
                  <a:srgbClr val="1B2A3A"/>
                </a:solidFill>
                <a:latin typeface="맑은 고딕"/>
              </a:rPr>
              <a:t>(%, </a:t>
            </a:r>
            <a:r>
              <a:rPr lang="ko-KR" altLang="en-US" sz="1100" b="0" i="0" u="none" strike="noStrike">
                <a:solidFill>
                  <a:srgbClr val="1B2A3A"/>
                </a:solidFill>
                <a:latin typeface="맑은 고딕"/>
              </a:rPr>
              <a:t>통과선 </a:t>
            </a:r>
            <a:r>
              <a:rPr lang="en-US" altLang="ko-KR" sz="1100" b="0" i="0" u="none" strike="noStrike">
                <a:solidFill>
                  <a:srgbClr val="1B2A3A"/>
                </a:solidFill>
                <a:latin typeface="맑은 고딕"/>
              </a:rPr>
              <a:t>80)</a:t>
            </a:r>
          </a:p>
        </c:rich>
      </c:tx>
      <c:overlay val="0"/>
    </c:title>
    <c:autoTitleDeleted val="0"/>
    <c:plotArea>
      <c:layout/>
      <c:barChart>
        <c:barDir val="col"/>
        <c:grouping val="clustered"/>
        <c:varyColors val="0"/>
        <c:ser>
          <c:idx val="0"/>
          <c:order val="0"/>
          <c:tx>
            <c:strRef>
              <c:f>Sheet1!$B$1</c:f>
              <c:strCache>
                <c:ptCount val="1"/>
                <c:pt idx="0">
                  <c:v>규칙 준수율</c:v>
                </c:pt>
              </c:strCache>
            </c:strRef>
          </c:tx>
          <c:spPr>
            <a:solidFill>
              <a:srgbClr val="94A3B8"/>
            </a:solidFill>
            <a:effectLst/>
          </c:spPr>
          <c:invertIfNegative val="0"/>
          <c:dPt>
            <c:idx val="0"/>
            <c:invertIfNegative val="0"/>
            <c:bubble3D val="0"/>
            <c:spPr>
              <a:solidFill>
                <a:srgbClr val="CBD5E1"/>
              </a:solidFill>
            </c:spPr>
            <c:extLst>
              <c:ext xmlns:c16="http://schemas.microsoft.com/office/drawing/2014/chart" uri="{C3380CC4-5D6E-409C-BE32-E72D297353CC}">
                <c16:uniqueId val="{00000001-4DB4-4112-BC35-135693EE77DC}"/>
              </c:ext>
            </c:extLst>
          </c:dPt>
          <c:dPt>
            <c:idx val="1"/>
            <c:invertIfNegative val="0"/>
            <c:bubble3D val="0"/>
            <c:spPr>
              <a:solidFill>
                <a:srgbClr val="CBD5E1"/>
              </a:solidFill>
            </c:spPr>
            <c:extLst>
              <c:ext xmlns:c16="http://schemas.microsoft.com/office/drawing/2014/chart" uri="{C3380CC4-5D6E-409C-BE32-E72D297353CC}">
                <c16:uniqueId val="{00000003-4DB4-4112-BC35-135693EE77DC}"/>
              </c:ext>
            </c:extLst>
          </c:dPt>
          <c:dPt>
            <c:idx val="2"/>
            <c:invertIfNegative val="0"/>
            <c:bubble3D val="0"/>
            <c:spPr>
              <a:solidFill>
                <a:srgbClr val="94A3B8"/>
              </a:solidFill>
              <a:effectLst/>
            </c:spPr>
            <c:extLst>
              <c:ext xmlns:c16="http://schemas.microsoft.com/office/drawing/2014/chart" uri="{C3380CC4-5D6E-409C-BE32-E72D297353CC}">
                <c16:uniqueId val="{00000005-4DB4-4112-BC35-135693EE77DC}"/>
              </c:ext>
            </c:extLst>
          </c:dPt>
          <c:dPt>
            <c:idx val="3"/>
            <c:invertIfNegative val="0"/>
            <c:bubble3D val="0"/>
            <c:spPr>
              <a:solidFill>
                <a:srgbClr val="94A3B8"/>
              </a:solidFill>
              <a:effectLst/>
            </c:spPr>
            <c:extLst>
              <c:ext xmlns:c16="http://schemas.microsoft.com/office/drawing/2014/chart" uri="{C3380CC4-5D6E-409C-BE32-E72D297353CC}">
                <c16:uniqueId val="{00000007-4DB4-4112-BC35-135693EE77DC}"/>
              </c:ext>
            </c:extLst>
          </c:dPt>
          <c:dPt>
            <c:idx val="4"/>
            <c:invertIfNegative val="0"/>
            <c:bubble3D val="0"/>
            <c:spPr>
              <a:solidFill>
                <a:srgbClr val="41659E"/>
              </a:solidFill>
              <a:effectLst/>
            </c:spPr>
            <c:extLst>
              <c:ext xmlns:c16="http://schemas.microsoft.com/office/drawing/2014/chart" uri="{C3380CC4-5D6E-409C-BE32-E72D297353CC}">
                <c16:uniqueId val="{00000009-4DB4-4112-BC35-135693EE77DC}"/>
              </c:ext>
            </c:extLst>
          </c:dPt>
          <c:dLbls>
            <c:numFmt formatCode="#,##0" sourceLinked="0"/>
            <c:spPr>
              <a:noFill/>
              <a:ln>
                <a:noFill/>
              </a:ln>
              <a:effectLst/>
            </c:spPr>
            <c:txPr>
              <a:bodyPr/>
              <a:lstStyle/>
              <a:p>
                <a:pPr>
                  <a:defRPr sz="1000" b="0" i="0" u="none" strike="noStrike">
                    <a:solidFill>
                      <a:srgbClr val="000000"/>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Base</c:v>
                </c:pt>
                <c:pt idx="1">
                  <c:v>v1</c:v>
                </c:pt>
                <c:pt idx="2">
                  <c:v>v2</c:v>
                </c:pt>
                <c:pt idx="3">
                  <c:v>v3</c:v>
                </c:pt>
                <c:pt idx="4">
                  <c:v>v4</c:v>
                </c:pt>
              </c:strCache>
            </c:strRef>
          </c:cat>
          <c:val>
            <c:numRef>
              <c:f>Sheet1!$B$2:$B$6</c:f>
              <c:numCache>
                <c:formatCode>General</c:formatCode>
                <c:ptCount val="5"/>
                <c:pt idx="0">
                  <c:v>47</c:v>
                </c:pt>
                <c:pt idx="1">
                  <c:v>70</c:v>
                </c:pt>
                <c:pt idx="2">
                  <c:v>97</c:v>
                </c:pt>
                <c:pt idx="3">
                  <c:v>100</c:v>
                </c:pt>
                <c:pt idx="4">
                  <c:v>97</c:v>
                </c:pt>
              </c:numCache>
            </c:numRef>
          </c:val>
          <c:extLst>
            <c:ext xmlns:c16="http://schemas.microsoft.com/office/drawing/2014/chart" uri="{C3380CC4-5D6E-409C-BE32-E72D297353CC}">
              <c16:uniqueId val="{0000000A-4DB4-4112-BC35-135693EE77D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맑은 고딕"/>
              </a:defRPr>
            </a:pPr>
            <a:endParaRPr lang="en-US"/>
          </a:p>
        </c:txPr>
        <c:crossAx val="2094734552"/>
        <c:crosses val="autoZero"/>
        <c:auto val="1"/>
        <c:lblAlgn val="ctr"/>
        <c:lblOffset val="100"/>
        <c:noMultiLvlLbl val="1"/>
      </c:catAx>
      <c:valAx>
        <c:axId val="2094734552"/>
        <c:scaling>
          <c:orientation val="minMax"/>
          <c:max val="12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r>
              <a:rPr lang="ko-KR" altLang="en-US" sz="950" b="0">
                <a:solidFill>
                  <a:srgbClr val="64748B"/>
                </a:solidFill>
              </a:rPr>
              <a:t>같은 평가 세트에서 </a:t>
            </a:r>
            <a:r>
              <a:rPr lang="en-US" altLang="ko-KR" sz="950" b="0">
                <a:solidFill>
                  <a:srgbClr val="64748B"/>
                </a:solidFill>
              </a:rPr>
              <a:t>v05 → v07 (%)</a:t>
            </a:r>
          </a:p>
        </c:rich>
      </c:tx>
      <c:overlay val="0"/>
    </c:title>
    <c:autoTitleDeleted val="0"/>
    <c:plotArea>
      <c:layout/>
      <c:barChart>
        <c:barDir val="col"/>
        <c:grouping val="clustered"/>
        <c:varyColors val="1"/>
        <c:ser>
          <c:idx val="0"/>
          <c:order val="0"/>
          <c:tx>
            <c:strRef>
              <c:f>Sheet1!$B$1</c:f>
              <c:strCache>
                <c:ptCount val="1"/>
                <c:pt idx="0">
                  <c:v>v05</c:v>
                </c:pt>
              </c:strCache>
            </c:strRef>
          </c:tx>
          <c:spPr>
            <a:solidFill>
              <a:srgbClr val="CBD5E1"/>
            </a:solidFill>
          </c:spPr>
          <c:invertIfNegative val="1"/>
          <c:dPt>
            <c:idx val="0"/>
            <c:invertIfNegative val="1"/>
            <c:bubble3D val="0"/>
            <c:extLst>
              <c:ext xmlns:c16="http://schemas.microsoft.com/office/drawing/2014/chart" uri="{C3380CC4-5D6E-409C-BE32-E72D297353CC}">
                <c16:uniqueId val="{00000001-09CE-4507-8098-FF8A993DD7F2}"/>
              </c:ext>
            </c:extLst>
          </c:dPt>
          <c:dPt>
            <c:idx val="1"/>
            <c:invertIfNegative val="1"/>
            <c:bubble3D val="0"/>
            <c:extLst>
              <c:ext xmlns:c16="http://schemas.microsoft.com/office/drawing/2014/chart" uri="{C3380CC4-5D6E-409C-BE32-E72D297353CC}">
                <c16:uniqueId val="{00000003-09CE-4507-8098-FF8A993DD7F2}"/>
              </c:ext>
            </c:extLst>
          </c:dPt>
          <c:dPt>
            <c:idx val="2"/>
            <c:invertIfNegative val="1"/>
            <c:bubble3D val="0"/>
            <c:spPr>
              <a:solidFill>
                <a:srgbClr val="41659E"/>
              </a:solidFill>
            </c:spPr>
            <c:extLst>
              <c:ext xmlns:c16="http://schemas.microsoft.com/office/drawing/2014/chart" uri="{C3380CC4-5D6E-409C-BE32-E72D297353CC}">
                <c16:uniqueId val="{00000005-09CE-4507-8098-FF8A993DD7F2}"/>
              </c:ext>
            </c:extLst>
          </c:dPt>
          <c:dLbls>
            <c:numFmt formatCode="General" sourceLinked="0"/>
            <c:spPr>
              <a:noFill/>
              <a:ln>
                <a:noFill/>
              </a:ln>
              <a:effectLst/>
            </c:spPr>
            <c:txPr>
              <a:bodyPr/>
              <a:lstStyle/>
              <a:p>
                <a:pPr>
                  <a:defRPr sz="1100" b="1"/>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규칙 준수 (Golden 34)</c:v>
                </c:pt>
                <c:pt idx="1">
                  <c:v>검증 통과 (질문 119)</c:v>
                </c:pt>
              </c:strCache>
            </c:strRef>
          </c:cat>
          <c:val>
            <c:numRef>
              <c:f>Sheet1!$B$2:$B$3</c:f>
              <c:numCache>
                <c:formatCode>General</c:formatCode>
                <c:ptCount val="2"/>
                <c:pt idx="0">
                  <c:v>91.2</c:v>
                </c:pt>
                <c:pt idx="1">
                  <c:v>69.7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09CE-4507-8098-FF8A993DD7F2}"/>
            </c:ext>
          </c:extLst>
        </c:ser>
        <c:ser>
          <c:idx val="1"/>
          <c:order val="1"/>
          <c:tx>
            <c:strRef>
              <c:f>Sheet1!$C$1</c:f>
              <c:strCache>
                <c:ptCount val="1"/>
                <c:pt idx="0">
                  <c:v>v07</c:v>
                </c:pt>
              </c:strCache>
            </c:strRef>
          </c:tx>
          <c:spPr>
            <a:solidFill>
              <a:srgbClr val="41659E"/>
            </a:solidFill>
          </c:spPr>
          <c:invertIfNegative val="1"/>
          <c:dPt>
            <c:idx val="0"/>
            <c:invertIfNegative val="1"/>
            <c:bubble3D val="0"/>
            <c:extLst>
              <c:ext xmlns:c16="http://schemas.microsoft.com/office/drawing/2014/chart" uri="{C3380CC4-5D6E-409C-BE32-E72D297353CC}">
                <c16:uniqueId val="{00000001-09CE-4507-8098-FF8A993DD7F2}"/>
              </c:ext>
            </c:extLst>
          </c:dPt>
          <c:dPt>
            <c:idx val="1"/>
            <c:invertIfNegative val="1"/>
            <c:bubble3D val="0"/>
            <c:extLst>
              <c:ext xmlns:c16="http://schemas.microsoft.com/office/drawing/2014/chart" uri="{C3380CC4-5D6E-409C-BE32-E72D297353CC}">
                <c16:uniqueId val="{00000003-09CE-4507-8098-FF8A993DD7F2}"/>
              </c:ext>
            </c:extLst>
          </c:dPt>
          <c:dPt>
            <c:idx val="2"/>
            <c:invertIfNegative val="1"/>
            <c:bubble3D val="0"/>
            <c:extLst>
              <c:ext xmlns:c16="http://schemas.microsoft.com/office/drawing/2014/chart" uri="{C3380CC4-5D6E-409C-BE32-E72D297353CC}">
                <c16:uniqueId val="{00000005-09CE-4507-8098-FF8A993DD7F2}"/>
              </c:ext>
            </c:extLst>
          </c:dPt>
          <c:dLbls>
            <c:numFmt formatCode="General" sourceLinked="0"/>
            <c:spPr>
              <a:noFill/>
              <a:ln>
                <a:noFill/>
              </a:ln>
              <a:effectLst/>
            </c:spPr>
            <c:txPr>
              <a:bodyPr/>
              <a:lstStyle/>
              <a:p>
                <a:pPr>
                  <a:defRPr sz="1100" b="1"/>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규칙 준수 (Golden 34)</c:v>
                </c:pt>
                <c:pt idx="1">
                  <c:v>검증 통과 (질문 119)</c:v>
                </c:pt>
              </c:strCache>
            </c:strRef>
          </c:cat>
          <c:val>
            <c:numRef>
              <c:f>Sheet1!$C$2:$C$3</c:f>
              <c:numCache>
                <c:formatCode>General</c:formatCode>
                <c:ptCount val="2"/>
                <c:pt idx="0">
                  <c:v>94.1</c:v>
                </c:pt>
                <c:pt idx="1">
                  <c:v>99.2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09CE-4507-8098-FF8A993DD7F2}"/>
            </c:ext>
          </c:extLst>
        </c:ser>
        <c:dLbls>
          <c:dLblPos val="outEnd"/>
          <c:showLegendKey val="0"/>
          <c:showVal val="1"/>
          <c:showCatName val="0"/>
          <c:showSerName val="0"/>
          <c:showPercent val="0"/>
          <c:showBubbleSize val="0"/>
        </c:dLbls>
        <c:gapWidth val="70"/>
        <c:overlap val="-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94A3B8"/>
            </a:solidFill>
          </a:ln>
        </c:spPr>
        <c:txPr>
          <a:bodyPr/>
          <a:lstStyle/>
          <a:p>
            <a:pPr>
              <a:defRPr sz="900">
                <a:solidFill>
                  <a:srgbClr val="64748B"/>
                </a:solidFill>
              </a:defRPr>
            </a:pPr>
            <a:endParaRPr lang="ko-KR"/>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900">
              <a:solidFill>
                <a:srgbClr val="64748B"/>
              </a:solidFill>
            </a:defRPr>
          </a:pPr>
          <a:endParaRPr lang="ko-KR"/>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8370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[도입 · 섹션 0:25 · 1/2장 · 이 장 약 12초]</a:t>
            </a:r>
          </a:p>
          <a:p>
            <a:endParaRPr/>
          </a:p>
          <a:p>
            <a:r>
              <a:t>[스크립트]</a:t>
            </a:r>
          </a:p>
          <a:p>
            <a:r>
              <a:t>안녕하세요, AF팀 발표를 맡은 오희택입니다. 온디바이스 AI에 붙이는 금융 조회 서비스, Bank Wrap 발표 시작하겠습니다.</a:t>
            </a:r>
          </a:p>
          <a:p>
            <a:endParaRPr/>
          </a:p>
          <a:p>
            <a:r>
              <a:t>[근거 · 확인]</a:t>
            </a:r>
          </a:p>
          <a:p>
            <a:r>
              <a:t>팀원: 주세환(팀장 · 프론트엔드 · 잔액조회), 차민규(대출문의), 오희택(이자/연체 · 발표), 심보영(라우터 · 게이트웨이 · 머지).</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[도입 · 섹션 0:25 · 2/2장 · 이 장 약 10초]</a:t>
            </a:r>
          </a:p>
          <a:p>
            <a:endParaRPr/>
          </a:p>
          <a:p>
            <a:r>
              <a:t>[스크립트]</a:t>
            </a:r>
          </a:p>
          <a:p>
            <a:r>
              <a:t>문제 정의부터 서비스 경험, 아키텍처, 평가 기준, 모델 학습, 성능 검증, 데모, 로드맵 순서로 말씀드리겠습니다.</a:t>
            </a:r>
          </a:p>
          <a:p>
            <a:endParaRPr/>
          </a:p>
          <a:p>
            <a:r>
              <a:t>[근거 · 확인]</a:t>
            </a:r>
          </a:p>
          <a:p>
            <a:r>
              <a:t>카드의 시간은 섹션별 발표 시간이다(총 11:00).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 문제 정의 · 섹션 2:20 · 1/4장 · 이 장 약 56초]</a:t>
            </a:r>
          </a:p>
          <a:p>
            <a:endParaRPr/>
          </a:p>
          <a:p>
            <a:r>
              <a:t>[스크립트]</a:t>
            </a:r>
          </a:p>
          <a:p>
            <a:r>
              <a:t>먼저 개발 배경입니다.</a:t>
            </a:r>
          </a:p>
          <a:p>
            <a:r>
              <a:t>우리나라는 챗GPT 유료 구독자 수가 미국에 이어 세계 2위입니다. 인구가 미국의 6분의 1 수준이라는 걸 생각하면, 인구 대비로는 세계에서 AI에 가장 적극적으로 돈을 내고 쓰는 나라라고 할 수 있습니다.</a:t>
            </a:r>
          </a:p>
          <a:p>
            <a:r>
              <a:t>이제 사람들은 궁금한 게 생기면 검색창 대신 AI에게 말로 묻습니다.</a:t>
            </a:r>
          </a:p>
          <a:p>
            <a:r>
              <a:t>그런데 은행은 어떨까요? 잔액 하나 확인하려 해도 앱을 켜고, 로그인하고, 메뉴를 찾아 들어가서, 화면을 확인하는 네 단계를 매번 거쳐야 합니다.</a:t>
            </a:r>
          </a:p>
          <a:p>
            <a:r>
              <a:t>실제로 은행 상담 데이터를 보면 62%가 잔액, 대출, 이자·연체처럼 단순 조회성 문의였습니다.</a:t>
            </a:r>
          </a:p>
          <a:p>
            <a:r>
              <a:t>저희는 AI에게 묻는 데 익숙해진 사용자와, 여전히 메뉴를 찾아가야 하는 은행 경험 사이의 이 간극에서 출발했습니다.</a:t>
            </a:r>
          </a:p>
          <a:p>
            <a:endParaRPr/>
          </a:p>
          <a:p>
            <a:r>
              <a:t>[근거 · 확인]</a:t>
            </a:r>
          </a:p>
          <a:p>
            <a:r>
              <a:t>작성자(오희택) 스크립트를 그대로 유지했다. 시장 수치: MS투데이(2025.11). 62%: AI Hub 은행 상담 5,000건 주제 집계.</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 문제 정의 · 섹션 2:20 · 2/4장 · 이 장 약 25초]</a:t>
            </a:r>
          </a:p>
          <a:p>
            <a:endParaRPr/>
          </a:p>
          <a:p>
            <a:r>
              <a:t>[스크립트]</a:t>
            </a:r>
          </a:p>
          <a:p>
            <a:r>
              <a:t>그렇다면 지금은 은행 조회를 대화로 할 방법이 없을까요? 시장을 살펴봤습니다. 은행 앱 챗봇은 로그인한 상태에서 이자를 물어봐도, 답 대신 해당 메뉴로 가는 링크를 줍니다. 뱅크샐러드 같은 자산관리 앱은 여러 금융사 데이터를 모아 보여주지만, 전부 나열할 뿐 원하는 것 하나만 물어볼 수는 없습니다.</a:t>
            </a:r>
          </a:p>
          <a:p>
            <a:endParaRPr/>
          </a:p>
          <a:p>
            <a:r>
              <a:t>[근거 · 확인]</a:t>
            </a:r>
          </a:p>
          <a:p>
            <a:r>
              <a:t>팀 사용 경험. 실제 금융사 로고 · 화면을 쓰므로 은행 챗봇 동작이 실제 앱과 같은지 확인.</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 문제 정의 · 섹션 2:20 · 3/4장 · 이 장 약 24초]</a:t>
            </a:r>
          </a:p>
          <a:p>
            <a:endParaRPr/>
          </a:p>
          <a:p>
            <a:r>
              <a:t>[스크립트]</a:t>
            </a:r>
          </a:p>
          <a:p>
            <a:r>
              <a:t>그래서 저희는 두 장점을 합쳤습니다. 마이데이터로 데이터를 모아 두는 2차 서비스이면서, 온디바이스 AI가 음성이나 텍스트로 물으면 필요한 정보만 꺼내 주는 조회 서비스입니다. 조회만 하고, 원본은 모델에 주지 않고, 모르는 건 상담원에게 넘기고, 모든 처리는 기기 안에서 합니다.</a:t>
            </a:r>
          </a:p>
          <a:p>
            <a:endParaRPr/>
          </a:p>
          <a:p>
            <a:r>
              <a:t>[근거 · 확인]</a:t>
            </a:r>
          </a:p>
          <a:p>
            <a:r>
              <a:t>presentation/concept_painpoint.md Part 3(2차 서비스).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 문제 정의 · 섹션 2:20 · 4/4장 · 이 장 약 16초]</a:t>
            </a:r>
          </a:p>
          <a:p>
            <a:endParaRPr/>
          </a:p>
          <a:p>
            <a:r>
              <a:t>[스크립트]</a:t>
            </a:r>
          </a:p>
          <a:p>
            <a:r>
              <a:t>구현한 기능은 여섯 가지입니다. 개인정보 마스킹, 은행 업무 9개 주제 분류, 전문 에이전트 세 개, 복합 질문 되묻기와 선택 버튼, 대화 형식 조회, 그리고 상담원 연결 안내입니다. 이체 실행과 금리·약관 안내는 하지 않습니다.</a:t>
            </a:r>
          </a:p>
          <a:p>
            <a:endParaRPr/>
          </a:p>
          <a:p>
            <a:r>
              <a:t>[근거 · 확인]</a:t>
            </a:r>
          </a:p>
          <a:p>
            <a:r>
              <a:t>docs/PRD.md 핵심 기능 · MVP 제외.</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 서비스 경험 · 섹션 0:55 · 1/2장 · 이 장 약 18초]</a:t>
            </a:r>
          </a:p>
          <a:p>
            <a:endParaRPr/>
          </a:p>
          <a:p>
            <a:r>
              <a:t>[스크립트]</a:t>
            </a:r>
          </a:p>
          <a:p>
            <a:r>
              <a:t>사용 흐름은 간단합니다. 한 문장으로 묻고, 필요하면 버튼을 고르면 바로 답을 받고, 범위 밖이면 상담원으로 안내합니다. 지금은 웹 챗봇이지만, 다음은 온디바이스 AI 연동, 목표는 버튼 한 번으로 음성 조회입니다.</a:t>
            </a:r>
          </a:p>
          <a:p>
            <a:endParaRPr/>
          </a:p>
          <a:p>
            <a:r>
              <a:t>[근거 · 확인]</a:t>
            </a:r>
          </a:p>
          <a:p>
            <a:r>
              <a:t>docs/frontend/PRD.md 사용자 스토리.</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 서비스 경험 · 섹션 0:55 · 2/2장 · 이 장 약 26초]</a:t>
            </a:r>
          </a:p>
          <a:p>
            <a:endParaRPr/>
          </a:p>
          <a:p>
            <a:r>
              <a:t>[스크립트]</a:t>
            </a:r>
          </a:p>
          <a:p>
            <a:r>
              <a:t>실제 화면입니다. 대출 잔액과 이자를 한 번에 물으면, 두 주제가 섞여 있어 먼저 어느 쪽인지 되묻습니다. 이자·연체를 고르면 연체 금액과 다음 납부일을 바로 답합니다. 이 금액은 모델이 쓴 게 아니라 조회한 값을 화면에서 채운 겁니다. 연체 기록을 없애 달라는 요청에는, 모델이 지어낸 답을 검증기가 막고 사실과 상담원 안내만 내보냅니다.</a:t>
            </a:r>
          </a:p>
          <a:p>
            <a:endParaRPr/>
          </a:p>
          <a:p>
            <a:r>
              <a:t>[근거 · 확인]</a:t>
            </a:r>
          </a:p>
          <a:p>
            <a:r>
              <a:t>· 캡처: 2026-09-30 16:40, 서비스 모델 v07 + 출력 검증기 보강 후. '연체 기록 없애 주실 수 있어요?'에 모델이 규정을 지어낸 답을 검증기가 막고, 연체 사실 · 납부 방법 · 상담원 안내가 든 기본 문장을 내보냈다.</a:t>
            </a:r>
          </a:p>
          <a:p>
            <a:r>
              <a:t>실제 서비스 캡처(2026-09-30, 가상 고객 C003, cs-interest v05).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 아키텍처 · 섹션 0:55 · 1/4장 · 이 장 약 23초]</a:t>
            </a:r>
          </a:p>
          <a:p>
            <a:endParaRPr/>
          </a:p>
          <a:p>
            <a:r>
              <a:t>[스크립트]</a:t>
            </a:r>
          </a:p>
          <a:p>
            <a:r>
              <a:t>게이트웨이가 개인정보를 가리고, 라우터가 주제를 나누고, 전문 에이전트가 조회와 답변을 맡습니다. 모델은 빈칸이 든 문장만 만들고, 실제 값은 화면에서 채웁니다. 화면과 잔액은 주세환, 게이트웨이와 라우터는 심보영, 대출은 차민규, 이자·연체는 제가 맡았습니다.</a:t>
            </a:r>
          </a:p>
          <a:p>
            <a:endParaRPr/>
          </a:p>
          <a:p>
            <a:r>
              <a:t>[근거 · 확인]</a:t>
            </a:r>
          </a:p>
          <a:p>
            <a:r>
              <a:t>docs/ARCHITECTURE.md 데이터 흐름 · 디렉토리 구조(영역 소유).</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[숨김 장 · 발표에서 넘어감]</a:t>
            </a:r>
          </a:p>
          <a:p>
            <a:endParaRPr/>
          </a:p>
          <a:p>
            <a:r>
              <a:t>[03 아키텍처 · 섹션 0:55 · 2/4장 · 이 장 약 11초]</a:t>
            </a:r>
          </a:p>
          <a:p>
            <a:endParaRPr/>
          </a:p>
          <a:p>
            <a:r>
              <a:t>[스크립트]</a:t>
            </a:r>
          </a:p>
          <a:p>
            <a:r>
              <a:t>라우터는 질문을 9개 주제로 나눕니다. 잔액, 대출, 이자·연체는 전문 에이전트가 답하고, 나머지 여섯은 상담원에게 보냅니다.</a:t>
            </a:r>
          </a:p>
          <a:p>
            <a:endParaRPr/>
          </a:p>
          <a:p>
            <a:r>
              <a:t>[근거 · 확인]</a:t>
            </a:r>
          </a:p>
          <a:p>
            <a:r>
              <a:t>docs/router/ADR.md RT-001 · 002.</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 아키텍처 · 섹션 0:55 · 3/4장 · 이 장 약 12초]</a:t>
            </a:r>
          </a:p>
          <a:p>
            <a:endParaRPr/>
          </a:p>
          <a:p>
            <a:r>
              <a:t>[스크립트]</a:t>
            </a:r>
          </a:p>
          <a:p>
            <a:r>
              <a:t>개인정보는 세 겹으로 지킵니다. 입력은 토큰으로 가리고, 출력은 금액 대신 빈칸으로 쓰고, RAG로 실제 은행 정보를 모델에 붙이지 않습니다.</a:t>
            </a:r>
          </a:p>
          <a:p>
            <a:endParaRPr/>
          </a:p>
          <a:p>
            <a:r>
              <a:t>[근거 · 확인]</a:t>
            </a:r>
          </a:p>
          <a:p>
            <a:r>
              <a:t>CLAUDE.md 아키텍처 규칙, docs/ADR.md ADR-005 · 006.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 아키텍처 · 섹션 0:55 · 4/4장 · 이 장 약 11초]</a:t>
            </a:r>
          </a:p>
          <a:p>
            <a:endParaRPr/>
          </a:p>
          <a:p>
            <a:r>
              <a:t>[스크립트]</a:t>
            </a:r>
          </a:p>
          <a:p>
            <a:r>
              <a:t>기술은 Next.js와 FastAPI, 추론은 Ollama입니다. 라우터는 Qwen3 1.7B, 전문 에이전트는 4B로 학습했고, 모두 RTX 4060 노트북에서 로컬로 돌아갑니다.</a:t>
            </a:r>
          </a:p>
          <a:p>
            <a:endParaRPr/>
          </a:p>
          <a:p>
            <a:r>
              <a:t>[근거 · 확인]</a:t>
            </a:r>
          </a:p>
          <a:p>
            <a:r>
              <a:t>· 라우터 베이스 Qwen3-1.7B: docs/router/ADR.md RT-006. 에이전트(대출 · 이자)는 Qwen3-4B-Instruct-2507.</a:t>
            </a:r>
          </a:p>
          <a:p>
            <a:r>
              <a:t>확인: 기준 7번은 Win · Mac 로컬.</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 평가 기준 · 섹션 0:15 · 1/1장 · 이 장 약 12초]</a:t>
            </a:r>
          </a:p>
          <a:p>
            <a:endParaRPr/>
          </a:p>
          <a:p>
            <a:r>
              <a:t>[스크립트]</a:t>
            </a:r>
          </a:p>
          <a:p>
            <a:r>
              <a:t>개발 전에 성공 기준부터 정했습니다. 바로 처리하는지, 개인정보를 지키는지, 지어내지 않는지, 세 방향으로 기준 여덟 개를 두었습니다.</a:t>
            </a:r>
          </a:p>
          <a:p>
            <a:endParaRPr/>
          </a:p>
          <a:p>
            <a:r>
              <a:t>[근거 · 확인]</a:t>
            </a:r>
          </a:p>
          <a:p>
            <a:r>
              <a:t>docs/PRD.md 인수 기준.</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 모델 학습 · 섹션 1:20 · 1/4장 · 이 장 약 16초]</a:t>
            </a:r>
          </a:p>
          <a:p>
            <a:endParaRPr/>
          </a:p>
          <a:p>
            <a:r>
              <a:t>[스크립트]</a:t>
            </a:r>
          </a:p>
          <a:p>
            <a:r>
              <a:t>학습 데이터는 AI Hub 은행 상담에서 시작했지만, 상담원 답을 그대로 쓸 수 없었습니다. 이자·연체 답 1,104건 중 규칙을 통과한 건 151건뿐이라, 정답은 저희가 직접 만들었습니다.</a:t>
            </a:r>
          </a:p>
          <a:p>
            <a:endParaRPr/>
          </a:p>
          <a:p>
            <a:r>
              <a:t>[근거 · 확인]</a:t>
            </a:r>
          </a:p>
          <a:p>
            <a:r>
              <a:t>docs/router/ADR.md RT-005, agent-interest REPORT §2.</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 모델 학습 · 섹션 1:20 · 2/4장 · 이 장 약 26초]</a:t>
            </a:r>
          </a:p>
          <a:p>
            <a:endParaRPr/>
          </a:p>
          <a:p>
            <a:r>
              <a:t>[스크립트]</a:t>
            </a:r>
          </a:p>
          <a:p>
            <a:r>
              <a:t>학습 과정은 대출 모델을 예로 보여드리겠습니다. AI Hub는 질문만 쓰고 정답은 직접 작성해 QLoRA로 학습한 뒤, 2.5GB 모델로 줄여 Ollama에 올렸습니다. 노트북 GPU로 46분 걸렸고, 학습 곡선도 안정적이었습니다. 다만 loss는 성능이 아니라서 성능은 따로 평가했습니다.</a:t>
            </a:r>
          </a:p>
          <a:p>
            <a:endParaRPr/>
          </a:p>
          <a:p>
            <a:r>
              <a:t>[근거 · 확인]</a:t>
            </a:r>
          </a:p>
          <a:p>
            <a:r>
              <a:t>· 슬라이드에서 뺀 부제: "상담사 답변을 그대로 배우면 없는 절차·금리를 지어내서, 정답 데이터를 새로 만들었다" (첫 문장으로 말한다)</a:t>
            </a:r>
          </a:p>
          <a:p>
            <a:r>
              <a:t>팀원(차민규) 지표 장 2번. 네 모델 모두 같은 파이프라인(기존 15장 'QLoRA 학습 파이프라인'을 이 장으로 대체).</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950108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 모델 학습 · 섹션 1:20 · 3/4장 · 이 장 약 9초]</a:t>
            </a:r>
          </a:p>
          <a:p>
            <a:endParaRPr/>
          </a:p>
          <a:p>
            <a:r>
              <a:t>[스크립트]</a:t>
            </a:r>
          </a:p>
          <a:p>
            <a:r>
              <a:t>이렇게 역할별로 모델 네 개를 만들었습니다. 라우터와 대출, 이자·연체 모델의 결과를 차례로 보겠습니다.</a:t>
            </a:r>
          </a:p>
          <a:p>
            <a:endParaRPr/>
          </a:p>
          <a:p>
            <a:r>
              <a:t>[근거 · 확인]</a:t>
            </a:r>
          </a:p>
          <a:p>
            <a:r>
              <a:t>· cs-loan 47→97%: EVALUATION.md 9-2 비교표, compare 30문항 규칙 준수율(Base 47% → v4 97%). 이전 표기 57.6%는 v1의 판정 세트 통과율이라 지표가 달랐다.</a:t>
            </a:r>
          </a:p>
          <a:p>
            <a:r>
              <a:t>담당: cs-router 심보영, cs-balance 주세환, cs-loan 차민규, cs-interest 오희택. cs-balance 지표는 아직 TBD.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 모델 학습 · 섹션 1:20 · 4/4장 · 이 장 약 18초]</a:t>
            </a:r>
          </a:p>
          <a:p>
            <a:endParaRPr/>
          </a:p>
          <a:p>
            <a:r>
              <a:t>[스크립트]</a:t>
            </a:r>
          </a:p>
          <a:p>
            <a:r>
              <a:t>먼저 라우터입니다. 학습 1번은 정확도 5.7%로 거의 작동하지 않았는데, 학습을 고쳐 현재 에이전트 단위 81.9%, 9주제 78.8%까지 올렸습니다. 목표 대비 결과는 뒤의 최종 평가에서 함께 보겠습니다.</a:t>
            </a:r>
          </a:p>
          <a:p>
            <a:endParaRPr/>
          </a:p>
          <a:p>
            <a:r>
              <a:t>[근거 · 확인]</a:t>
            </a:r>
          </a:p>
          <a:p>
            <a:r>
              <a:t>· 수치 출처: 심보영 제공 차트(2026-09-30) — 학습 1번 5.7% · 5.7% · 0.031, 학습 2번 80.5% · 76.6% · 0.711, 현 cs-router 81.9% · 78.8% · 0.740. 80.5 → 81.9%, 0.711 → 0.740은 router/ADR RT-006과도 일치.</a:t>
            </a:r>
          </a:p>
          <a:p>
            <a:r>
              <a:t>· 그래프는 팀원 이미지(matplotlib)를 같은 수치의 PowerPoint 차트로 다시 그렸다. macro-F1은 ×100으로 표시(0.031 · 0.711 · 0.740).</a:t>
            </a:r>
          </a:p>
          <a:p>
            <a:r>
              <a:t>· 슬라이드에서 뺀 부제: "학습을 고쳐 가며 에이전트 단위 정확도를 5.7%에서 81.9%로 끌어올렸다" (첫 문장으로 말한다)</a:t>
            </a:r>
          </a:p>
          <a:p>
            <a:r>
              <a:t>팀원(심보영) 지표 장 1번. macro-F1 0.740. 학습 1번 · 2번에서 무엇을 바꿨는지는 담당자에게 확인해 보완.</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995225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[06 성능 검증 · 섹션 1:25 · 1/3장 · 이 장 약 25초]</a:t>
            </a:r>
          </a:p>
          <a:p>
            <a:endParaRPr/>
          </a:p>
          <a:p>
            <a:r>
              <a:t>[스크립트]</a:t>
            </a:r>
          </a:p>
          <a:p>
            <a:r>
              <a:t>대출 모델은 학습 설정은 그대로 두고 정답 데이터만 네 번 고쳤습니다. v1은 없는 절차를 지어냈지만, 정답을 직접 쓰고 검증기를 붙인 v2부터 지어냄이 사라졌습니다. 학습 안 한 Base는 규칙 준수율 47%, v4는 97%이고, 지어낸 사실도 4건에서 0건이 되어 v4를 최종으로 정했습니다.</a:t>
            </a:r>
          </a:p>
          <a:p>
            <a:endParaRPr/>
          </a:p>
          <a:p>
            <a:r>
              <a:t>[근거 · 확인]</a:t>
            </a:r>
          </a:p>
          <a:p>
            <a:r>
              <a:t>· 슬라이드에서 뺀 부제: "학습 설정은 그대로 두고 네 번 고친 결과를, 학습하지 않은 Base와 비교했다" (첫 문장으로 말한다)</a:t>
            </a:r>
          </a:p>
          <a:p>
            <a:r>
              <a:t>팀원(차민규) 지표 장 3번. Judge 승률 65%는 사람과 일치도 6/10이라 참고용.</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8859269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[06 성능 검증 · 섹션 1:25 · 2/3장 · 이 장 약 30초]</a:t>
            </a:r>
          </a:p>
          <a:p>
            <a:endParaRPr/>
          </a:p>
          <a:p>
            <a:r>
              <a:t>[스크립트]</a:t>
            </a:r>
          </a:p>
          <a:p>
            <a:r>
              <a:t>이자·연체 모델도 같은 결론입니다. 상담원 답만 배운 첫 버전은 금리를 지어냈고, 사람이 검수한 정답으로 바꿔 가며 개선했습니다. 서비스에 올린 v07은 AI Hub 답을 규칙에 맞게 고친 227건까지 더해 학습했고, 같은 평가 세트에서 v05보다 규칙 준수율이 94%로 오르고, 금지 표현은 31%에서 0.8%로 줄었습니다.</a:t>
            </a:r>
          </a:p>
          <a:p>
            <a:endParaRPr/>
          </a:p>
          <a:p>
            <a:r>
              <a:t>[근거 · 확인]</a:t>
            </a:r>
          </a:p>
          <a:p>
            <a:r>
              <a:t>· 출력 검증기 보강(2026-09-30): v07 실측에서 나온 '상담원입니다'(상담원 사칭), 연체 기록 처리 규정 단정('자동으로 ~되는', '신용 기록에 남', '기관에서 관리' 등), '정상화될 수', '신용등록 기관' 채널을 금지 표현에 추가. '연체 기록 없애 달라' 30회 반복에서 위험 답 0건. backend/app/agents/interest/validate.py, tests/interest/test_validate.py.</a:t>
            </a:r>
          </a:p>
          <a:p>
            <a:r>
              <a:t>· 서비스 모델 = v07: Ollama cs-interest 모델 해시 d076edc0… = runs/v07-20260930-1034-v07-09/cs-interest.gguf (2026-09-30 14:26 등록).</a:t>
            </a:r>
          </a:p>
          <a:p>
            <a:r>
              <a:t>· 학습 데이터: data/raw/09_interest_finetune/TRAINING_INFO.md (AI Hub 수정본 227 · 합성 400 · 수동 123 = 750, 학습 618 · 검증 63 · 시험 69). 2 epoch, eval loss 0.864.</a:t>
            </a:r>
          </a:p>
          <a:p>
            <a:r>
              <a:t>· 차트: 같은 v07 평가 세트로 두 모델 채점 — v05(run v06-…-v05-08) runs/…/eval/v06-on-v07data.summary.json, v07 runs/v07-…/eval/v07-on-v07data.summary.json. Golden 34 규칙 준수 91.2 → 94.1%, 질문 119 검증 통과 69.7 → 99.2%, 금지 표현 31.1 → 0.8%.</a:t>
            </a:r>
          </a:p>
          <a:p>
            <a:r>
              <a:t>· 이전 Golden 42 기준(v03 81 · v04 88 · v05 90.5%)은 문항이 달라 같은 차트에 두지 않는다.</a:t>
            </a:r>
          </a:p>
          <a:p>
            <a:r>
              <a:t>· 실서비스 재테스트(2026-09-30 오후, v07): 응답 0.6~6.2초(첫 호출 6.2초). '연체 기록 없애 주실 수 있어요?'는 검증기가 기본 문장으로 대체했다. 한 답변이 '안녕하세요, 상담원입니다'로 시작해 검증기 금지 표현 추가를 검토한다.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141327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[06 성능 검증 · 섹션 1:25 · 3/3장 · 이 장 약 22초]</a:t>
            </a:r>
          </a:p>
          <a:p>
            <a:endParaRPr/>
          </a:p>
          <a:p>
            <a:r>
              <a:t>[스크립트]</a:t>
            </a:r>
          </a:p>
          <a:p>
            <a:r>
              <a:t>처음 정한 기준과 비교하면, 복합 문의 되묻기는 충족했고 응답은 10초 안에 들어옵니다. 라우팅은 81.9%로 목표에 못 미쳤습니다. 오른쪽처럼 파인튜닝 전 모델은 연체 기록 삭제가 가능하다고 지어냈지만, 저희 모델은 사실만 말하고 상담원에게 넘깁니다.</a:t>
            </a:r>
          </a:p>
          <a:p>
            <a:endParaRPr/>
          </a:p>
          <a:p>
            <a:r>
              <a:t>[근거 · 확인]</a:t>
            </a:r>
          </a:p>
          <a:p>
            <a:r>
              <a:t>· 응답 시간 0.6~6.2초: v07 이자 에이전트 단독 재측정(2026-09-30 오후). 오른쪽 '우리 모델' 답은 v07에서 검증기가 내보낸 기본 문장이다.</a:t>
            </a:r>
          </a:p>
          <a:p>
            <a:r>
              <a:t>응답 시간은 이자 에이전트 단독 0.3~5.8초 실측. 라우팅 81.9%는 cs-router 에이전트 단위 정확도.</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[07 라이브 데모 · 섹션 2:30]</a:t>
            </a:r>
          </a:p>
          <a:p>
            <a:endParaRPr/>
          </a:p>
          <a:p>
            <a:r>
              <a:t>[스크립트]</a:t>
            </a:r>
          </a:p>
          <a:p>
            <a:r>
              <a:t>그럼 실제로 보여드리겠습니다.</a:t>
            </a:r>
          </a:p>
          <a:p>
            <a:r>
              <a:t>(시연 순서) ① 연체 고객 C003 바로 조회 → ② 계좌 두 개 고객 C002 계좌 선택 → ③ '대출 잔액이랑 이자 얼마 남았어요?' 되묻기 → ④ '환전하고 싶어요' 범위 밖 안내.</a:t>
            </a:r>
          </a:p>
          <a:p>
            <a:endParaRPr/>
          </a:p>
          <a:p>
            <a:r>
              <a:t>[근거 · 확인]</a:t>
            </a:r>
          </a:p>
          <a:p>
            <a:r>
              <a:t>backend/README.md 구동 절차. 실패 대비 녹화 영상 준비. 시연 2분 30초.</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[08 성과와 로드맵 · 섹션 0:55 · 1/2장 · 이 장 약 18초]</a:t>
            </a:r>
          </a:p>
          <a:p>
            <a:endParaRPr/>
          </a:p>
          <a:p>
            <a:r>
              <a:t>[스크립트]</a:t>
            </a:r>
          </a:p>
          <a:p>
            <a:r>
              <a:t>한계도 분명합니다. 지금은 가상 데이터와 텍스트 대화만 지원하고, 모델 오류도 일부 남아 있습니다. 데이터 연동과 조회 주기 설정, 음성 인식과 안내, 온디바이스 에이전트 연동, 검증기 보강으로 풀어 가겠습니다.</a:t>
            </a:r>
          </a:p>
          <a:p>
            <a:endParaRPr/>
          </a:p>
          <a:p>
            <a:r>
              <a:t>[근거 · 확인]</a:t>
            </a:r>
          </a:p>
          <a:p>
            <a:r>
              <a:t>presentation/concept_painpoint.md Part 3.</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[08 성과와 로드맵 · 섹션 0:55 · 2/2장 · 이 장 약 29초]</a:t>
            </a:r>
          </a:p>
          <a:p>
            <a:endParaRPr/>
          </a:p>
          <a:p>
            <a:r>
              <a:t>[스크립트]</a:t>
            </a:r>
          </a:p>
          <a:p>
            <a:r>
              <a:t>저희가 그리는 모습입니다. 계좌, 이체 내역, 이자와 연체는 누구나 자주 확인하는 정보지만, 앱이 어려워 아직 텔레뱅킹을 쓰시는 어르신도 많습니다. 자녀분이나 은행이 조회 대상과 갱신 주기를 한 번만 설정해 두면, 버튼을 길게 눌러 음성으로 묻고 답을 들을 수 있습니다. 앱이 어려운 분들도 쉽고 빠르게 조회하는 것, 그것이 저희 목표입니다.</a:t>
            </a:r>
          </a:p>
          <a:p>
            <a:endParaRPr/>
          </a:p>
          <a:p>
            <a:r>
              <a:t>[근거 · 확인]</a:t>
            </a:r>
          </a:p>
          <a:p>
            <a:r>
              <a:t>음성(STT · TTS)과 에이전트 연동은 향후 개발. '이체 내역'은 조회만 한다.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[마무리 · 섹션 —]</a:t>
            </a:r>
          </a:p>
          <a:p>
            <a:endParaRPr/>
          </a:p>
          <a:p>
            <a:r>
              <a:t>[스크립트]</a:t>
            </a:r>
          </a:p>
          <a:p>
            <a:r>
              <a:t>질문 받겠습니다.</a:t>
            </a:r>
          </a:p>
          <a:p>
            <a:endParaRPr/>
          </a:p>
          <a:p>
            <a:r>
              <a:t>[근거 · 확인]</a:t>
            </a:r>
          </a:p>
          <a:p>
            <a:r>
              <a:t>[예상 질문]</a:t>
            </a:r>
          </a:p>
          <a:p>
            <a:r>
              <a:t>· 에이전트 연동 시 개인정보? → 에이전트도 기기 안에서 돌고, 실제 값은 기기 화면에서만 채운다.</a:t>
            </a:r>
          </a:p>
          <a:p>
            <a:r>
              <a:t>· 62%? → 은행 상담 문의 중 세 주제의 비중. 업무 절감률이 아니다.</a:t>
            </a:r>
          </a:p>
          <a:p>
            <a:r>
              <a:t>· 라우터 81.9%? → 목표 90% 미달, 학습 데이터 보강으로 개선 예정.</a:t>
            </a:r>
          </a:p>
          <a:p>
            <a:r>
              <a:t>· v04 88%? → 채점 규칙이 달라 v03 86%와 직접 비교하지 않는다.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[마무리 · 섹션 —]</a:t>
            </a:r>
          </a:p>
          <a:p>
            <a:endParaRPr/>
          </a:p>
          <a:p>
            <a:r>
              <a:t>[스크립트]</a:t>
            </a:r>
          </a:p>
          <a:p>
            <a:r>
              <a:t>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2.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7.png"/><Relationship Id="rId4" Type="http://schemas.openxmlformats.org/officeDocument/2006/relationships/image" Target="../media/image33.png"/><Relationship Id="rId9" Type="http://schemas.openxmlformats.org/officeDocument/2006/relationships/image" Target="../media/image36.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9.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9.png"/><Relationship Id="rId7"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42.png"/><Relationship Id="rId4" Type="http://schemas.openxmlformats.org/officeDocument/2006/relationships/image" Target="../media/image41.png"/></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59.png"/></Relationships>
</file>

<file path=ppt/slides/_rels/slide21.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8.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10" Type="http://schemas.openxmlformats.org/officeDocument/2006/relationships/image" Target="../media/image68.png"/><Relationship Id="rId4" Type="http://schemas.openxmlformats.org/officeDocument/2006/relationships/image" Target="../media/image63.png"/><Relationship Id="rId9" Type="http://schemas.openxmlformats.org/officeDocument/2006/relationships/image" Target="../media/image67.png"/></Relationships>
</file>

<file path=ppt/slides/_rels/slide23.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 Id="rId9" Type="http://schemas.openxmlformats.org/officeDocument/2006/relationships/image" Target="../media/image75.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Cover Illustration" descr="금융 앱 화면, 카드, 동전, 화분이 놓인 일러스트">
            <a:extLst>
              <a:ext uri="{FF2B5EF4-FFF2-40B4-BE49-F238E27FC236}">
                <a16:creationId xmlns:a16="http://schemas.microsoft.com/office/drawing/2014/main" id="{CFF49144-4984-512D-23C9-11B66C5417A0}"/>
              </a:ext>
            </a:extLst>
          </p:cNvPr>
          <p:cNvPicPr>
            <a:picLocks noChangeAspect="1"/>
          </p:cNvPicPr>
          <p:nvPr/>
        </p:nvPicPr>
        <p:blipFill>
          <a:blip r:embed="rId3"/>
          <a:srcRect l="40453" r="3983"/>
          <a:stretch>
            <a:fillRect/>
          </a:stretch>
        </p:blipFill>
        <p:spPr>
          <a:xfrm>
            <a:off x="4013200" y="-279400"/>
            <a:ext cx="5651500" cy="5702300"/>
          </a:xfrm>
          <a:prstGeom prst="rect">
            <a:avLst/>
          </a:prstGeom>
          <a:effectLst>
            <a:softEdge rad="317500"/>
          </a:effectLst>
        </p:spPr>
      </p:pic>
      <p:sp>
        <p:nvSpPr>
          <p:cNvPr id="4" name="Text 1"/>
          <p:cNvSpPr txBox="1"/>
          <p:nvPr/>
        </p:nvSpPr>
        <p:spPr>
          <a:xfrm>
            <a:off x="508000" y="533400"/>
            <a:ext cx="3556000" cy="228600"/>
          </a:xfrm>
          <a:prstGeom prst="rect">
            <a:avLst/>
          </a:prstGeom>
          <a:noFill/>
          <a:ln/>
        </p:spPr>
        <p:txBody>
          <a:bodyPr wrap="square" lIns="0" tIns="0" rIns="0" bIns="0" rtlCol="0" anchor="t"/>
          <a:lstStyle/>
          <a:p>
            <a:pPr marL="0" indent="0">
              <a:buNone/>
            </a:pPr>
            <a:r>
              <a:rPr lang="en-US" sz="1200" b="1" kern="0" spc="200" dirty="0">
                <a:solidFill>
                  <a:srgbClr val="41659E"/>
                </a:solidFill>
                <a:latin typeface="맑은 고딕" pitchFamily="34" charset="0"/>
                <a:ea typeface="맑은 고딕" pitchFamily="34" charset="-122"/>
                <a:cs typeface="맑은 고딕" pitchFamily="34" charset="-120"/>
              </a:rPr>
              <a:t>LOCAL LLM FINANCE ASSISTANT</a:t>
            </a:r>
            <a:endParaRPr lang="en-US" sz="1200" dirty="0"/>
          </a:p>
        </p:txBody>
      </p:sp>
      <p:sp>
        <p:nvSpPr>
          <p:cNvPr id="5" name="Text 2"/>
          <p:cNvSpPr txBox="1"/>
          <p:nvPr/>
        </p:nvSpPr>
        <p:spPr>
          <a:xfrm>
            <a:off x="381000" y="1066800"/>
            <a:ext cx="3429000" cy="711200"/>
          </a:xfrm>
          <a:prstGeom prst="rect">
            <a:avLst/>
          </a:prstGeom>
          <a:noFill/>
          <a:ln/>
        </p:spPr>
        <p:txBody>
          <a:bodyPr wrap="square" lIns="0" tIns="0" rIns="0" bIns="0" rtlCol="0" anchor="ctr"/>
          <a:lstStyle/>
          <a:p>
            <a:pPr marL="0" indent="0">
              <a:buNone/>
            </a:pPr>
            <a:r>
              <a:rPr lang="en-US" altLang="ko-KR" sz="4000" b="1" dirty="0">
                <a:solidFill>
                  <a:srgbClr val="1B2A3A"/>
                </a:solidFill>
                <a:latin typeface="맑은 고딕" pitchFamily="34" charset="0"/>
                <a:ea typeface="맑은 고딕" pitchFamily="34" charset="-122"/>
                <a:cs typeface="맑은 고딕" pitchFamily="34" charset="-120"/>
              </a:rPr>
              <a:t>Bank Wrap</a:t>
            </a:r>
            <a:endParaRPr lang="en-US" sz="4000" dirty="0"/>
          </a:p>
        </p:txBody>
      </p:sp>
      <p:sp>
        <p:nvSpPr>
          <p:cNvPr id="6" name="Text 3"/>
          <p:cNvSpPr txBox="1"/>
          <p:nvPr/>
        </p:nvSpPr>
        <p:spPr>
          <a:xfrm>
            <a:off x="508000" y="1930400"/>
            <a:ext cx="3429000" cy="558800"/>
          </a:xfrm>
          <a:prstGeom prst="rect">
            <a:avLst/>
          </a:prstGeom>
          <a:noFill/>
          <a:ln/>
        </p:spPr>
        <p:txBody>
          <a:bodyPr wrap="square" lIns="0" tIns="0" rIns="0" bIns="0" rtlCol="0" anchor="t"/>
          <a:lstStyle/>
          <a:p>
            <a:pPr marL="0" indent="0">
              <a:buNone/>
            </a:pPr>
            <a:r>
              <a:rPr lang="en-US" sz="1600" dirty="0" err="1">
                <a:solidFill>
                  <a:srgbClr val="334155"/>
                </a:solidFill>
                <a:latin typeface="맑은 고딕" pitchFamily="34" charset="0"/>
                <a:ea typeface="맑은 고딕" pitchFamily="34" charset="-122"/>
                <a:cs typeface="맑은 고딕" pitchFamily="34" charset="-120"/>
              </a:rPr>
              <a:t>온디바이스</a:t>
            </a:r>
            <a:r>
              <a:rPr lang="en-US" sz="1600" dirty="0">
                <a:solidFill>
                  <a:srgbClr val="334155"/>
                </a:solidFill>
                <a:latin typeface="맑은 고딕" pitchFamily="34" charset="0"/>
                <a:ea typeface="맑은 고딕" pitchFamily="34" charset="-122"/>
                <a:cs typeface="맑은 고딕" pitchFamily="34" charset="-120"/>
              </a:rPr>
              <a:t> </a:t>
            </a:r>
            <a:r>
              <a:rPr lang="ko-KR" altLang="en-US" sz="1600" dirty="0">
                <a:solidFill>
                  <a:srgbClr val="334155"/>
                </a:solidFill>
                <a:latin typeface="맑은 고딕" pitchFamily="34" charset="0"/>
                <a:ea typeface="맑은 고딕" pitchFamily="34" charset="-122"/>
                <a:cs typeface="맑은 고딕" pitchFamily="34" charset="-120"/>
              </a:rPr>
              <a:t>연동</a:t>
            </a:r>
            <a:br>
              <a:rPr lang="en-US" sz="1600" dirty="0"/>
            </a:br>
            <a:r>
              <a:rPr lang="en-US" sz="1600" dirty="0">
                <a:solidFill>
                  <a:srgbClr val="334155"/>
                </a:solidFill>
                <a:latin typeface="맑은 고딕" pitchFamily="34" charset="0"/>
                <a:ea typeface="맑은 고딕" pitchFamily="34" charset="-122"/>
                <a:cs typeface="맑은 고딕" pitchFamily="34" charset="-120"/>
              </a:rPr>
              <a:t>금융 조회 서비스</a:t>
            </a:r>
            <a:endParaRPr lang="en-US" sz="1600" dirty="0"/>
          </a:p>
        </p:txBody>
      </p:sp>
      <p:sp>
        <p:nvSpPr>
          <p:cNvPr id="7" name="Text 4"/>
          <p:cNvSpPr txBox="1"/>
          <p:nvPr/>
        </p:nvSpPr>
        <p:spPr>
          <a:xfrm>
            <a:off x="508000" y="2844800"/>
            <a:ext cx="1270000" cy="254000"/>
          </a:xfrm>
          <a:prstGeom prst="rect">
            <a:avLst/>
          </a:prstGeom>
          <a:noFill/>
          <a:ln/>
        </p:spPr>
        <p:txBody>
          <a:bodyPr wrap="square" lIns="0" tIns="0" rIns="0" bIns="0" rtlCol="0" anchor="t"/>
          <a:lstStyle/>
          <a:p>
            <a:pPr marL="0" indent="0">
              <a:buNone/>
            </a:pPr>
            <a:r>
              <a:rPr lang="en-US" sz="1400" b="1" dirty="0">
                <a:solidFill>
                  <a:srgbClr val="41659E"/>
                </a:solidFill>
                <a:latin typeface="맑은 고딕" pitchFamily="34" charset="0"/>
                <a:ea typeface="맑은 고딕" pitchFamily="34" charset="-122"/>
                <a:cs typeface="맑은 고딕" pitchFamily="34" charset="-120"/>
              </a:rPr>
              <a:t>[AF]</a:t>
            </a:r>
            <a:endParaRPr lang="en-US" sz="1400" dirty="0"/>
          </a:p>
        </p:txBody>
      </p:sp>
      <p:sp>
        <p:nvSpPr>
          <p:cNvPr id="8" name="Text 5"/>
          <p:cNvSpPr txBox="1"/>
          <p:nvPr/>
        </p:nvSpPr>
        <p:spPr>
          <a:xfrm>
            <a:off x="508000" y="3200400"/>
            <a:ext cx="711200" cy="279400"/>
          </a:xfrm>
          <a:prstGeom prst="rect">
            <a:avLst/>
          </a:prstGeom>
          <a:noFill/>
          <a:ln/>
        </p:spPr>
        <p:txBody>
          <a:bodyPr wrap="square" lIns="0" tIns="0" rIns="0" bIns="0" rtlCol="0" anchor="ctr"/>
          <a:lstStyle/>
          <a:p>
            <a:pPr marL="0" indent="0">
              <a:buNone/>
            </a:pPr>
            <a:r>
              <a:rPr lang="en-US" sz="1400" b="1" dirty="0">
                <a:solidFill>
                  <a:srgbClr val="1B2A3A"/>
                </a:solidFill>
                <a:latin typeface="맑은 고딕" pitchFamily="34" charset="0"/>
                <a:ea typeface="맑은 고딕" pitchFamily="34" charset="-122"/>
                <a:cs typeface="맑은 고딕" pitchFamily="34" charset="-120"/>
              </a:rPr>
              <a:t>주세환</a:t>
            </a:r>
            <a:endParaRPr lang="en-US" sz="1400" dirty="0"/>
          </a:p>
        </p:txBody>
      </p:sp>
      <p:sp>
        <p:nvSpPr>
          <p:cNvPr id="9" name="Text 6"/>
          <p:cNvSpPr txBox="1"/>
          <p:nvPr/>
        </p:nvSpPr>
        <p:spPr>
          <a:xfrm>
            <a:off x="1270000" y="3200400"/>
            <a:ext cx="2667000" cy="279400"/>
          </a:xfrm>
          <a:prstGeom prst="rect">
            <a:avLst/>
          </a:prstGeom>
          <a:noFill/>
          <a:ln/>
        </p:spPr>
        <p:txBody>
          <a:bodyPr wrap="square" lIns="0" tIns="0" rIns="0" bIns="0" rtlCol="0" anchor="ctr"/>
          <a:lstStyle/>
          <a:p>
            <a:pPr marL="0" indent="0">
              <a:buNone/>
            </a:pPr>
            <a:r>
              <a:rPr lang="en-US" sz="1400" dirty="0">
                <a:solidFill>
                  <a:srgbClr val="334155"/>
                </a:solidFill>
                <a:latin typeface="맑은 고딕" pitchFamily="34" charset="0"/>
                <a:ea typeface="맑은 고딕" pitchFamily="34" charset="-122"/>
                <a:cs typeface="맑은 고딕" pitchFamily="34" charset="-120"/>
              </a:rPr>
              <a:t>팀장 · 프론트엔드 · 잔액조회</a:t>
            </a:r>
            <a:endParaRPr lang="en-US" sz="1400" dirty="0"/>
          </a:p>
        </p:txBody>
      </p:sp>
      <p:sp>
        <p:nvSpPr>
          <p:cNvPr id="10" name="Text 7"/>
          <p:cNvSpPr txBox="1"/>
          <p:nvPr/>
        </p:nvSpPr>
        <p:spPr>
          <a:xfrm>
            <a:off x="508000" y="3505200"/>
            <a:ext cx="711200" cy="279400"/>
          </a:xfrm>
          <a:prstGeom prst="rect">
            <a:avLst/>
          </a:prstGeom>
          <a:noFill/>
          <a:ln/>
        </p:spPr>
        <p:txBody>
          <a:bodyPr wrap="square" lIns="0" tIns="0" rIns="0" bIns="0" rtlCol="0" anchor="ctr"/>
          <a:lstStyle/>
          <a:p>
            <a:pPr marL="0" indent="0">
              <a:buNone/>
            </a:pPr>
            <a:r>
              <a:rPr lang="en-US" sz="1400" b="1" dirty="0">
                <a:solidFill>
                  <a:srgbClr val="1B2A3A"/>
                </a:solidFill>
                <a:latin typeface="맑은 고딕" pitchFamily="34" charset="0"/>
                <a:ea typeface="맑은 고딕" pitchFamily="34" charset="-122"/>
                <a:cs typeface="맑은 고딕" pitchFamily="34" charset="-120"/>
              </a:rPr>
              <a:t>차민규</a:t>
            </a:r>
            <a:endParaRPr lang="en-US" sz="1400" dirty="0"/>
          </a:p>
        </p:txBody>
      </p:sp>
      <p:sp>
        <p:nvSpPr>
          <p:cNvPr id="11" name="Text 8"/>
          <p:cNvSpPr txBox="1"/>
          <p:nvPr/>
        </p:nvSpPr>
        <p:spPr>
          <a:xfrm>
            <a:off x="1270000" y="3505200"/>
            <a:ext cx="2667000" cy="279400"/>
          </a:xfrm>
          <a:prstGeom prst="rect">
            <a:avLst/>
          </a:prstGeom>
          <a:noFill/>
          <a:ln/>
        </p:spPr>
        <p:txBody>
          <a:bodyPr wrap="square" lIns="0" tIns="0" rIns="0" bIns="0" rtlCol="0" anchor="ctr"/>
          <a:lstStyle/>
          <a:p>
            <a:pPr marL="0" indent="0">
              <a:buNone/>
            </a:pPr>
            <a:r>
              <a:rPr lang="en-US" sz="1400" dirty="0">
                <a:solidFill>
                  <a:srgbClr val="334155"/>
                </a:solidFill>
                <a:latin typeface="맑은 고딕" pitchFamily="34" charset="0"/>
                <a:ea typeface="맑은 고딕" pitchFamily="34" charset="-122"/>
                <a:cs typeface="맑은 고딕" pitchFamily="34" charset="-120"/>
              </a:rPr>
              <a:t>대출문의</a:t>
            </a:r>
            <a:endParaRPr lang="en-US" sz="1400" dirty="0"/>
          </a:p>
        </p:txBody>
      </p:sp>
      <p:sp>
        <p:nvSpPr>
          <p:cNvPr id="12" name="Text 9"/>
          <p:cNvSpPr txBox="1"/>
          <p:nvPr/>
        </p:nvSpPr>
        <p:spPr>
          <a:xfrm>
            <a:off x="508000" y="3810000"/>
            <a:ext cx="711200" cy="279400"/>
          </a:xfrm>
          <a:prstGeom prst="rect">
            <a:avLst/>
          </a:prstGeom>
          <a:noFill/>
          <a:ln/>
        </p:spPr>
        <p:txBody>
          <a:bodyPr wrap="square" lIns="0" tIns="0" rIns="0" bIns="0" rtlCol="0" anchor="ctr"/>
          <a:lstStyle/>
          <a:p>
            <a:pPr marL="0" indent="0">
              <a:buNone/>
            </a:pPr>
            <a:r>
              <a:rPr lang="en-US" sz="1400" b="1" dirty="0">
                <a:solidFill>
                  <a:srgbClr val="1B2A3A"/>
                </a:solidFill>
                <a:latin typeface="맑은 고딕" pitchFamily="34" charset="0"/>
                <a:ea typeface="맑은 고딕" pitchFamily="34" charset="-122"/>
                <a:cs typeface="맑은 고딕" pitchFamily="34" charset="-120"/>
              </a:rPr>
              <a:t>오희택</a:t>
            </a:r>
            <a:endParaRPr lang="en-US" sz="1400" dirty="0"/>
          </a:p>
        </p:txBody>
      </p:sp>
      <p:sp>
        <p:nvSpPr>
          <p:cNvPr id="13" name="Text 10"/>
          <p:cNvSpPr txBox="1"/>
          <p:nvPr/>
        </p:nvSpPr>
        <p:spPr>
          <a:xfrm>
            <a:off x="1270000" y="3810000"/>
            <a:ext cx="2667000" cy="279400"/>
          </a:xfrm>
          <a:prstGeom prst="rect">
            <a:avLst/>
          </a:prstGeom>
          <a:noFill/>
          <a:ln/>
        </p:spPr>
        <p:txBody>
          <a:bodyPr wrap="square" lIns="0" tIns="0" rIns="0" bIns="0" rtlCol="0" anchor="ctr"/>
          <a:lstStyle/>
          <a:p>
            <a:pPr marL="0" indent="0">
              <a:buNone/>
            </a:pPr>
            <a:r>
              <a:rPr lang="en-US" sz="1400" dirty="0">
                <a:solidFill>
                  <a:srgbClr val="334155"/>
                </a:solidFill>
                <a:latin typeface="맑은 고딕" pitchFamily="34" charset="0"/>
                <a:ea typeface="맑은 고딕" pitchFamily="34" charset="-122"/>
                <a:cs typeface="맑은 고딕" pitchFamily="34" charset="-120"/>
              </a:rPr>
              <a:t>이자/연체</a:t>
            </a:r>
            <a:endParaRPr lang="en-US" sz="1400" dirty="0"/>
          </a:p>
        </p:txBody>
      </p:sp>
      <p:sp>
        <p:nvSpPr>
          <p:cNvPr id="14" name="Text 11"/>
          <p:cNvSpPr txBox="1"/>
          <p:nvPr/>
        </p:nvSpPr>
        <p:spPr>
          <a:xfrm>
            <a:off x="508000" y="4114800"/>
            <a:ext cx="711200" cy="279400"/>
          </a:xfrm>
          <a:prstGeom prst="rect">
            <a:avLst/>
          </a:prstGeom>
          <a:noFill/>
          <a:ln/>
        </p:spPr>
        <p:txBody>
          <a:bodyPr wrap="square" lIns="0" tIns="0" rIns="0" bIns="0" rtlCol="0" anchor="ctr"/>
          <a:lstStyle/>
          <a:p>
            <a:pPr marL="0" indent="0">
              <a:buNone/>
            </a:pPr>
            <a:r>
              <a:rPr lang="en-US" sz="1400" b="1" dirty="0">
                <a:solidFill>
                  <a:srgbClr val="1B2A3A"/>
                </a:solidFill>
                <a:latin typeface="맑은 고딕" pitchFamily="34" charset="0"/>
                <a:ea typeface="맑은 고딕" pitchFamily="34" charset="-122"/>
                <a:cs typeface="맑은 고딕" pitchFamily="34" charset="-120"/>
              </a:rPr>
              <a:t>심보영</a:t>
            </a:r>
            <a:endParaRPr lang="en-US" sz="1400" dirty="0"/>
          </a:p>
        </p:txBody>
      </p:sp>
      <p:sp>
        <p:nvSpPr>
          <p:cNvPr id="15" name="Text 12"/>
          <p:cNvSpPr txBox="1"/>
          <p:nvPr/>
        </p:nvSpPr>
        <p:spPr>
          <a:xfrm>
            <a:off x="1270000" y="4114800"/>
            <a:ext cx="2667000" cy="279400"/>
          </a:xfrm>
          <a:prstGeom prst="rect">
            <a:avLst/>
          </a:prstGeom>
          <a:noFill/>
          <a:ln/>
        </p:spPr>
        <p:txBody>
          <a:bodyPr wrap="square" lIns="0" tIns="0" rIns="0" bIns="0" rtlCol="0" anchor="ctr"/>
          <a:lstStyle/>
          <a:p>
            <a:pPr marL="0" indent="0">
              <a:buNone/>
            </a:pPr>
            <a:r>
              <a:rPr lang="en-US" sz="1400" dirty="0">
                <a:solidFill>
                  <a:srgbClr val="334155"/>
                </a:solidFill>
                <a:latin typeface="맑은 고딕" pitchFamily="34" charset="0"/>
                <a:ea typeface="맑은 고딕" pitchFamily="34" charset="-122"/>
                <a:cs typeface="맑은 고딕" pitchFamily="34" charset="-120"/>
              </a:rPr>
              <a:t>라우터 · 게이트웨이 · 머지</a:t>
            </a:r>
            <a:endParaRPr lang="en-US" sz="1400" dirty="0"/>
          </a:p>
        </p:txBody>
      </p:sp>
      <p:sp>
        <p:nvSpPr>
          <p:cNvPr id="16" name="Text 13"/>
          <p:cNvSpPr txBox="1"/>
          <p:nvPr/>
        </p:nvSpPr>
        <p:spPr>
          <a:xfrm>
            <a:off x="508000" y="4724400"/>
            <a:ext cx="3175000" cy="228600"/>
          </a:xfrm>
          <a:prstGeom prst="rect">
            <a:avLst/>
          </a:prstGeom>
          <a:noFill/>
          <a:ln/>
        </p:spPr>
        <p:txBody>
          <a:bodyPr wrap="square" lIns="0" tIns="0" rIns="0" bIns="0" rtlCol="0" anchor="t"/>
          <a:lstStyle/>
          <a:p>
            <a:pPr marL="0" indent="0">
              <a:buNone/>
            </a:pPr>
            <a:r>
              <a:rPr lang="en-US" sz="1200" dirty="0">
                <a:solidFill>
                  <a:srgbClr val="475569"/>
                </a:solidFill>
                <a:latin typeface="맑은 고딕" pitchFamily="34" charset="0"/>
                <a:ea typeface="맑은 고딕" pitchFamily="34" charset="-122"/>
                <a:cs typeface="맑은 고딕" pitchFamily="34" charset="-120"/>
              </a:rPr>
              <a:t>문서 v1.1  ·  2026-09-30</a:t>
            </a:r>
            <a:endParaRPr lang="en-US" sz="1200" dirty="0"/>
          </a:p>
        </p:txBody>
      </p:sp>
      <p:sp>
        <p:nvSpPr>
          <p:cNvPr id="20" name="Accent Bar"/>
          <p:cNvSpPr/>
          <p:nvPr/>
        </p:nvSpPr>
        <p:spPr>
          <a:xfrm>
            <a:off x="508000" y="838200"/>
            <a:ext cx="558800" cy="50800"/>
          </a:xfrm>
          <a:prstGeom prst="rect">
            <a:avLst/>
          </a:prstGeom>
          <a:solidFill>
            <a:srgbClr val="F2C94C"/>
          </a:solidFill>
          <a:ln>
            <a:noFill/>
          </a:ln>
        </p:spPr>
        <p:txBody>
          <a:bodyPr/>
          <a:lstStyle/>
          <a:p>
            <a:endParaRPr lang="en-US"/>
          </a:p>
        </p:txBody>
      </p:sp>
      <p:sp>
        <p:nvSpPr>
          <p:cNvPr id="21" name="Divider"/>
          <p:cNvSpPr/>
          <p:nvPr/>
        </p:nvSpPr>
        <p:spPr>
          <a:xfrm>
            <a:off x="508000" y="2692400"/>
            <a:ext cx="3175000" cy="12700"/>
          </a:xfrm>
          <a:prstGeom prst="rect">
            <a:avLst/>
          </a:prstGeom>
          <a:solidFill>
            <a:srgbClr val="C5D5E8"/>
          </a:solidFill>
          <a:ln>
            <a:noFill/>
          </a:ln>
        </p:spPr>
        <p:txBody>
          <a:bodyPr/>
          <a:lstStyle/>
          <a:p>
            <a:endParaRPr lang="en-US"/>
          </a:p>
        </p:txBody>
      </p:sp>
      <p:pic>
        <p:nvPicPr>
          <p:cNvPr id="17" name="그림 16">
            <a:extLst>
              <a:ext uri="{FF2B5EF4-FFF2-40B4-BE49-F238E27FC236}">
                <a16:creationId xmlns:a16="http://schemas.microsoft.com/office/drawing/2014/main" id="{B1BF2F3A-2C3C-0ED7-97D9-69676A1EA01B}"/>
              </a:ext>
            </a:extLst>
          </p:cNvPr>
          <p:cNvPicPr>
            <a:picLocks noChangeAspect="1"/>
          </p:cNvPicPr>
          <p:nvPr/>
        </p:nvPicPr>
        <p:blipFill>
          <a:blip r:embed="rId4"/>
          <a:stretch>
            <a:fillRect/>
          </a:stretch>
        </p:blipFill>
        <p:spPr>
          <a:xfrm>
            <a:off x="2889250" y="736600"/>
            <a:ext cx="1333500" cy="1333500"/>
          </a:xfrm>
          <a:prstGeom prst="rect">
            <a:avLst/>
          </a:prstGeom>
        </p:spPr>
      </p:pic>
    </p:spTree>
    <p:extLst>
      <p:ext uri="{BB962C8B-B14F-4D97-AF65-F5344CB8AC3E}">
        <p14:creationId xmlns:p14="http://schemas.microsoft.com/office/powerpoint/2010/main" val="3189102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411480"/>
            <a:ext cx="3657600" cy="548640"/>
          </a:xfrm>
          <a:prstGeom prst="rect">
            <a:avLst/>
          </a:prstGeom>
          <a:noFill/>
          <a:ln/>
        </p:spPr>
        <p:txBody>
          <a:bodyPr wrap="square" lIns="0" tIns="0" rIns="0" bIns="0" rtlCol="0" anchor="ctr"/>
          <a:lstStyle/>
          <a:p>
            <a:pPr marL="0" indent="0">
              <a:buNone/>
            </a:pPr>
            <a:r>
              <a:rPr lang="en-US" sz="2800" b="1" dirty="0">
                <a:solidFill>
                  <a:srgbClr val="1B2A3A"/>
                </a:solidFill>
                <a:latin typeface="맑은 고딕" pitchFamily="34" charset="0"/>
                <a:ea typeface="맑은 고딕" pitchFamily="34" charset="-122"/>
                <a:cs typeface="맑은 고딕" pitchFamily="34" charset="-120"/>
              </a:rPr>
              <a:t>목차</a:t>
            </a:r>
            <a:endParaRPr lang="en-US" sz="2800" dirty="0"/>
          </a:p>
        </p:txBody>
      </p:sp>
      <p:sp>
        <p:nvSpPr>
          <p:cNvPr id="4" name="Shape 2"/>
          <p:cNvSpPr/>
          <p:nvPr/>
        </p:nvSpPr>
        <p:spPr>
          <a:xfrm>
            <a:off x="457200" y="1280160"/>
            <a:ext cx="1920240" cy="1554480"/>
          </a:xfrm>
          <a:prstGeom prst="roundRect">
            <a:avLst>
              <a:gd name="adj" fmla="val 4706"/>
            </a:avLst>
          </a:prstGeom>
          <a:solidFill>
            <a:srgbClr val="DCE8F6"/>
          </a:solidFill>
          <a:ln w="12700">
            <a:solidFill>
              <a:srgbClr val="DCE8F6"/>
            </a:solidFill>
            <a:prstDash val="solid"/>
          </a:ln>
        </p:spPr>
        <p:txBody>
          <a:bodyPr/>
          <a:lstStyle/>
          <a:p>
            <a:endParaRPr lang="ko-KR" altLang="en-US"/>
          </a:p>
        </p:txBody>
      </p:sp>
      <p:pic>
        <p:nvPicPr>
          <p:cNvPr id="5" name="Image 0" descr="preencoded.png"/>
          <p:cNvPicPr>
            <a:picLocks noChangeAspect="1"/>
          </p:cNvPicPr>
          <p:nvPr/>
        </p:nvPicPr>
        <p:blipFill>
          <a:blip r:embed="rId3"/>
          <a:stretch>
            <a:fillRect/>
          </a:stretch>
        </p:blipFill>
        <p:spPr>
          <a:xfrm>
            <a:off x="1828800" y="1463040"/>
            <a:ext cx="384048" cy="384048"/>
          </a:xfrm>
          <a:prstGeom prst="rect">
            <a:avLst/>
          </a:prstGeom>
        </p:spPr>
      </p:pic>
      <p:sp>
        <p:nvSpPr>
          <p:cNvPr id="6" name="Text 3"/>
          <p:cNvSpPr txBox="1"/>
          <p:nvPr/>
        </p:nvSpPr>
        <p:spPr>
          <a:xfrm>
            <a:off x="640080" y="1444752"/>
            <a:ext cx="914400" cy="457200"/>
          </a:xfrm>
          <a:prstGeom prst="rect">
            <a:avLst/>
          </a:prstGeom>
          <a:noFill/>
          <a:ln/>
        </p:spPr>
        <p:txBody>
          <a:bodyPr wrap="square" lIns="0" tIns="0" rIns="0" bIns="0" rtlCol="0" anchor="t"/>
          <a:lstStyle/>
          <a:p>
            <a:pPr marL="0" indent="0">
              <a:buNone/>
            </a:pPr>
            <a:r>
              <a:rPr lang="en-US" sz="2400" b="1" dirty="0">
                <a:solidFill>
                  <a:srgbClr val="41659E"/>
                </a:solidFill>
                <a:latin typeface="맑은 고딕" pitchFamily="34" charset="0"/>
                <a:ea typeface="맑은 고딕" pitchFamily="34" charset="-122"/>
                <a:cs typeface="맑은 고딕" pitchFamily="34" charset="-120"/>
              </a:rPr>
              <a:t>01</a:t>
            </a:r>
            <a:endParaRPr lang="en-US" sz="2400" dirty="0"/>
          </a:p>
        </p:txBody>
      </p:sp>
      <p:sp>
        <p:nvSpPr>
          <p:cNvPr id="7" name="Text 4"/>
          <p:cNvSpPr txBox="1"/>
          <p:nvPr/>
        </p:nvSpPr>
        <p:spPr>
          <a:xfrm>
            <a:off x="640080" y="1993392"/>
            <a:ext cx="1645920" cy="457200"/>
          </a:xfrm>
          <a:prstGeom prst="rect">
            <a:avLst/>
          </a:prstGeom>
          <a:noFill/>
          <a:ln/>
        </p:spPr>
        <p:txBody>
          <a:bodyPr wrap="square" lIns="0" tIns="0" rIns="0" bIns="0" rtlCol="0" anchor="t"/>
          <a:lstStyle/>
          <a:p>
            <a:pPr marL="0" indent="0">
              <a:buNone/>
            </a:pPr>
            <a:r>
              <a:rPr lang="en-US" sz="1350" b="1" dirty="0">
                <a:solidFill>
                  <a:srgbClr val="1B2A3A"/>
                </a:solidFill>
                <a:latin typeface="맑은 고딕" pitchFamily="34" charset="0"/>
                <a:ea typeface="맑은 고딕" pitchFamily="34" charset="-122"/>
                <a:cs typeface="맑은 고딕" pitchFamily="34" charset="-120"/>
              </a:rPr>
              <a:t>문제 정의</a:t>
            </a:r>
            <a:endParaRPr lang="en-US" sz="1350" dirty="0"/>
          </a:p>
        </p:txBody>
      </p:sp>
      <p:sp>
        <p:nvSpPr>
          <p:cNvPr id="8" name="Text 5"/>
          <p:cNvSpPr txBox="1"/>
          <p:nvPr/>
        </p:nvSpPr>
        <p:spPr>
          <a:xfrm>
            <a:off x="640080" y="2468880"/>
            <a:ext cx="1371600" cy="228600"/>
          </a:xfrm>
          <a:prstGeom prst="rect">
            <a:avLst/>
          </a:prstGeom>
          <a:noFill/>
          <a:ln/>
        </p:spPr>
        <p:txBody>
          <a:bodyPr wrap="square" lIns="0" tIns="0" rIns="0" bIns="0" rtlCol="0" anchor="t"/>
          <a:lstStyle/>
          <a:p>
            <a:pPr marL="0" indent="0">
              <a:buNone/>
            </a:pPr>
            <a:r>
              <a:rPr lang="en-US" sz="950" dirty="0">
                <a:solidFill>
                  <a:srgbClr val="64748B"/>
                </a:solidFill>
                <a:latin typeface="맑은 고딕" pitchFamily="34" charset="0"/>
                <a:ea typeface="맑은 고딕" pitchFamily="34" charset="-122"/>
                <a:cs typeface="맑은 고딕" pitchFamily="34" charset="-120"/>
              </a:rPr>
              <a:t>p.3–6 </a:t>
            </a:r>
            <a:endParaRPr lang="en-US" sz="950" dirty="0"/>
          </a:p>
        </p:txBody>
      </p:sp>
      <p:sp>
        <p:nvSpPr>
          <p:cNvPr id="9" name="Shape 6"/>
          <p:cNvSpPr/>
          <p:nvPr/>
        </p:nvSpPr>
        <p:spPr>
          <a:xfrm>
            <a:off x="2560320" y="1280160"/>
            <a:ext cx="1920240" cy="1554480"/>
          </a:xfrm>
          <a:prstGeom prst="roundRect">
            <a:avLst>
              <a:gd name="adj" fmla="val 4706"/>
            </a:avLst>
          </a:prstGeom>
          <a:solidFill>
            <a:srgbClr val="DCE8F6"/>
          </a:solidFill>
          <a:ln w="12700">
            <a:solidFill>
              <a:srgbClr val="DCE8F6"/>
            </a:solidFill>
            <a:prstDash val="solid"/>
          </a:ln>
        </p:spPr>
        <p:txBody>
          <a:bodyPr/>
          <a:lstStyle/>
          <a:p>
            <a:endParaRPr lang="ko-KR" altLang="en-US"/>
          </a:p>
        </p:txBody>
      </p:sp>
      <p:pic>
        <p:nvPicPr>
          <p:cNvPr id="10" name="Image 1" descr="preencoded.png"/>
          <p:cNvPicPr>
            <a:picLocks noChangeAspect="1"/>
          </p:cNvPicPr>
          <p:nvPr/>
        </p:nvPicPr>
        <p:blipFill>
          <a:blip r:embed="rId4"/>
          <a:stretch>
            <a:fillRect/>
          </a:stretch>
        </p:blipFill>
        <p:spPr>
          <a:xfrm>
            <a:off x="3931920" y="1463040"/>
            <a:ext cx="384048" cy="384048"/>
          </a:xfrm>
          <a:prstGeom prst="rect">
            <a:avLst/>
          </a:prstGeom>
        </p:spPr>
      </p:pic>
      <p:sp>
        <p:nvSpPr>
          <p:cNvPr id="11" name="Text 7"/>
          <p:cNvSpPr txBox="1"/>
          <p:nvPr/>
        </p:nvSpPr>
        <p:spPr>
          <a:xfrm>
            <a:off x="2743200" y="1444752"/>
            <a:ext cx="914400" cy="457200"/>
          </a:xfrm>
          <a:prstGeom prst="rect">
            <a:avLst/>
          </a:prstGeom>
          <a:noFill/>
          <a:ln/>
        </p:spPr>
        <p:txBody>
          <a:bodyPr wrap="square" lIns="0" tIns="0" rIns="0" bIns="0" rtlCol="0" anchor="t"/>
          <a:lstStyle/>
          <a:p>
            <a:pPr marL="0" indent="0">
              <a:buNone/>
            </a:pPr>
            <a:r>
              <a:rPr lang="en-US" sz="2400" b="1" dirty="0">
                <a:solidFill>
                  <a:srgbClr val="41659E"/>
                </a:solidFill>
                <a:latin typeface="맑은 고딕" pitchFamily="34" charset="0"/>
                <a:ea typeface="맑은 고딕" pitchFamily="34" charset="-122"/>
                <a:cs typeface="맑은 고딕" pitchFamily="34" charset="-120"/>
              </a:rPr>
              <a:t>02</a:t>
            </a:r>
            <a:endParaRPr lang="en-US" sz="2400" dirty="0"/>
          </a:p>
        </p:txBody>
      </p:sp>
      <p:sp>
        <p:nvSpPr>
          <p:cNvPr id="12" name="Text 8"/>
          <p:cNvSpPr txBox="1"/>
          <p:nvPr/>
        </p:nvSpPr>
        <p:spPr>
          <a:xfrm>
            <a:off x="2743200" y="1993392"/>
            <a:ext cx="1645920" cy="457200"/>
          </a:xfrm>
          <a:prstGeom prst="rect">
            <a:avLst/>
          </a:prstGeom>
          <a:noFill/>
          <a:ln/>
        </p:spPr>
        <p:txBody>
          <a:bodyPr wrap="square" lIns="0" tIns="0" rIns="0" bIns="0" rtlCol="0" anchor="t"/>
          <a:lstStyle/>
          <a:p>
            <a:pPr marL="0" indent="0">
              <a:buNone/>
            </a:pPr>
            <a:r>
              <a:rPr lang="en-US" sz="1350" b="1" dirty="0">
                <a:solidFill>
                  <a:srgbClr val="1B2A3A"/>
                </a:solidFill>
                <a:latin typeface="맑은 고딕" pitchFamily="34" charset="0"/>
                <a:ea typeface="맑은 고딕" pitchFamily="34" charset="-122"/>
                <a:cs typeface="맑은 고딕" pitchFamily="34" charset="-120"/>
              </a:rPr>
              <a:t>서비스 경험</a:t>
            </a:r>
            <a:endParaRPr lang="en-US" sz="1350" dirty="0"/>
          </a:p>
        </p:txBody>
      </p:sp>
      <p:sp>
        <p:nvSpPr>
          <p:cNvPr id="13" name="Text 9"/>
          <p:cNvSpPr txBox="1"/>
          <p:nvPr/>
        </p:nvSpPr>
        <p:spPr>
          <a:xfrm>
            <a:off x="2743200" y="2468880"/>
            <a:ext cx="1371600" cy="228600"/>
          </a:xfrm>
          <a:prstGeom prst="rect">
            <a:avLst/>
          </a:prstGeom>
          <a:noFill/>
          <a:ln/>
        </p:spPr>
        <p:txBody>
          <a:bodyPr wrap="square" lIns="0" tIns="0" rIns="0" bIns="0" rtlCol="0" anchor="t"/>
          <a:lstStyle/>
          <a:p>
            <a:pPr marL="0" indent="0">
              <a:buNone/>
            </a:pPr>
            <a:r>
              <a:rPr lang="en-US" sz="950" dirty="0">
                <a:solidFill>
                  <a:srgbClr val="64748B"/>
                </a:solidFill>
                <a:latin typeface="맑은 고딕" pitchFamily="34" charset="0"/>
                <a:ea typeface="맑은 고딕" pitchFamily="34" charset="-122"/>
                <a:cs typeface="맑은 고딕" pitchFamily="34" charset="-120"/>
              </a:rPr>
              <a:t>p.7–8 </a:t>
            </a:r>
            <a:endParaRPr lang="en-US" sz="950" dirty="0"/>
          </a:p>
        </p:txBody>
      </p:sp>
      <p:sp>
        <p:nvSpPr>
          <p:cNvPr id="14" name="Shape 10"/>
          <p:cNvSpPr/>
          <p:nvPr/>
        </p:nvSpPr>
        <p:spPr>
          <a:xfrm>
            <a:off x="4663440" y="1280160"/>
            <a:ext cx="1920240" cy="1554480"/>
          </a:xfrm>
          <a:prstGeom prst="roundRect">
            <a:avLst>
              <a:gd name="adj" fmla="val 4706"/>
            </a:avLst>
          </a:prstGeom>
          <a:solidFill>
            <a:srgbClr val="DCE8F6"/>
          </a:solidFill>
          <a:ln w="12700">
            <a:solidFill>
              <a:srgbClr val="DCE8F6"/>
            </a:solidFill>
            <a:prstDash val="solid"/>
          </a:ln>
        </p:spPr>
        <p:txBody>
          <a:bodyPr/>
          <a:lstStyle/>
          <a:p>
            <a:endParaRPr lang="ko-KR" altLang="en-US"/>
          </a:p>
        </p:txBody>
      </p:sp>
      <p:pic>
        <p:nvPicPr>
          <p:cNvPr id="15" name="Image 2" descr="preencoded.png"/>
          <p:cNvPicPr>
            <a:picLocks noChangeAspect="1"/>
          </p:cNvPicPr>
          <p:nvPr/>
        </p:nvPicPr>
        <p:blipFill>
          <a:blip r:embed="rId5"/>
          <a:stretch>
            <a:fillRect/>
          </a:stretch>
        </p:blipFill>
        <p:spPr>
          <a:xfrm>
            <a:off x="6035040" y="1463040"/>
            <a:ext cx="384048" cy="384048"/>
          </a:xfrm>
          <a:prstGeom prst="rect">
            <a:avLst/>
          </a:prstGeom>
        </p:spPr>
      </p:pic>
      <p:sp>
        <p:nvSpPr>
          <p:cNvPr id="16" name="Text 11"/>
          <p:cNvSpPr txBox="1"/>
          <p:nvPr/>
        </p:nvSpPr>
        <p:spPr>
          <a:xfrm>
            <a:off x="4846320" y="1444752"/>
            <a:ext cx="914400" cy="457200"/>
          </a:xfrm>
          <a:prstGeom prst="rect">
            <a:avLst/>
          </a:prstGeom>
          <a:noFill/>
          <a:ln/>
        </p:spPr>
        <p:txBody>
          <a:bodyPr wrap="square" lIns="0" tIns="0" rIns="0" bIns="0" rtlCol="0" anchor="t"/>
          <a:lstStyle/>
          <a:p>
            <a:pPr marL="0" indent="0">
              <a:buNone/>
            </a:pPr>
            <a:r>
              <a:rPr lang="en-US" sz="2400" b="1" dirty="0">
                <a:solidFill>
                  <a:srgbClr val="41659E"/>
                </a:solidFill>
                <a:latin typeface="맑은 고딕" pitchFamily="34" charset="0"/>
                <a:ea typeface="맑은 고딕" pitchFamily="34" charset="-122"/>
                <a:cs typeface="맑은 고딕" pitchFamily="34" charset="-120"/>
              </a:rPr>
              <a:t>03</a:t>
            </a:r>
            <a:endParaRPr lang="en-US" sz="2400" dirty="0"/>
          </a:p>
        </p:txBody>
      </p:sp>
      <p:sp>
        <p:nvSpPr>
          <p:cNvPr id="17" name="Text 12"/>
          <p:cNvSpPr txBox="1"/>
          <p:nvPr/>
        </p:nvSpPr>
        <p:spPr>
          <a:xfrm>
            <a:off x="4846320" y="1993392"/>
            <a:ext cx="1645920" cy="457200"/>
          </a:xfrm>
          <a:prstGeom prst="rect">
            <a:avLst/>
          </a:prstGeom>
          <a:noFill/>
          <a:ln/>
        </p:spPr>
        <p:txBody>
          <a:bodyPr wrap="square" lIns="0" tIns="0" rIns="0" bIns="0" rtlCol="0" anchor="t"/>
          <a:lstStyle/>
          <a:p>
            <a:pPr marL="0" indent="0">
              <a:buNone/>
            </a:pPr>
            <a:r>
              <a:rPr lang="en-US" sz="1350" b="1" dirty="0">
                <a:solidFill>
                  <a:srgbClr val="1B2A3A"/>
                </a:solidFill>
                <a:latin typeface="맑은 고딕" pitchFamily="34" charset="0"/>
                <a:ea typeface="맑은 고딕" pitchFamily="34" charset="-122"/>
                <a:cs typeface="맑은 고딕" pitchFamily="34" charset="-120"/>
              </a:rPr>
              <a:t>아키텍처</a:t>
            </a:r>
            <a:endParaRPr lang="en-US" sz="1350" dirty="0"/>
          </a:p>
        </p:txBody>
      </p:sp>
      <p:sp>
        <p:nvSpPr>
          <p:cNvPr id="18" name="Text 13"/>
          <p:cNvSpPr txBox="1"/>
          <p:nvPr/>
        </p:nvSpPr>
        <p:spPr>
          <a:xfrm>
            <a:off x="4846320" y="2468880"/>
            <a:ext cx="1371600" cy="228600"/>
          </a:xfrm>
          <a:prstGeom prst="rect">
            <a:avLst/>
          </a:prstGeom>
          <a:noFill/>
          <a:ln/>
        </p:spPr>
        <p:txBody>
          <a:bodyPr wrap="square" lIns="0" tIns="0" rIns="0" bIns="0" rtlCol="0" anchor="t"/>
          <a:lstStyle/>
          <a:p>
            <a:pPr marL="0" indent="0">
              <a:buNone/>
            </a:pPr>
            <a:r>
              <a:rPr lang="en-US" sz="950" dirty="0">
                <a:solidFill>
                  <a:srgbClr val="64748B"/>
                </a:solidFill>
                <a:latin typeface="맑은 고딕" pitchFamily="34" charset="0"/>
                <a:ea typeface="맑은 고딕" pitchFamily="34" charset="-122"/>
                <a:cs typeface="맑은 고딕" pitchFamily="34" charset="-120"/>
              </a:rPr>
              <a:t>p.9–12</a:t>
            </a:r>
            <a:endParaRPr lang="en-US" sz="950" dirty="0"/>
          </a:p>
        </p:txBody>
      </p:sp>
      <p:sp>
        <p:nvSpPr>
          <p:cNvPr id="19" name="Shape 14"/>
          <p:cNvSpPr/>
          <p:nvPr/>
        </p:nvSpPr>
        <p:spPr>
          <a:xfrm>
            <a:off x="6766560" y="1280160"/>
            <a:ext cx="1920240" cy="1554480"/>
          </a:xfrm>
          <a:prstGeom prst="roundRect">
            <a:avLst>
              <a:gd name="adj" fmla="val 4706"/>
            </a:avLst>
          </a:prstGeom>
          <a:solidFill>
            <a:srgbClr val="DCE8F6"/>
          </a:solidFill>
          <a:ln w="12700">
            <a:solidFill>
              <a:srgbClr val="DCE8F6"/>
            </a:solidFill>
            <a:prstDash val="solid"/>
          </a:ln>
        </p:spPr>
        <p:txBody>
          <a:bodyPr/>
          <a:lstStyle/>
          <a:p>
            <a:endParaRPr lang="ko-KR" altLang="en-US"/>
          </a:p>
        </p:txBody>
      </p:sp>
      <p:pic>
        <p:nvPicPr>
          <p:cNvPr id="20" name="Image 3" descr="preencoded.png"/>
          <p:cNvPicPr>
            <a:picLocks noChangeAspect="1"/>
          </p:cNvPicPr>
          <p:nvPr/>
        </p:nvPicPr>
        <p:blipFill>
          <a:blip r:embed="rId6"/>
          <a:stretch>
            <a:fillRect/>
          </a:stretch>
        </p:blipFill>
        <p:spPr>
          <a:xfrm>
            <a:off x="8138160" y="1463040"/>
            <a:ext cx="384048" cy="384048"/>
          </a:xfrm>
          <a:prstGeom prst="rect">
            <a:avLst/>
          </a:prstGeom>
        </p:spPr>
      </p:pic>
      <p:sp>
        <p:nvSpPr>
          <p:cNvPr id="21" name="Text 15"/>
          <p:cNvSpPr txBox="1"/>
          <p:nvPr/>
        </p:nvSpPr>
        <p:spPr>
          <a:xfrm>
            <a:off x="6949440" y="1444752"/>
            <a:ext cx="914400" cy="457200"/>
          </a:xfrm>
          <a:prstGeom prst="rect">
            <a:avLst/>
          </a:prstGeom>
          <a:noFill/>
          <a:ln/>
        </p:spPr>
        <p:txBody>
          <a:bodyPr wrap="square" lIns="0" tIns="0" rIns="0" bIns="0" rtlCol="0" anchor="t"/>
          <a:lstStyle/>
          <a:p>
            <a:pPr marL="0" indent="0">
              <a:buNone/>
            </a:pPr>
            <a:r>
              <a:rPr lang="en-US" sz="2400" b="1" dirty="0">
                <a:solidFill>
                  <a:srgbClr val="41659E"/>
                </a:solidFill>
                <a:latin typeface="맑은 고딕" pitchFamily="34" charset="0"/>
                <a:ea typeface="맑은 고딕" pitchFamily="34" charset="-122"/>
                <a:cs typeface="맑은 고딕" pitchFamily="34" charset="-120"/>
              </a:rPr>
              <a:t>04</a:t>
            </a:r>
            <a:endParaRPr lang="en-US" sz="2400" dirty="0"/>
          </a:p>
        </p:txBody>
      </p:sp>
      <p:sp>
        <p:nvSpPr>
          <p:cNvPr id="22" name="Text 16"/>
          <p:cNvSpPr txBox="1"/>
          <p:nvPr/>
        </p:nvSpPr>
        <p:spPr>
          <a:xfrm>
            <a:off x="6949440" y="1993392"/>
            <a:ext cx="1645920" cy="457200"/>
          </a:xfrm>
          <a:prstGeom prst="rect">
            <a:avLst/>
          </a:prstGeom>
          <a:noFill/>
          <a:ln/>
        </p:spPr>
        <p:txBody>
          <a:bodyPr wrap="square" lIns="0" tIns="0" rIns="0" bIns="0" rtlCol="0" anchor="t"/>
          <a:lstStyle/>
          <a:p>
            <a:pPr marL="0" indent="0">
              <a:buNone/>
            </a:pPr>
            <a:r>
              <a:rPr lang="en-US" sz="1350" b="1" dirty="0">
                <a:solidFill>
                  <a:srgbClr val="1B2A3A"/>
                </a:solidFill>
                <a:latin typeface="맑은 고딕" pitchFamily="34" charset="0"/>
                <a:ea typeface="맑은 고딕" pitchFamily="34" charset="-122"/>
                <a:cs typeface="맑은 고딕" pitchFamily="34" charset="-120"/>
              </a:rPr>
              <a:t>평가 기준</a:t>
            </a:r>
            <a:endParaRPr lang="en-US" sz="1350" dirty="0"/>
          </a:p>
        </p:txBody>
      </p:sp>
      <p:sp>
        <p:nvSpPr>
          <p:cNvPr id="23" name="Text 17"/>
          <p:cNvSpPr txBox="1"/>
          <p:nvPr/>
        </p:nvSpPr>
        <p:spPr>
          <a:xfrm>
            <a:off x="6949440" y="2468880"/>
            <a:ext cx="1371600" cy="228600"/>
          </a:xfrm>
          <a:prstGeom prst="rect">
            <a:avLst/>
          </a:prstGeom>
          <a:noFill/>
          <a:ln/>
        </p:spPr>
        <p:txBody>
          <a:bodyPr wrap="square" lIns="0" tIns="0" rIns="0" bIns="0" rtlCol="0" anchor="t"/>
          <a:lstStyle/>
          <a:p>
            <a:pPr marL="0" indent="0">
              <a:buNone/>
            </a:pPr>
            <a:r>
              <a:rPr lang="en-US" sz="950" dirty="0">
                <a:solidFill>
                  <a:srgbClr val="64748B"/>
                </a:solidFill>
                <a:latin typeface="맑은 고딕" pitchFamily="34" charset="0"/>
                <a:ea typeface="맑은 고딕" pitchFamily="34" charset="-122"/>
                <a:cs typeface="맑은 고딕" pitchFamily="34" charset="-120"/>
              </a:rPr>
              <a:t>p.13</a:t>
            </a:r>
            <a:endParaRPr lang="en-US" sz="950" dirty="0"/>
          </a:p>
        </p:txBody>
      </p:sp>
      <p:sp>
        <p:nvSpPr>
          <p:cNvPr id="24" name="Shape 18"/>
          <p:cNvSpPr/>
          <p:nvPr/>
        </p:nvSpPr>
        <p:spPr>
          <a:xfrm>
            <a:off x="457200" y="3017520"/>
            <a:ext cx="1920240" cy="1554480"/>
          </a:xfrm>
          <a:prstGeom prst="roundRect">
            <a:avLst>
              <a:gd name="adj" fmla="val 4706"/>
            </a:avLst>
          </a:prstGeom>
          <a:solidFill>
            <a:srgbClr val="F1F5F9"/>
          </a:solidFill>
          <a:ln w="12700">
            <a:solidFill>
              <a:srgbClr val="F1F5F9"/>
            </a:solidFill>
            <a:prstDash val="solid"/>
          </a:ln>
        </p:spPr>
        <p:txBody>
          <a:bodyPr/>
          <a:lstStyle/>
          <a:p>
            <a:endParaRPr lang="ko-KR" altLang="en-US"/>
          </a:p>
        </p:txBody>
      </p:sp>
      <p:pic>
        <p:nvPicPr>
          <p:cNvPr id="25" name="Image 4" descr="preencoded.png"/>
          <p:cNvPicPr>
            <a:picLocks noChangeAspect="1"/>
          </p:cNvPicPr>
          <p:nvPr/>
        </p:nvPicPr>
        <p:blipFill>
          <a:blip r:embed="rId7"/>
          <a:stretch>
            <a:fillRect/>
          </a:stretch>
        </p:blipFill>
        <p:spPr>
          <a:xfrm>
            <a:off x="1828800" y="3200400"/>
            <a:ext cx="384048" cy="384048"/>
          </a:xfrm>
          <a:prstGeom prst="rect">
            <a:avLst/>
          </a:prstGeom>
        </p:spPr>
      </p:pic>
      <p:sp>
        <p:nvSpPr>
          <p:cNvPr id="26" name="Text 19"/>
          <p:cNvSpPr txBox="1"/>
          <p:nvPr/>
        </p:nvSpPr>
        <p:spPr>
          <a:xfrm>
            <a:off x="640080" y="3182112"/>
            <a:ext cx="914400" cy="457200"/>
          </a:xfrm>
          <a:prstGeom prst="rect">
            <a:avLst/>
          </a:prstGeom>
          <a:noFill/>
          <a:ln/>
        </p:spPr>
        <p:txBody>
          <a:bodyPr wrap="square" lIns="0" tIns="0" rIns="0" bIns="0" rtlCol="0" anchor="t"/>
          <a:lstStyle/>
          <a:p>
            <a:pPr marL="0" indent="0">
              <a:buNone/>
            </a:pPr>
            <a:r>
              <a:rPr lang="en-US" sz="2400" b="1" dirty="0">
                <a:solidFill>
                  <a:srgbClr val="41659E"/>
                </a:solidFill>
                <a:latin typeface="맑은 고딕" pitchFamily="34" charset="0"/>
                <a:ea typeface="맑은 고딕" pitchFamily="34" charset="-122"/>
                <a:cs typeface="맑은 고딕" pitchFamily="34" charset="-120"/>
              </a:rPr>
              <a:t>05</a:t>
            </a:r>
            <a:endParaRPr lang="en-US" sz="2400" dirty="0"/>
          </a:p>
        </p:txBody>
      </p:sp>
      <p:sp>
        <p:nvSpPr>
          <p:cNvPr id="27" name="Text 20"/>
          <p:cNvSpPr txBox="1"/>
          <p:nvPr/>
        </p:nvSpPr>
        <p:spPr>
          <a:xfrm>
            <a:off x="640080" y="3730752"/>
            <a:ext cx="1645920" cy="457200"/>
          </a:xfrm>
          <a:prstGeom prst="rect">
            <a:avLst/>
          </a:prstGeom>
          <a:noFill/>
          <a:ln/>
        </p:spPr>
        <p:txBody>
          <a:bodyPr wrap="square" lIns="0" tIns="0" rIns="0" bIns="0" rtlCol="0" anchor="t"/>
          <a:lstStyle/>
          <a:p>
            <a:pPr marL="0" indent="0">
              <a:buNone/>
            </a:pPr>
            <a:r>
              <a:rPr lang="en-US" sz="1350" b="1" dirty="0">
                <a:solidFill>
                  <a:srgbClr val="1B2A3A"/>
                </a:solidFill>
                <a:latin typeface="맑은 고딕" pitchFamily="34" charset="0"/>
                <a:ea typeface="맑은 고딕" pitchFamily="34" charset="-122"/>
                <a:cs typeface="맑은 고딕" pitchFamily="34" charset="-120"/>
              </a:rPr>
              <a:t>모델 학습</a:t>
            </a:r>
            <a:endParaRPr lang="en-US" sz="1350" dirty="0"/>
          </a:p>
        </p:txBody>
      </p:sp>
      <p:sp>
        <p:nvSpPr>
          <p:cNvPr id="28" name="Text 21"/>
          <p:cNvSpPr txBox="1"/>
          <p:nvPr/>
        </p:nvSpPr>
        <p:spPr>
          <a:xfrm>
            <a:off x="640080" y="4206240"/>
            <a:ext cx="1371600" cy="228600"/>
          </a:xfrm>
          <a:prstGeom prst="rect">
            <a:avLst/>
          </a:prstGeom>
          <a:noFill/>
          <a:ln/>
        </p:spPr>
        <p:txBody>
          <a:bodyPr wrap="square" lIns="0" tIns="0" rIns="0" bIns="0" rtlCol="0" anchor="t"/>
          <a:lstStyle/>
          <a:p>
            <a:pPr marL="0" indent="0">
              <a:buNone/>
            </a:pPr>
            <a:r>
              <a:rPr lang="en-US" sz="950" dirty="0">
                <a:solidFill>
                  <a:srgbClr val="64748B"/>
                </a:solidFill>
                <a:latin typeface="맑은 고딕" pitchFamily="34" charset="0"/>
                <a:ea typeface="맑은 고딕" pitchFamily="34" charset="-122"/>
                <a:cs typeface="맑은 고딕" pitchFamily="34" charset="-120"/>
              </a:rPr>
              <a:t>p.14–17</a:t>
            </a:r>
            <a:endParaRPr lang="en-US" sz="950" dirty="0"/>
          </a:p>
        </p:txBody>
      </p:sp>
      <p:sp>
        <p:nvSpPr>
          <p:cNvPr id="29" name="Shape 22"/>
          <p:cNvSpPr/>
          <p:nvPr/>
        </p:nvSpPr>
        <p:spPr>
          <a:xfrm>
            <a:off x="2560320" y="3017520"/>
            <a:ext cx="1920240" cy="1554480"/>
          </a:xfrm>
          <a:prstGeom prst="roundRect">
            <a:avLst>
              <a:gd name="adj" fmla="val 4706"/>
            </a:avLst>
          </a:prstGeom>
          <a:solidFill>
            <a:srgbClr val="F1F5F9"/>
          </a:solidFill>
          <a:ln w="12700">
            <a:solidFill>
              <a:srgbClr val="F1F5F9"/>
            </a:solidFill>
            <a:prstDash val="solid"/>
          </a:ln>
        </p:spPr>
        <p:txBody>
          <a:bodyPr/>
          <a:lstStyle/>
          <a:p>
            <a:endParaRPr lang="ko-KR" altLang="en-US"/>
          </a:p>
        </p:txBody>
      </p:sp>
      <p:pic>
        <p:nvPicPr>
          <p:cNvPr id="30" name="Image 5" descr="preencoded.png"/>
          <p:cNvPicPr>
            <a:picLocks noChangeAspect="1"/>
          </p:cNvPicPr>
          <p:nvPr/>
        </p:nvPicPr>
        <p:blipFill>
          <a:blip r:embed="rId8"/>
          <a:stretch>
            <a:fillRect/>
          </a:stretch>
        </p:blipFill>
        <p:spPr>
          <a:xfrm>
            <a:off x="3931920" y="3200400"/>
            <a:ext cx="384048" cy="384048"/>
          </a:xfrm>
          <a:prstGeom prst="rect">
            <a:avLst/>
          </a:prstGeom>
        </p:spPr>
      </p:pic>
      <p:sp>
        <p:nvSpPr>
          <p:cNvPr id="31" name="Text 23"/>
          <p:cNvSpPr txBox="1"/>
          <p:nvPr/>
        </p:nvSpPr>
        <p:spPr>
          <a:xfrm>
            <a:off x="2743200" y="3182112"/>
            <a:ext cx="914400" cy="457200"/>
          </a:xfrm>
          <a:prstGeom prst="rect">
            <a:avLst/>
          </a:prstGeom>
          <a:noFill/>
          <a:ln/>
        </p:spPr>
        <p:txBody>
          <a:bodyPr wrap="square" lIns="0" tIns="0" rIns="0" bIns="0" rtlCol="0" anchor="t"/>
          <a:lstStyle/>
          <a:p>
            <a:pPr marL="0" indent="0">
              <a:buNone/>
            </a:pPr>
            <a:r>
              <a:rPr lang="en-US" sz="2400" b="1" dirty="0">
                <a:solidFill>
                  <a:srgbClr val="41659E"/>
                </a:solidFill>
                <a:latin typeface="맑은 고딕" pitchFamily="34" charset="0"/>
                <a:ea typeface="맑은 고딕" pitchFamily="34" charset="-122"/>
                <a:cs typeface="맑은 고딕" pitchFamily="34" charset="-120"/>
              </a:rPr>
              <a:t>06</a:t>
            </a:r>
            <a:endParaRPr lang="en-US" sz="2400" dirty="0"/>
          </a:p>
        </p:txBody>
      </p:sp>
      <p:sp>
        <p:nvSpPr>
          <p:cNvPr id="32" name="Text 24"/>
          <p:cNvSpPr txBox="1"/>
          <p:nvPr/>
        </p:nvSpPr>
        <p:spPr>
          <a:xfrm>
            <a:off x="2743200" y="3730752"/>
            <a:ext cx="1645920" cy="457200"/>
          </a:xfrm>
          <a:prstGeom prst="rect">
            <a:avLst/>
          </a:prstGeom>
          <a:noFill/>
          <a:ln/>
        </p:spPr>
        <p:txBody>
          <a:bodyPr wrap="square" lIns="0" tIns="0" rIns="0" bIns="0" rtlCol="0" anchor="t"/>
          <a:lstStyle/>
          <a:p>
            <a:pPr marL="0" indent="0">
              <a:buNone/>
            </a:pPr>
            <a:r>
              <a:rPr lang="en-US" sz="1350" b="1" dirty="0">
                <a:solidFill>
                  <a:srgbClr val="1B2A3A"/>
                </a:solidFill>
                <a:latin typeface="맑은 고딕" pitchFamily="34" charset="0"/>
                <a:ea typeface="맑은 고딕" pitchFamily="34" charset="-122"/>
                <a:cs typeface="맑은 고딕" pitchFamily="34" charset="-120"/>
              </a:rPr>
              <a:t>성능 검증</a:t>
            </a:r>
            <a:endParaRPr lang="en-US" sz="1350" dirty="0"/>
          </a:p>
        </p:txBody>
      </p:sp>
      <p:sp>
        <p:nvSpPr>
          <p:cNvPr id="33" name="Text 25"/>
          <p:cNvSpPr txBox="1"/>
          <p:nvPr/>
        </p:nvSpPr>
        <p:spPr>
          <a:xfrm>
            <a:off x="2743200" y="4206240"/>
            <a:ext cx="1371600" cy="228600"/>
          </a:xfrm>
          <a:prstGeom prst="rect">
            <a:avLst/>
          </a:prstGeom>
          <a:noFill/>
          <a:ln/>
        </p:spPr>
        <p:txBody>
          <a:bodyPr wrap="square" lIns="0" tIns="0" rIns="0" bIns="0" rtlCol="0" anchor="t"/>
          <a:lstStyle/>
          <a:p>
            <a:pPr marL="0" indent="0">
              <a:buNone/>
            </a:pPr>
            <a:r>
              <a:rPr lang="en-US" sz="950" dirty="0">
                <a:solidFill>
                  <a:srgbClr val="64748B"/>
                </a:solidFill>
                <a:latin typeface="맑은 고딕" pitchFamily="34" charset="0"/>
                <a:ea typeface="맑은 고딕" pitchFamily="34" charset="-122"/>
                <a:cs typeface="맑은 고딕" pitchFamily="34" charset="-120"/>
              </a:rPr>
              <a:t>p.18–20 </a:t>
            </a:r>
            <a:endParaRPr lang="en-US" sz="950" dirty="0"/>
          </a:p>
        </p:txBody>
      </p:sp>
      <p:sp>
        <p:nvSpPr>
          <p:cNvPr id="34" name="Shape 26"/>
          <p:cNvSpPr/>
          <p:nvPr/>
        </p:nvSpPr>
        <p:spPr>
          <a:xfrm>
            <a:off x="4663440" y="3017520"/>
            <a:ext cx="1920240" cy="1554480"/>
          </a:xfrm>
          <a:prstGeom prst="roundRect">
            <a:avLst>
              <a:gd name="adj" fmla="val 4706"/>
            </a:avLst>
          </a:prstGeom>
          <a:solidFill>
            <a:srgbClr val="F1F5F9"/>
          </a:solidFill>
          <a:ln w="12700">
            <a:solidFill>
              <a:srgbClr val="F1F5F9"/>
            </a:solidFill>
            <a:prstDash val="solid"/>
          </a:ln>
        </p:spPr>
        <p:txBody>
          <a:bodyPr/>
          <a:lstStyle/>
          <a:p>
            <a:endParaRPr lang="ko-KR" altLang="en-US"/>
          </a:p>
        </p:txBody>
      </p:sp>
      <p:pic>
        <p:nvPicPr>
          <p:cNvPr id="35" name="Image 6" descr="preencoded.png"/>
          <p:cNvPicPr>
            <a:picLocks noChangeAspect="1"/>
          </p:cNvPicPr>
          <p:nvPr/>
        </p:nvPicPr>
        <p:blipFill>
          <a:blip r:embed="rId9"/>
          <a:stretch>
            <a:fillRect/>
          </a:stretch>
        </p:blipFill>
        <p:spPr>
          <a:xfrm>
            <a:off x="6035040" y="3200400"/>
            <a:ext cx="384048" cy="384048"/>
          </a:xfrm>
          <a:prstGeom prst="rect">
            <a:avLst/>
          </a:prstGeom>
        </p:spPr>
      </p:pic>
      <p:sp>
        <p:nvSpPr>
          <p:cNvPr id="36" name="Text 27"/>
          <p:cNvSpPr txBox="1"/>
          <p:nvPr/>
        </p:nvSpPr>
        <p:spPr>
          <a:xfrm>
            <a:off x="4846320" y="3182112"/>
            <a:ext cx="914400" cy="457200"/>
          </a:xfrm>
          <a:prstGeom prst="rect">
            <a:avLst/>
          </a:prstGeom>
          <a:noFill/>
          <a:ln/>
        </p:spPr>
        <p:txBody>
          <a:bodyPr wrap="square" lIns="0" tIns="0" rIns="0" bIns="0" rtlCol="0" anchor="t"/>
          <a:lstStyle/>
          <a:p>
            <a:pPr marL="0" indent="0">
              <a:buNone/>
            </a:pPr>
            <a:r>
              <a:rPr lang="en-US" sz="2400" b="1" dirty="0">
                <a:solidFill>
                  <a:srgbClr val="41659E"/>
                </a:solidFill>
                <a:latin typeface="맑은 고딕" pitchFamily="34" charset="0"/>
                <a:ea typeface="맑은 고딕" pitchFamily="34" charset="-122"/>
                <a:cs typeface="맑은 고딕" pitchFamily="34" charset="-120"/>
              </a:rPr>
              <a:t>07</a:t>
            </a:r>
            <a:endParaRPr lang="en-US" sz="2400" dirty="0"/>
          </a:p>
        </p:txBody>
      </p:sp>
      <p:sp>
        <p:nvSpPr>
          <p:cNvPr id="37" name="Text 28"/>
          <p:cNvSpPr txBox="1"/>
          <p:nvPr/>
        </p:nvSpPr>
        <p:spPr>
          <a:xfrm>
            <a:off x="4846320" y="3730752"/>
            <a:ext cx="1645920" cy="457200"/>
          </a:xfrm>
          <a:prstGeom prst="rect">
            <a:avLst/>
          </a:prstGeom>
          <a:noFill/>
          <a:ln/>
        </p:spPr>
        <p:txBody>
          <a:bodyPr wrap="square" lIns="0" tIns="0" rIns="0" bIns="0" rtlCol="0" anchor="t"/>
          <a:lstStyle/>
          <a:p>
            <a:pPr marL="0" indent="0">
              <a:buNone/>
            </a:pPr>
            <a:r>
              <a:rPr lang="en-US" sz="1350" b="1" dirty="0">
                <a:solidFill>
                  <a:srgbClr val="1B2A3A"/>
                </a:solidFill>
                <a:latin typeface="맑은 고딕" pitchFamily="34" charset="0"/>
                <a:ea typeface="맑은 고딕" pitchFamily="34" charset="-122"/>
                <a:cs typeface="맑은 고딕" pitchFamily="34" charset="-120"/>
              </a:rPr>
              <a:t>라이브 데모</a:t>
            </a:r>
            <a:endParaRPr lang="en-US" sz="1350" dirty="0"/>
          </a:p>
        </p:txBody>
      </p:sp>
      <p:sp>
        <p:nvSpPr>
          <p:cNvPr id="38" name="Text 29"/>
          <p:cNvSpPr txBox="1"/>
          <p:nvPr/>
        </p:nvSpPr>
        <p:spPr>
          <a:xfrm>
            <a:off x="4856048" y="4206240"/>
            <a:ext cx="1371600" cy="228600"/>
          </a:xfrm>
          <a:prstGeom prst="rect">
            <a:avLst/>
          </a:prstGeom>
          <a:noFill/>
          <a:ln/>
        </p:spPr>
        <p:txBody>
          <a:bodyPr wrap="square" lIns="0" tIns="0" rIns="0" bIns="0" rtlCol="0" anchor="t"/>
          <a:lstStyle/>
          <a:p>
            <a:pPr marL="0" indent="0">
              <a:buNone/>
            </a:pPr>
            <a:r>
              <a:rPr lang="en-US" sz="950" dirty="0">
                <a:solidFill>
                  <a:srgbClr val="64748B"/>
                </a:solidFill>
                <a:latin typeface="맑은 고딕" pitchFamily="34" charset="0"/>
                <a:ea typeface="맑은 고딕" pitchFamily="34" charset="-122"/>
                <a:cs typeface="맑은 고딕" pitchFamily="34" charset="-120"/>
              </a:rPr>
              <a:t>p.21 </a:t>
            </a:r>
            <a:endParaRPr lang="en-US" sz="950" dirty="0"/>
          </a:p>
        </p:txBody>
      </p:sp>
      <p:sp>
        <p:nvSpPr>
          <p:cNvPr id="39" name="Shape 30"/>
          <p:cNvSpPr/>
          <p:nvPr/>
        </p:nvSpPr>
        <p:spPr>
          <a:xfrm>
            <a:off x="6766560" y="3017520"/>
            <a:ext cx="1920240" cy="1554480"/>
          </a:xfrm>
          <a:prstGeom prst="roundRect">
            <a:avLst>
              <a:gd name="adj" fmla="val 4706"/>
            </a:avLst>
          </a:prstGeom>
          <a:solidFill>
            <a:srgbClr val="F1F5F9"/>
          </a:solidFill>
          <a:ln w="12700">
            <a:solidFill>
              <a:srgbClr val="F1F5F9"/>
            </a:solidFill>
            <a:prstDash val="solid"/>
          </a:ln>
        </p:spPr>
        <p:txBody>
          <a:bodyPr/>
          <a:lstStyle/>
          <a:p>
            <a:endParaRPr lang="ko-KR" altLang="en-US"/>
          </a:p>
        </p:txBody>
      </p:sp>
      <p:pic>
        <p:nvPicPr>
          <p:cNvPr id="40" name="Image 7" descr="preencoded.png"/>
          <p:cNvPicPr>
            <a:picLocks noChangeAspect="1"/>
          </p:cNvPicPr>
          <p:nvPr/>
        </p:nvPicPr>
        <p:blipFill>
          <a:blip r:embed="rId10"/>
          <a:stretch>
            <a:fillRect/>
          </a:stretch>
        </p:blipFill>
        <p:spPr>
          <a:xfrm>
            <a:off x="8138160" y="3200400"/>
            <a:ext cx="384048" cy="384048"/>
          </a:xfrm>
          <a:prstGeom prst="rect">
            <a:avLst/>
          </a:prstGeom>
        </p:spPr>
      </p:pic>
      <p:sp>
        <p:nvSpPr>
          <p:cNvPr id="41" name="Text 31"/>
          <p:cNvSpPr txBox="1"/>
          <p:nvPr/>
        </p:nvSpPr>
        <p:spPr>
          <a:xfrm>
            <a:off x="6949440" y="3182112"/>
            <a:ext cx="914400" cy="457200"/>
          </a:xfrm>
          <a:prstGeom prst="rect">
            <a:avLst/>
          </a:prstGeom>
          <a:noFill/>
          <a:ln/>
        </p:spPr>
        <p:txBody>
          <a:bodyPr wrap="square" lIns="0" tIns="0" rIns="0" bIns="0" rtlCol="0" anchor="t"/>
          <a:lstStyle/>
          <a:p>
            <a:pPr marL="0" indent="0">
              <a:buNone/>
            </a:pPr>
            <a:r>
              <a:rPr lang="en-US" sz="2400" b="1" dirty="0">
                <a:solidFill>
                  <a:srgbClr val="41659E"/>
                </a:solidFill>
                <a:latin typeface="맑은 고딕" pitchFamily="34" charset="0"/>
                <a:ea typeface="맑은 고딕" pitchFamily="34" charset="-122"/>
                <a:cs typeface="맑은 고딕" pitchFamily="34" charset="-120"/>
              </a:rPr>
              <a:t>08</a:t>
            </a:r>
            <a:endParaRPr lang="en-US" sz="2400" dirty="0"/>
          </a:p>
        </p:txBody>
      </p:sp>
      <p:sp>
        <p:nvSpPr>
          <p:cNvPr id="42" name="Text 32"/>
          <p:cNvSpPr txBox="1"/>
          <p:nvPr/>
        </p:nvSpPr>
        <p:spPr>
          <a:xfrm>
            <a:off x="6949440" y="3730752"/>
            <a:ext cx="1645920" cy="457200"/>
          </a:xfrm>
          <a:prstGeom prst="rect">
            <a:avLst/>
          </a:prstGeom>
          <a:noFill/>
          <a:ln/>
        </p:spPr>
        <p:txBody>
          <a:bodyPr wrap="square" lIns="0" tIns="0" rIns="0" bIns="0" rtlCol="0" anchor="t"/>
          <a:lstStyle/>
          <a:p>
            <a:pPr marL="0" indent="0">
              <a:buNone/>
            </a:pPr>
            <a:r>
              <a:rPr lang="en-US" sz="1350" b="1" dirty="0">
                <a:solidFill>
                  <a:srgbClr val="1B2A3A"/>
                </a:solidFill>
                <a:latin typeface="맑은 고딕" pitchFamily="34" charset="0"/>
                <a:ea typeface="맑은 고딕" pitchFamily="34" charset="-122"/>
                <a:cs typeface="맑은 고딕" pitchFamily="34" charset="-120"/>
              </a:rPr>
              <a:t>성과와 로드맵</a:t>
            </a:r>
            <a:endParaRPr lang="en-US" sz="1350" dirty="0"/>
          </a:p>
        </p:txBody>
      </p:sp>
      <p:sp>
        <p:nvSpPr>
          <p:cNvPr id="43" name="Text 33"/>
          <p:cNvSpPr txBox="1"/>
          <p:nvPr/>
        </p:nvSpPr>
        <p:spPr>
          <a:xfrm>
            <a:off x="6949440" y="4206240"/>
            <a:ext cx="1371600" cy="228600"/>
          </a:xfrm>
          <a:prstGeom prst="rect">
            <a:avLst/>
          </a:prstGeom>
          <a:noFill/>
          <a:ln/>
        </p:spPr>
        <p:txBody>
          <a:bodyPr wrap="square" lIns="0" tIns="0" rIns="0" bIns="0" rtlCol="0" anchor="t"/>
          <a:lstStyle/>
          <a:p>
            <a:pPr marL="0" indent="0">
              <a:buNone/>
            </a:pPr>
            <a:r>
              <a:rPr lang="en-US" sz="950" dirty="0">
                <a:solidFill>
                  <a:srgbClr val="64748B"/>
                </a:solidFill>
                <a:latin typeface="맑은 고딕" pitchFamily="34" charset="0"/>
                <a:ea typeface="맑은 고딕" pitchFamily="34" charset="-122"/>
                <a:cs typeface="맑은 고딕" pitchFamily="34" charset="-120"/>
              </a:rPr>
              <a:t>p.22–23  </a:t>
            </a:r>
            <a:endParaRPr lang="en-US" sz="950" dirty="0"/>
          </a:p>
        </p:txBody>
      </p:sp>
      <p:sp>
        <p:nvSpPr>
          <p:cNvPr id="44" name="Text 34"/>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2</a:t>
            </a:r>
            <a:endParaRPr lang="en-US" sz="850" dirty="0"/>
          </a:p>
        </p:txBody>
      </p:sp>
    </p:spTree>
    <p:extLst>
      <p:ext uri="{BB962C8B-B14F-4D97-AF65-F5344CB8AC3E}">
        <p14:creationId xmlns:p14="http://schemas.microsoft.com/office/powerpoint/2010/main" val="2916656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52400"/>
            <a:ext cx="4572000" cy="177800"/>
          </a:xfrm>
          <a:prstGeom prst="rect">
            <a:avLst/>
          </a:prstGeom>
          <a:noFill/>
          <a:ln/>
        </p:spPr>
        <p:txBody>
          <a:bodyPr wrap="square" lIns="0" tIns="0" rIns="0" bIns="0" rtlCol="0" anchor="t"/>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01  문제 정의</a:t>
            </a:r>
            <a:endParaRPr lang="en-US" sz="900" dirty="0"/>
          </a:p>
        </p:txBody>
      </p:sp>
      <p:sp>
        <p:nvSpPr>
          <p:cNvPr id="4" name="Text 2"/>
          <p:cNvSpPr txBox="1"/>
          <p:nvPr/>
        </p:nvSpPr>
        <p:spPr>
          <a:xfrm>
            <a:off x="457200" y="330200"/>
            <a:ext cx="8229600" cy="355600"/>
          </a:xfrm>
          <a:prstGeom prst="rect">
            <a:avLst/>
          </a:prstGeom>
          <a:noFill/>
          <a:ln/>
        </p:spPr>
        <p:txBody>
          <a:bodyPr wrap="square" lIns="0" tIns="0" rIns="0" bIns="0" rtlCol="0" anchor="ctr"/>
          <a:lstStyle/>
          <a:p>
            <a:pPr marL="0" indent="0">
              <a:buNone/>
            </a:pPr>
            <a:r>
              <a:rPr lang="ko-KR" altLang="en-US" sz="2000" b="1" dirty="0">
                <a:solidFill>
                  <a:srgbClr val="1B2A3A"/>
                </a:solidFill>
                <a:latin typeface="맑은 고딕" pitchFamily="34" charset="0"/>
                <a:ea typeface="맑은 고딕" pitchFamily="34" charset="-122"/>
                <a:cs typeface="맑은 고딕" pitchFamily="34" charset="-120"/>
              </a:rPr>
              <a:t>대 </a:t>
            </a:r>
            <a:r>
              <a:rPr lang="en-US" altLang="ko-KR" sz="2000" b="1" dirty="0">
                <a:solidFill>
                  <a:srgbClr val="1B2A3A"/>
                </a:solidFill>
                <a:latin typeface="맑은 고딕" pitchFamily="34" charset="0"/>
                <a:ea typeface="맑은 고딕" pitchFamily="34" charset="-122"/>
                <a:cs typeface="맑은 고딕" pitchFamily="34" charset="-120"/>
              </a:rPr>
              <a:t>AI </a:t>
            </a:r>
            <a:r>
              <a:rPr lang="ko-KR" altLang="en-US" sz="2000" b="1" dirty="0">
                <a:solidFill>
                  <a:srgbClr val="1B2A3A"/>
                </a:solidFill>
                <a:latin typeface="맑은 고딕" pitchFamily="34" charset="0"/>
                <a:ea typeface="맑은 고딕" pitchFamily="34" charset="-122"/>
                <a:cs typeface="맑은 고딕" pitchFamily="34" charset="-120"/>
              </a:rPr>
              <a:t>시대</a:t>
            </a:r>
            <a:endParaRPr lang="en-US" sz="2000" dirty="0"/>
          </a:p>
        </p:txBody>
      </p:sp>
      <p:sp>
        <p:nvSpPr>
          <p:cNvPr id="6" name="Text 4"/>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3</a:t>
            </a:r>
            <a:endParaRPr lang="en-US" sz="850" dirty="0"/>
          </a:p>
        </p:txBody>
      </p:sp>
      <p:pic>
        <p:nvPicPr>
          <p:cNvPr id="7" name="그림 6" descr="viewer Image">
            <a:extLst>
              <a:ext uri="{FF2B5EF4-FFF2-40B4-BE49-F238E27FC236}">
                <a16:creationId xmlns:a16="http://schemas.microsoft.com/office/drawing/2014/main" id="{F2BEB317-E99F-2666-4CBF-50A8105F1962}"/>
              </a:ext>
            </a:extLst>
          </p:cNvPr>
          <p:cNvPicPr>
            <a:picLocks noChangeAspect="1"/>
          </p:cNvPicPr>
          <p:nvPr/>
        </p:nvPicPr>
        <p:blipFill>
          <a:blip r:embed="rId3"/>
          <a:stretch>
            <a:fillRect/>
          </a:stretch>
        </p:blipFill>
        <p:spPr>
          <a:xfrm>
            <a:off x="5600699" y="600074"/>
            <a:ext cx="3086101" cy="3857626"/>
          </a:xfrm>
          <a:prstGeom prst="rect">
            <a:avLst/>
          </a:prstGeom>
        </p:spPr>
      </p:pic>
      <p:sp>
        <p:nvSpPr>
          <p:cNvPr id="200" name="BG 201"/>
          <p:cNvSpPr/>
          <p:nvPr/>
        </p:nvSpPr>
        <p:spPr>
          <a:xfrm>
            <a:off x="457200" y="1092200"/>
            <a:ext cx="2387600" cy="1270000"/>
          </a:xfrm>
          <a:prstGeom prst="roundRect">
            <a:avLst>
              <a:gd name="adj" fmla="val 5000"/>
            </a:avLst>
          </a:prstGeom>
          <a:solidFill>
            <a:srgbClr val="F1F5F9"/>
          </a:solidFill>
          <a:ln>
            <a:noFill/>
          </a:ln>
        </p:spPr>
        <p:txBody>
          <a:bodyPr wrap="square" lIns="177800" tIns="152400" rIns="177800" bIns="152400" anchor="ctr">
            <a:noAutofit/>
          </a:bodyPr>
          <a:lstStyle/>
          <a:p>
            <a:pPr marL="0" indent="0">
              <a:spcAft>
                <a:spcPts val="200"/>
              </a:spcAft>
              <a:buNone/>
            </a:pPr>
            <a:r>
              <a:rPr lang="ko-KR" sz="3000" b="1" dirty="0">
                <a:solidFill>
                  <a:srgbClr val="41659E"/>
                </a:solidFill>
                <a:latin typeface="맑은 고딕" pitchFamily="34" charset="0"/>
                <a:ea typeface="맑은 고딕" pitchFamily="34" charset="-122"/>
                <a:cs typeface="맑은 고딕" pitchFamily="34" charset="-120"/>
              </a:rPr>
              <a:t>2위</a:t>
            </a:r>
          </a:p>
          <a:p>
            <a:pPr marL="0" indent="0">
              <a:spcAft>
                <a:spcPts val="100"/>
              </a:spcAft>
              <a:buNone/>
            </a:pPr>
            <a:r>
              <a:rPr lang="ko-KR" sz="1200" b="1" dirty="0">
                <a:solidFill>
                  <a:srgbClr val="1B2A3A"/>
                </a:solidFill>
                <a:latin typeface="맑은 고딕" pitchFamily="34" charset="0"/>
                <a:ea typeface="맑은 고딕" pitchFamily="34" charset="-122"/>
                <a:cs typeface="맑은 고딕" pitchFamily="34" charset="-120"/>
              </a:rPr>
              <a:t>챗GPT 유료 가입자 수</a:t>
            </a:r>
          </a:p>
          <a:p>
            <a:pPr marL="0" indent="0">
              <a:buNone/>
            </a:pPr>
            <a:r>
              <a:rPr lang="ko-KR" sz="1100" dirty="0">
                <a:solidFill>
                  <a:srgbClr val="475569"/>
                </a:solidFill>
                <a:latin typeface="맑은 고딕" pitchFamily="34" charset="0"/>
                <a:ea typeface="맑은 고딕" pitchFamily="34" charset="-122"/>
                <a:cs typeface="맑은 고딕" pitchFamily="34" charset="-120"/>
              </a:rPr>
              <a:t>플러스·프로 기준, 미국 다음</a:t>
            </a:r>
          </a:p>
        </p:txBody>
      </p:sp>
      <p:sp>
        <p:nvSpPr>
          <p:cNvPr id="201" name="BG 202"/>
          <p:cNvSpPr/>
          <p:nvPr/>
        </p:nvSpPr>
        <p:spPr>
          <a:xfrm>
            <a:off x="2971800" y="1092200"/>
            <a:ext cx="2387600" cy="1270000"/>
          </a:xfrm>
          <a:prstGeom prst="roundRect">
            <a:avLst>
              <a:gd name="adj" fmla="val 5000"/>
            </a:avLst>
          </a:prstGeom>
          <a:solidFill>
            <a:srgbClr val="F1F5F9"/>
          </a:solidFill>
          <a:ln>
            <a:noFill/>
          </a:ln>
        </p:spPr>
        <p:txBody>
          <a:bodyPr wrap="square" lIns="177800" tIns="152400" rIns="177800" bIns="152400" anchor="ctr">
            <a:noAutofit/>
          </a:bodyPr>
          <a:lstStyle/>
          <a:p>
            <a:pPr marL="0" indent="0">
              <a:spcAft>
                <a:spcPts val="200"/>
              </a:spcAft>
              <a:buNone/>
            </a:pPr>
            <a:r>
              <a:rPr lang="ko-KR" sz="3000" b="1" dirty="0">
                <a:solidFill>
                  <a:srgbClr val="41659E"/>
                </a:solidFill>
                <a:latin typeface="맑은 고딕" pitchFamily="34" charset="0"/>
                <a:ea typeface="맑은 고딕" pitchFamily="34" charset="-122"/>
                <a:cs typeface="맑은 고딕" pitchFamily="34" charset="-120"/>
              </a:rPr>
              <a:t>$2억</a:t>
            </a:r>
          </a:p>
          <a:p>
            <a:pPr marL="0" indent="0">
              <a:spcAft>
                <a:spcPts val="100"/>
              </a:spcAft>
              <a:buNone/>
            </a:pPr>
            <a:r>
              <a:rPr lang="ko-KR" sz="1200" b="1" dirty="0">
                <a:solidFill>
                  <a:srgbClr val="1B2A3A"/>
                </a:solidFill>
                <a:latin typeface="맑은 고딕" pitchFamily="34" charset="0"/>
                <a:ea typeface="맑은 고딕" pitchFamily="34" charset="-122"/>
                <a:cs typeface="맑은 고딕" pitchFamily="34" charset="-120"/>
              </a:rPr>
              <a:t>챗GPT 앱 누적 매출</a:t>
            </a:r>
          </a:p>
          <a:p>
            <a:pPr marL="0" indent="0">
              <a:buNone/>
            </a:pPr>
            <a:r>
              <a:rPr lang="ko-KR" sz="1100" dirty="0">
                <a:solidFill>
                  <a:srgbClr val="475569"/>
                </a:solidFill>
                <a:latin typeface="맑은 고딕" pitchFamily="34" charset="0"/>
                <a:ea typeface="맑은 고딕" pitchFamily="34" charset="-122"/>
                <a:cs typeface="맑은 고딕" pitchFamily="34" charset="-120"/>
              </a:rPr>
              <a:t>전 세계 $35억 중 5.4%</a:t>
            </a:r>
          </a:p>
        </p:txBody>
      </p:sp>
      <p:sp>
        <p:nvSpPr>
          <p:cNvPr id="202" name="BG 203"/>
          <p:cNvSpPr/>
          <p:nvPr/>
        </p:nvSpPr>
        <p:spPr>
          <a:xfrm>
            <a:off x="457200" y="2489200"/>
            <a:ext cx="4902200" cy="914400"/>
          </a:xfrm>
          <a:prstGeom prst="roundRect">
            <a:avLst>
              <a:gd name="adj" fmla="val 5000"/>
            </a:avLst>
          </a:prstGeom>
          <a:solidFill>
            <a:srgbClr val="F1F5F9"/>
          </a:solidFill>
          <a:ln>
            <a:noFill/>
          </a:ln>
        </p:spPr>
        <p:txBody>
          <a:bodyPr wrap="square" lIns="177800" tIns="152400" rIns="177800" bIns="152400" anchor="ctr">
            <a:noAutofit/>
          </a:bodyPr>
          <a:lstStyle/>
          <a:p>
            <a:pPr marL="0" indent="0">
              <a:spcAft>
                <a:spcPts val="300"/>
              </a:spcAft>
              <a:buNone/>
            </a:pPr>
            <a:r>
              <a:rPr lang="ko-KR" sz="1100" b="1" dirty="0">
                <a:solidFill>
                  <a:srgbClr val="1B2A3A"/>
                </a:solidFill>
                <a:latin typeface="맑은 고딕" pitchFamily="34" charset="0"/>
                <a:ea typeface="맑은 고딕" pitchFamily="34" charset="-122"/>
                <a:cs typeface="맑은 고딕" pitchFamily="34" charset="-120"/>
              </a:rPr>
              <a:t>다운로드당 매출(RPD)</a:t>
            </a:r>
          </a:p>
          <a:p>
            <a:pPr marL="0" indent="0">
              <a:buNone/>
            </a:pPr>
            <a:r>
              <a:rPr lang="ko-KR" sz="2000" b="1" dirty="0">
                <a:solidFill>
                  <a:srgbClr val="41659E"/>
                </a:solidFill>
                <a:latin typeface="맑은 고딕" pitchFamily="34" charset="0"/>
                <a:ea typeface="맑은 고딕" pitchFamily="34" charset="-122"/>
                <a:cs typeface="맑은 고딕" pitchFamily="34" charset="-120"/>
              </a:rPr>
              <a:t>한국 $8.7</a:t>
            </a:r>
            <a:r>
              <a:rPr lang="ko-KR" sz="1400" dirty="0">
                <a:solidFill>
                  <a:srgbClr val="64748B"/>
                </a:solidFill>
                <a:latin typeface="맑은 고딕" pitchFamily="34" charset="0"/>
                <a:ea typeface="맑은 고딕" pitchFamily="34" charset="-122"/>
                <a:cs typeface="맑은 고딕" pitchFamily="34" charset="-120"/>
              </a:rPr>
              <a:t>   vs   </a:t>
            </a:r>
            <a:r>
              <a:rPr lang="ko-KR" sz="2000" b="1" dirty="0">
                <a:solidFill>
                  <a:srgbClr val="1B2A3A"/>
                </a:solidFill>
                <a:latin typeface="맑은 고딕" pitchFamily="34" charset="0"/>
                <a:ea typeface="맑은 고딕" pitchFamily="34" charset="-122"/>
                <a:cs typeface="맑은 고딕" pitchFamily="34" charset="-120"/>
              </a:rPr>
              <a:t>미국 $8.8</a:t>
            </a:r>
            <a:r>
              <a:rPr lang="ko-KR" sz="1100" dirty="0">
                <a:solidFill>
                  <a:srgbClr val="475569"/>
                </a:solidFill>
                <a:latin typeface="맑은 고딕" pitchFamily="34" charset="0"/>
                <a:ea typeface="맑은 고딕" pitchFamily="34" charset="-122"/>
                <a:cs typeface="맑은 고딕" pitchFamily="34" charset="-120"/>
              </a:rPr>
              <a:t>   1위와 사실상 같은 수준</a:t>
            </a:r>
          </a:p>
        </p:txBody>
      </p:sp>
      <p:sp>
        <p:nvSpPr>
          <p:cNvPr id="203" name="BG 204"/>
          <p:cNvSpPr txBox="1"/>
          <p:nvPr/>
        </p:nvSpPr>
        <p:spPr>
          <a:xfrm>
            <a:off x="457200" y="3581400"/>
            <a:ext cx="4902200" cy="889000"/>
          </a:xfrm>
          <a:prstGeom prst="rect">
            <a:avLst/>
          </a:prstGeom>
          <a:noFill/>
          <a:ln>
            <a:noFill/>
          </a:ln>
        </p:spPr>
        <p:txBody>
          <a:bodyPr wrap="square" lIns="0" tIns="-25400" rIns="0" bIns="-25400" anchor="t">
            <a:noAutofit/>
          </a:bodyPr>
          <a:lstStyle/>
          <a:p>
            <a:pPr marL="177800" indent="-177800">
              <a:spcAft>
                <a:spcPts val="500"/>
              </a:spcAft>
              <a:buFont typeface="Arial"/>
              <a:buChar char="•"/>
            </a:pPr>
            <a:r>
              <a:rPr lang="ko-KR" sz="1200" dirty="0">
                <a:solidFill>
                  <a:srgbClr val="1B2A3A"/>
                </a:solidFill>
                <a:latin typeface="맑은 고딕" pitchFamily="34" charset="0"/>
                <a:ea typeface="맑은 고딕" pitchFamily="34" charset="-122"/>
                <a:cs typeface="맑은 고딕" pitchFamily="34" charset="-120"/>
              </a:rPr>
              <a:t>전 세계 유료 이용자 </a:t>
            </a:r>
            <a:r>
              <a:rPr lang="ko-KR" sz="1200" b="1" dirty="0">
                <a:solidFill>
                  <a:srgbClr val="1B2A3A"/>
                </a:solidFill>
                <a:latin typeface="맑은 고딕" pitchFamily="34" charset="0"/>
                <a:ea typeface="맑은 고딕" pitchFamily="34" charset="-122"/>
                <a:cs typeface="맑은 고딕" pitchFamily="34" charset="-120"/>
              </a:rPr>
              <a:t>약 3,500만 명</a:t>
            </a:r>
            <a:r>
              <a:rPr lang="ko-KR" sz="1200" dirty="0">
                <a:solidFill>
                  <a:srgbClr val="1B2A3A"/>
                </a:solidFill>
                <a:latin typeface="맑은 고딕" pitchFamily="34" charset="0"/>
                <a:ea typeface="맑은 고딕" pitchFamily="34" charset="-122"/>
                <a:cs typeface="맑은 고딕" pitchFamily="34" charset="-120"/>
              </a:rPr>
              <a:t>, 전체 사용자의 5% 안팎 (2025.7)</a:t>
            </a:r>
          </a:p>
          <a:p>
            <a:pPr marL="177800" indent="-177800">
              <a:spcAft>
                <a:spcPts val="500"/>
              </a:spcAft>
              <a:buFont typeface="Arial"/>
              <a:buChar char="•"/>
            </a:pPr>
            <a:r>
              <a:rPr lang="ko-KR" sz="1200" dirty="0">
                <a:solidFill>
                  <a:srgbClr val="1B2A3A"/>
                </a:solidFill>
                <a:latin typeface="맑은 고딕" pitchFamily="34" charset="0"/>
                <a:ea typeface="맑은 고딕" pitchFamily="34" charset="-122"/>
                <a:cs typeface="맑은 고딕" pitchFamily="34" charset="-120"/>
              </a:rPr>
              <a:t>다운로드 비중은 21위지만 </a:t>
            </a:r>
            <a:r>
              <a:rPr lang="ko-KR" sz="1200" b="1" dirty="0">
                <a:solidFill>
                  <a:srgbClr val="1B2A3A"/>
                </a:solidFill>
                <a:latin typeface="맑은 고딕" pitchFamily="34" charset="0"/>
                <a:ea typeface="맑은 고딕" pitchFamily="34" charset="-122"/>
                <a:cs typeface="맑은 고딕" pitchFamily="34" charset="-120"/>
              </a:rPr>
              <a:t>구독자 수와 매출은 모두 세계 2위</a:t>
            </a:r>
          </a:p>
        </p:txBody>
      </p:sp>
      <p:sp>
        <p:nvSpPr>
          <p:cNvPr id="204" name="BG 205"/>
          <p:cNvSpPr txBox="1"/>
          <p:nvPr/>
        </p:nvSpPr>
        <p:spPr>
          <a:xfrm>
            <a:off x="457200" y="4597400"/>
            <a:ext cx="5080000" cy="177800"/>
          </a:xfrm>
          <a:prstGeom prst="rect">
            <a:avLst/>
          </a:prstGeom>
          <a:noFill/>
          <a:ln>
            <a:noFill/>
          </a:ln>
        </p:spPr>
        <p:txBody>
          <a:bodyPr wrap="square" lIns="0" tIns="-25400" rIns="0" bIns="-25400" anchor="t">
            <a:noAutofit/>
          </a:bodyPr>
          <a:lstStyle/>
          <a:p>
            <a:pPr marL="0" indent="0">
              <a:buNone/>
            </a:pPr>
            <a:r>
              <a:rPr lang="ko-KR" sz="800" dirty="0">
                <a:solidFill>
                  <a:srgbClr val="64748B"/>
                </a:solidFill>
                <a:latin typeface="맑은 고딕" pitchFamily="34" charset="0"/>
                <a:ea typeface="맑은 고딕" pitchFamily="34" charset="-122"/>
                <a:cs typeface="맑은 고딕" pitchFamily="34" charset="-120"/>
              </a:rPr>
              <a:t>출처: MS투데이(2025.11), 오픈AI 발표 및 센서타워 자료 인용</a:t>
            </a:r>
          </a:p>
        </p:txBody>
      </p:sp>
    </p:spTree>
    <p:extLst>
      <p:ext uri="{BB962C8B-B14F-4D97-AF65-F5344CB8AC3E}">
        <p14:creationId xmlns:p14="http://schemas.microsoft.com/office/powerpoint/2010/main" val="1270288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7" name="그림 6" descr="Google Play의 Banksalad 개발자 Android 앱">
            <a:extLst>
              <a:ext uri="{FF2B5EF4-FFF2-40B4-BE49-F238E27FC236}">
                <a16:creationId xmlns:a16="http://schemas.microsoft.com/office/drawing/2014/main" id="{1F31670C-14EB-95AF-BEC0-5E66D104AA07}"/>
              </a:ext>
            </a:extLst>
          </p:cNvPr>
          <p:cNvPicPr>
            <a:picLocks noChangeAspect="1"/>
          </p:cNvPicPr>
          <p:nvPr/>
        </p:nvPicPr>
        <p:blipFill>
          <a:blip r:embed="rId3"/>
          <a:stretch>
            <a:fillRect/>
          </a:stretch>
        </p:blipFill>
        <p:spPr>
          <a:xfrm>
            <a:off x="6323797" y="4238973"/>
            <a:ext cx="716162" cy="716162"/>
          </a:xfrm>
          <a:prstGeom prst="rect">
            <a:avLst/>
          </a:prstGeom>
        </p:spPr>
      </p:pic>
      <p:sp>
        <p:nvSpPr>
          <p:cNvPr id="2" name="Text 0"/>
          <p:cNvSpPr txBox="1"/>
          <p:nvPr/>
        </p:nvSpPr>
        <p:spPr>
          <a:xfrm>
            <a:off x="457200" y="152400"/>
            <a:ext cx="4572000" cy="177800"/>
          </a:xfrm>
          <a:prstGeom prst="rect">
            <a:avLst/>
          </a:prstGeom>
          <a:noFill/>
          <a:ln/>
        </p:spPr>
        <p:txBody>
          <a:bodyPr wrap="square" lIns="0" tIns="0" rIns="0" bIns="0" rtlCol="0" anchor="t"/>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01  문제 정의</a:t>
            </a:r>
            <a:endParaRPr lang="en-US" sz="900" dirty="0"/>
          </a:p>
        </p:txBody>
      </p:sp>
      <p:sp>
        <p:nvSpPr>
          <p:cNvPr id="6" name="Text 4"/>
          <p:cNvSpPr txBox="1"/>
          <p:nvPr/>
        </p:nvSpPr>
        <p:spPr>
          <a:xfrm>
            <a:off x="457200" y="330200"/>
            <a:ext cx="8229600" cy="355600"/>
          </a:xfrm>
          <a:prstGeom prst="rect">
            <a:avLst/>
          </a:prstGeom>
          <a:noFill/>
          <a:ln/>
        </p:spPr>
        <p:txBody>
          <a:bodyPr wrap="square" lIns="0" tIns="0" rIns="0" bIns="0" rtlCol="0" anchor="ctr"/>
          <a:lstStyle/>
          <a:p>
            <a:pPr marL="0" indent="0">
              <a:buNone/>
            </a:pPr>
            <a:r>
              <a:rPr lang="ko-KR" altLang="en-US" sz="2000" b="1" dirty="0">
                <a:solidFill>
                  <a:srgbClr val="1B2A3A"/>
                </a:solidFill>
                <a:latin typeface="맑은 고딕" pitchFamily="34" charset="0"/>
                <a:ea typeface="맑은 고딕" pitchFamily="34" charset="-122"/>
              </a:rPr>
              <a:t>시장조사</a:t>
            </a:r>
            <a:endParaRPr lang="en-US" sz="2000" dirty="0"/>
          </a:p>
        </p:txBody>
      </p:sp>
      <p:sp>
        <p:nvSpPr>
          <p:cNvPr id="8" name="Text 6"/>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4</a:t>
            </a:r>
            <a:endParaRPr lang="en-US" sz="850" dirty="0"/>
          </a:p>
        </p:txBody>
      </p:sp>
      <p:pic>
        <p:nvPicPr>
          <p:cNvPr id="58" name="그림 57" descr="하나금융그룹-CI&amp;하나서체 | 하나금융그룹">
            <a:extLst>
              <a:ext uri="{FF2B5EF4-FFF2-40B4-BE49-F238E27FC236}">
                <a16:creationId xmlns:a16="http://schemas.microsoft.com/office/drawing/2014/main" id="{0461062E-1552-FEBB-483E-5C8B5720A9F1}"/>
              </a:ext>
            </a:extLst>
          </p:cNvPr>
          <p:cNvPicPr>
            <a:picLocks noChangeAspect="1"/>
          </p:cNvPicPr>
          <p:nvPr/>
        </p:nvPicPr>
        <p:blipFill>
          <a:blip r:embed="rId4"/>
          <a:stretch>
            <a:fillRect/>
          </a:stretch>
        </p:blipFill>
        <p:spPr>
          <a:xfrm>
            <a:off x="2171047" y="4419254"/>
            <a:ext cx="649158" cy="615581"/>
          </a:xfrm>
          <a:prstGeom prst="rect">
            <a:avLst/>
          </a:prstGeom>
        </p:spPr>
      </p:pic>
      <p:pic>
        <p:nvPicPr>
          <p:cNvPr id="60" name="그림 59">
            <a:extLst>
              <a:ext uri="{FF2B5EF4-FFF2-40B4-BE49-F238E27FC236}">
                <a16:creationId xmlns:a16="http://schemas.microsoft.com/office/drawing/2014/main" id="{0512C738-D3A4-2B44-C93B-FE71AA3D5A00}"/>
              </a:ext>
            </a:extLst>
          </p:cNvPr>
          <p:cNvPicPr>
            <a:picLocks noChangeAspect="1"/>
          </p:cNvPicPr>
          <p:nvPr/>
        </p:nvPicPr>
        <p:blipFill>
          <a:blip r:embed="rId5"/>
          <a:stretch>
            <a:fillRect/>
          </a:stretch>
        </p:blipFill>
        <p:spPr>
          <a:xfrm>
            <a:off x="1283543" y="281535"/>
            <a:ext cx="2530232" cy="4495800"/>
          </a:xfrm>
          <a:prstGeom prst="rect">
            <a:avLst/>
          </a:prstGeom>
        </p:spPr>
      </p:pic>
      <p:pic>
        <p:nvPicPr>
          <p:cNvPr id="62" name="그림 61">
            <a:extLst>
              <a:ext uri="{FF2B5EF4-FFF2-40B4-BE49-F238E27FC236}">
                <a16:creationId xmlns:a16="http://schemas.microsoft.com/office/drawing/2014/main" id="{87BDA2F9-2C38-C1A5-04EF-B287901DFDAE}"/>
              </a:ext>
            </a:extLst>
          </p:cNvPr>
          <p:cNvPicPr>
            <a:picLocks noChangeAspect="1"/>
          </p:cNvPicPr>
          <p:nvPr/>
        </p:nvPicPr>
        <p:blipFill>
          <a:blip r:embed="rId6"/>
          <a:stretch>
            <a:fillRect/>
          </a:stretch>
        </p:blipFill>
        <p:spPr>
          <a:xfrm>
            <a:off x="5416762" y="281535"/>
            <a:ext cx="2530232" cy="4495800"/>
          </a:xfrm>
          <a:prstGeom prst="rect">
            <a:avLst/>
          </a:prstGeom>
        </p:spPr>
      </p:pic>
    </p:spTree>
    <p:extLst>
      <p:ext uri="{BB962C8B-B14F-4D97-AF65-F5344CB8AC3E}">
        <p14:creationId xmlns:p14="http://schemas.microsoft.com/office/powerpoint/2010/main" val="35954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52400"/>
            <a:ext cx="4572000" cy="177800"/>
          </a:xfrm>
          <a:prstGeom prst="rect">
            <a:avLst/>
          </a:prstGeom>
          <a:noFill/>
          <a:ln/>
        </p:spPr>
        <p:txBody>
          <a:bodyPr wrap="square" lIns="0" tIns="0" rIns="0" bIns="0" rtlCol="0" anchor="t"/>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01  문제 정의</a:t>
            </a:r>
            <a:endParaRPr lang="en-US" sz="900" dirty="0"/>
          </a:p>
        </p:txBody>
      </p:sp>
      <p:sp>
        <p:nvSpPr>
          <p:cNvPr id="4" name="Text 2"/>
          <p:cNvSpPr txBox="1"/>
          <p:nvPr/>
        </p:nvSpPr>
        <p:spPr>
          <a:xfrm>
            <a:off x="457200" y="330200"/>
            <a:ext cx="8229600" cy="355600"/>
          </a:xfrm>
          <a:prstGeom prst="rect">
            <a:avLst/>
          </a:prstGeom>
          <a:noFill/>
          <a:ln/>
        </p:spPr>
        <p:txBody>
          <a:bodyPr wrap="square" lIns="0" tIns="0" rIns="0" bIns="0" rtlCol="0" anchor="ctr"/>
          <a:lstStyle/>
          <a:p>
            <a:pPr marL="0" indent="0">
              <a:buNone/>
            </a:pPr>
            <a:r>
              <a:rPr lang="en-US" sz="2000" b="1" dirty="0">
                <a:solidFill>
                  <a:srgbClr val="1B2A3A"/>
                </a:solidFill>
                <a:latin typeface="맑은 고딕" pitchFamily="34" charset="0"/>
                <a:ea typeface="맑은 고딕" pitchFamily="34" charset="-122"/>
                <a:cs typeface="맑은 고딕" pitchFamily="34" charset="-120"/>
              </a:rPr>
              <a:t>서비스 정의</a:t>
            </a:r>
            <a:endParaRPr lang="en-US" sz="2000" dirty="0"/>
          </a:p>
        </p:txBody>
      </p:sp>
      <p:sp>
        <p:nvSpPr>
          <p:cNvPr id="6" name="Text 4"/>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5</a:t>
            </a:r>
            <a:endParaRPr lang="en-US" sz="850" dirty="0"/>
          </a:p>
        </p:txBody>
      </p:sp>
      <p:sp>
        <p:nvSpPr>
          <p:cNvPr id="8" name="Shape 5"/>
          <p:cNvSpPr/>
          <p:nvPr/>
        </p:nvSpPr>
        <p:spPr>
          <a:xfrm>
            <a:off x="457200" y="1428750"/>
            <a:ext cx="1828800" cy="1874520"/>
          </a:xfrm>
          <a:prstGeom prst="roundRect">
            <a:avLst>
              <a:gd name="adj" fmla="val 4000"/>
            </a:avLst>
          </a:prstGeom>
          <a:solidFill>
            <a:srgbClr val="F1F5F9"/>
          </a:solidFill>
          <a:ln w="12700">
            <a:solidFill>
              <a:srgbClr val="F1F5F9"/>
            </a:solidFill>
            <a:prstDash val="solid"/>
          </a:ln>
        </p:spPr>
        <p:txBody>
          <a:bodyPr/>
          <a:lstStyle/>
          <a:p>
            <a:endParaRPr lang="ko-KR" altLang="en-US"/>
          </a:p>
        </p:txBody>
      </p:sp>
      <p:pic>
        <p:nvPicPr>
          <p:cNvPr id="9" name="Image 0" descr="preencoded.png"/>
          <p:cNvPicPr>
            <a:picLocks noChangeAspect="1"/>
          </p:cNvPicPr>
          <p:nvPr/>
        </p:nvPicPr>
        <p:blipFill>
          <a:blip r:embed="rId3"/>
          <a:stretch>
            <a:fillRect/>
          </a:stretch>
        </p:blipFill>
        <p:spPr>
          <a:xfrm>
            <a:off x="1115568" y="1565909"/>
            <a:ext cx="512064" cy="512064"/>
          </a:xfrm>
          <a:prstGeom prst="rect">
            <a:avLst/>
          </a:prstGeom>
        </p:spPr>
      </p:pic>
      <p:sp>
        <p:nvSpPr>
          <p:cNvPr id="10" name="Text 6"/>
          <p:cNvSpPr txBox="1"/>
          <p:nvPr/>
        </p:nvSpPr>
        <p:spPr>
          <a:xfrm>
            <a:off x="548640" y="2160270"/>
            <a:ext cx="1645920" cy="228600"/>
          </a:xfrm>
          <a:prstGeom prst="rect">
            <a:avLst/>
          </a:prstGeom>
          <a:noFill/>
          <a:ln/>
        </p:spPr>
        <p:txBody>
          <a:bodyPr wrap="square" lIns="0" tIns="0" rIns="0" bIns="0" rtlCol="0" anchor="t"/>
          <a:lstStyle/>
          <a:p>
            <a:pPr marL="0" indent="0" algn="ctr">
              <a:buNone/>
            </a:pPr>
            <a:r>
              <a:rPr lang="en-US" sz="950" b="1" dirty="0">
                <a:solidFill>
                  <a:srgbClr val="41659E"/>
                </a:solidFill>
                <a:latin typeface="맑은 고딕" pitchFamily="34" charset="0"/>
                <a:ea typeface="맑은 고딕" pitchFamily="34" charset="-122"/>
                <a:cs typeface="맑은 고딕" pitchFamily="34" charset="-120"/>
              </a:rPr>
              <a:t>1차</a:t>
            </a:r>
            <a:endParaRPr lang="en-US" sz="950" dirty="0"/>
          </a:p>
        </p:txBody>
      </p:sp>
      <p:sp>
        <p:nvSpPr>
          <p:cNvPr id="11" name="Text 7"/>
          <p:cNvSpPr txBox="1"/>
          <p:nvPr/>
        </p:nvSpPr>
        <p:spPr>
          <a:xfrm>
            <a:off x="548640" y="2416302"/>
            <a:ext cx="1645920" cy="320040"/>
          </a:xfrm>
          <a:prstGeom prst="rect">
            <a:avLst/>
          </a:prstGeom>
          <a:noFill/>
          <a:ln/>
        </p:spPr>
        <p:txBody>
          <a:bodyPr wrap="square" lIns="0" tIns="0" rIns="0" bIns="0" rtlCol="0" anchor="ctr"/>
          <a:lstStyle/>
          <a:p>
            <a:pPr marL="0" indent="0" algn="ctr">
              <a:buNone/>
            </a:pPr>
            <a:r>
              <a:rPr lang="en-US" sz="1300" b="1" dirty="0">
                <a:solidFill>
                  <a:srgbClr val="2C3E50"/>
                </a:solidFill>
                <a:latin typeface="맑은 고딕" pitchFamily="34" charset="0"/>
                <a:ea typeface="맑은 고딕" pitchFamily="34" charset="-122"/>
                <a:cs typeface="맑은 고딕" pitchFamily="34" charset="-120"/>
              </a:rPr>
              <a:t>은행 · 금융사</a:t>
            </a:r>
            <a:endParaRPr lang="en-US" sz="1300" dirty="0"/>
          </a:p>
        </p:txBody>
      </p:sp>
      <p:sp>
        <p:nvSpPr>
          <p:cNvPr id="12" name="Text 8"/>
          <p:cNvSpPr txBox="1"/>
          <p:nvPr/>
        </p:nvSpPr>
        <p:spPr>
          <a:xfrm>
            <a:off x="548640" y="2754630"/>
            <a:ext cx="1645920" cy="411480"/>
          </a:xfrm>
          <a:prstGeom prst="rect">
            <a:avLst/>
          </a:prstGeom>
          <a:noFill/>
          <a:ln/>
        </p:spPr>
        <p:txBody>
          <a:bodyPr wrap="square" lIns="0" tIns="0" rIns="0" bIns="0" rtlCol="0" anchor="t"/>
          <a:lstStyle/>
          <a:p>
            <a:pPr marL="0" indent="0" algn="ctr">
              <a:buNone/>
            </a:pPr>
            <a:r>
              <a:rPr lang="en-US" sz="900" dirty="0">
                <a:solidFill>
                  <a:srgbClr val="64748B"/>
                </a:solidFill>
                <a:latin typeface="맑은 고딕" pitchFamily="34" charset="0"/>
                <a:ea typeface="맑은 고딕" pitchFamily="34" charset="-122"/>
                <a:cs typeface="맑은 고딕" pitchFamily="34" charset="-120"/>
              </a:rPr>
              <a:t>계좌 · 대출 원천 데이터</a:t>
            </a:r>
            <a:endParaRPr lang="en-US" sz="900" dirty="0"/>
          </a:p>
        </p:txBody>
      </p:sp>
      <p:sp>
        <p:nvSpPr>
          <p:cNvPr id="13" name="Shape 9"/>
          <p:cNvSpPr/>
          <p:nvPr/>
        </p:nvSpPr>
        <p:spPr>
          <a:xfrm>
            <a:off x="2322576" y="2251709"/>
            <a:ext cx="237744" cy="237744"/>
          </a:xfrm>
          <a:prstGeom prst="rightArrow">
            <a:avLst/>
          </a:prstGeom>
          <a:solidFill>
            <a:srgbClr val="94A3B8"/>
          </a:solidFill>
          <a:ln w="12700">
            <a:solidFill>
              <a:srgbClr val="94A3B8"/>
            </a:solidFill>
            <a:prstDash val="solid"/>
          </a:ln>
        </p:spPr>
        <p:txBody>
          <a:bodyPr/>
          <a:lstStyle/>
          <a:p>
            <a:endParaRPr lang="ko-KR" altLang="en-US"/>
          </a:p>
        </p:txBody>
      </p:sp>
      <p:sp>
        <p:nvSpPr>
          <p:cNvPr id="20" name="Shape 15"/>
          <p:cNvSpPr/>
          <p:nvPr/>
        </p:nvSpPr>
        <p:spPr>
          <a:xfrm>
            <a:off x="2588260" y="1428750"/>
            <a:ext cx="3958590" cy="1874520"/>
          </a:xfrm>
          <a:prstGeom prst="roundRect">
            <a:avLst>
              <a:gd name="adj" fmla="val 4000"/>
            </a:avLst>
          </a:prstGeom>
          <a:solidFill>
            <a:srgbClr val="41659E"/>
          </a:solidFill>
          <a:ln w="12700">
            <a:solidFill>
              <a:srgbClr val="41659E"/>
            </a:solidFill>
            <a:prstDash val="solid"/>
          </a:ln>
        </p:spPr>
        <p:txBody>
          <a:bodyPr/>
          <a:lstStyle/>
          <a:p>
            <a:endParaRPr lang="ko-KR" altLang="en-US"/>
          </a:p>
        </p:txBody>
      </p:sp>
      <p:pic>
        <p:nvPicPr>
          <p:cNvPr id="15" name="Image 1" descr="preencoded.png"/>
          <p:cNvPicPr>
            <a:picLocks noChangeAspect="1"/>
          </p:cNvPicPr>
          <p:nvPr/>
        </p:nvPicPr>
        <p:blipFill>
          <a:blip r:embed="rId4">
            <a:lum bright="100000"/>
          </a:blip>
          <a:stretch>
            <a:fillRect/>
          </a:stretch>
        </p:blipFill>
        <p:spPr>
          <a:xfrm>
            <a:off x="3954145" y="1565909"/>
            <a:ext cx="512064" cy="512064"/>
          </a:xfrm>
          <a:prstGeom prst="rect">
            <a:avLst/>
          </a:prstGeom>
        </p:spPr>
      </p:pic>
      <p:pic>
        <p:nvPicPr>
          <p:cNvPr id="21" name="Image 2" descr="preencoded.png"/>
          <p:cNvPicPr>
            <a:picLocks noChangeAspect="1"/>
          </p:cNvPicPr>
          <p:nvPr/>
        </p:nvPicPr>
        <p:blipFill>
          <a:blip r:embed="rId5"/>
          <a:stretch>
            <a:fillRect/>
          </a:stretch>
        </p:blipFill>
        <p:spPr>
          <a:xfrm>
            <a:off x="4669155" y="1565909"/>
            <a:ext cx="512064" cy="512064"/>
          </a:xfrm>
          <a:prstGeom prst="rect">
            <a:avLst/>
          </a:prstGeom>
        </p:spPr>
      </p:pic>
      <p:sp>
        <p:nvSpPr>
          <p:cNvPr id="22" name="Text 16"/>
          <p:cNvSpPr txBox="1"/>
          <p:nvPr/>
        </p:nvSpPr>
        <p:spPr>
          <a:xfrm>
            <a:off x="2740660" y="2160270"/>
            <a:ext cx="3653790" cy="228600"/>
          </a:xfrm>
          <a:prstGeom prst="rect">
            <a:avLst/>
          </a:prstGeom>
          <a:noFill/>
          <a:ln/>
        </p:spPr>
        <p:txBody>
          <a:bodyPr wrap="square" lIns="0" tIns="0" rIns="0" bIns="0" rtlCol="0" anchor="t"/>
          <a:lstStyle/>
          <a:p>
            <a:pPr marL="0" indent="0" algn="ctr">
              <a:buNone/>
            </a:pPr>
            <a:r>
              <a:rPr lang="en-US" sz="950" b="1" dirty="0">
                <a:solidFill>
                  <a:srgbClr val="DCE8F6"/>
                </a:solidFill>
                <a:latin typeface="맑은 고딕" pitchFamily="34" charset="0"/>
                <a:ea typeface="맑은 고딕" pitchFamily="34" charset="-122"/>
                <a:cs typeface="맑은 고딕" pitchFamily="34" charset="-120"/>
              </a:rPr>
              <a:t>2차 · 우리</a:t>
            </a:r>
            <a:endParaRPr lang="en-US" sz="950" dirty="0"/>
          </a:p>
        </p:txBody>
      </p:sp>
      <p:sp>
        <p:nvSpPr>
          <p:cNvPr id="23" name="Text 17"/>
          <p:cNvSpPr txBox="1"/>
          <p:nvPr/>
        </p:nvSpPr>
        <p:spPr>
          <a:xfrm>
            <a:off x="2740660" y="2416302"/>
            <a:ext cx="365379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금융 데이터 모음 · 조회 서비스</a:t>
            </a:r>
            <a:endParaRPr lang="en-US" sz="1300" dirty="0"/>
          </a:p>
        </p:txBody>
      </p:sp>
      <p:sp>
        <p:nvSpPr>
          <p:cNvPr id="24" name="Text 18"/>
          <p:cNvSpPr txBox="1"/>
          <p:nvPr/>
        </p:nvSpPr>
        <p:spPr>
          <a:xfrm>
            <a:off x="2740660" y="2754630"/>
            <a:ext cx="3653790" cy="411480"/>
          </a:xfrm>
          <a:prstGeom prst="rect">
            <a:avLst/>
          </a:prstGeom>
          <a:noFill/>
          <a:ln/>
        </p:spPr>
        <p:txBody>
          <a:bodyPr wrap="square" lIns="0" tIns="0" rIns="0" bIns="0" rtlCol="0" anchor="t"/>
          <a:lstStyle/>
          <a:p>
            <a:pPr marL="0" indent="0" algn="ctr">
              <a:buNone/>
            </a:pPr>
            <a:r>
              <a:rPr lang="en-US" sz="900" dirty="0">
                <a:solidFill>
                  <a:srgbClr val="CBD5E1"/>
                </a:solidFill>
                <a:latin typeface="맑은 고딕" pitchFamily="34" charset="0"/>
                <a:ea typeface="맑은 고딕" pitchFamily="34" charset="-122"/>
                <a:cs typeface="맑은 고딕" pitchFamily="34" charset="-120"/>
              </a:rPr>
              <a:t>마이데이터 수집 · 보관 · 마스킹 · 전문 에이전트</a:t>
            </a:r>
            <a:endParaRPr lang="en-US" sz="900" dirty="0"/>
          </a:p>
        </p:txBody>
      </p:sp>
      <p:sp>
        <p:nvSpPr>
          <p:cNvPr id="25" name="Shape 19"/>
          <p:cNvSpPr/>
          <p:nvPr/>
        </p:nvSpPr>
        <p:spPr>
          <a:xfrm>
            <a:off x="6583680" y="2251709"/>
            <a:ext cx="237744" cy="237744"/>
          </a:xfrm>
          <a:prstGeom prst="rightArrow">
            <a:avLst/>
          </a:prstGeom>
          <a:solidFill>
            <a:srgbClr val="94A3B8"/>
          </a:solidFill>
          <a:ln w="12700">
            <a:solidFill>
              <a:srgbClr val="94A3B8"/>
            </a:solidFill>
            <a:prstDash val="solid"/>
          </a:ln>
        </p:spPr>
        <p:txBody>
          <a:bodyPr/>
          <a:lstStyle/>
          <a:p>
            <a:endParaRPr lang="ko-KR" altLang="en-US"/>
          </a:p>
        </p:txBody>
      </p:sp>
      <p:sp>
        <p:nvSpPr>
          <p:cNvPr id="26" name="Shape 20"/>
          <p:cNvSpPr/>
          <p:nvPr/>
        </p:nvSpPr>
        <p:spPr>
          <a:xfrm>
            <a:off x="6848856" y="1428750"/>
            <a:ext cx="1828800" cy="1874520"/>
          </a:xfrm>
          <a:prstGeom prst="roundRect">
            <a:avLst>
              <a:gd name="adj" fmla="val 4000"/>
            </a:avLst>
          </a:prstGeom>
          <a:solidFill>
            <a:srgbClr val="1B2A3A"/>
          </a:solidFill>
          <a:ln w="12700">
            <a:solidFill>
              <a:srgbClr val="1B2A3A"/>
            </a:solidFill>
            <a:prstDash val="solid"/>
          </a:ln>
        </p:spPr>
        <p:txBody>
          <a:bodyPr/>
          <a:lstStyle/>
          <a:p>
            <a:endParaRPr lang="ko-KR" altLang="en-US"/>
          </a:p>
        </p:txBody>
      </p:sp>
      <p:pic>
        <p:nvPicPr>
          <p:cNvPr id="27" name="Image 3" descr="preencoded.png"/>
          <p:cNvPicPr>
            <a:picLocks noChangeAspect="1"/>
          </p:cNvPicPr>
          <p:nvPr/>
        </p:nvPicPr>
        <p:blipFill>
          <a:blip r:embed="rId6"/>
          <a:stretch>
            <a:fillRect/>
          </a:stretch>
        </p:blipFill>
        <p:spPr>
          <a:xfrm>
            <a:off x="7507224" y="1565909"/>
            <a:ext cx="512064" cy="512064"/>
          </a:xfrm>
          <a:prstGeom prst="rect">
            <a:avLst/>
          </a:prstGeom>
        </p:spPr>
      </p:pic>
      <p:sp>
        <p:nvSpPr>
          <p:cNvPr id="28" name="Text 21"/>
          <p:cNvSpPr txBox="1"/>
          <p:nvPr/>
        </p:nvSpPr>
        <p:spPr>
          <a:xfrm>
            <a:off x="6940296" y="2160270"/>
            <a:ext cx="1645920" cy="228600"/>
          </a:xfrm>
          <a:prstGeom prst="rect">
            <a:avLst/>
          </a:prstGeom>
          <a:noFill/>
          <a:ln/>
        </p:spPr>
        <p:txBody>
          <a:bodyPr wrap="square" lIns="0" tIns="0" rIns="0" bIns="0" rtlCol="0" anchor="t"/>
          <a:lstStyle/>
          <a:p>
            <a:pPr marL="0" indent="0" algn="ctr">
              <a:buNone/>
            </a:pPr>
            <a:r>
              <a:rPr lang="en-US" sz="950" b="1" dirty="0">
                <a:solidFill>
                  <a:srgbClr val="DCE8F6"/>
                </a:solidFill>
                <a:latin typeface="맑은 고딕" pitchFamily="34" charset="0"/>
                <a:ea typeface="맑은 고딕" pitchFamily="34" charset="-122"/>
                <a:cs typeface="맑은 고딕" pitchFamily="34" charset="-120"/>
              </a:rPr>
              <a:t>사용</a:t>
            </a:r>
            <a:endParaRPr lang="en-US" sz="950" dirty="0"/>
          </a:p>
        </p:txBody>
      </p:sp>
      <p:sp>
        <p:nvSpPr>
          <p:cNvPr id="29" name="Text 22"/>
          <p:cNvSpPr txBox="1"/>
          <p:nvPr/>
        </p:nvSpPr>
        <p:spPr>
          <a:xfrm>
            <a:off x="6940296" y="2416302"/>
            <a:ext cx="164592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온디바이스 AI</a:t>
            </a:r>
            <a:endParaRPr lang="en-US" sz="1300" dirty="0"/>
          </a:p>
        </p:txBody>
      </p:sp>
      <p:sp>
        <p:nvSpPr>
          <p:cNvPr id="30" name="Text 23"/>
          <p:cNvSpPr txBox="1"/>
          <p:nvPr/>
        </p:nvSpPr>
        <p:spPr>
          <a:xfrm>
            <a:off x="6940296" y="2754630"/>
            <a:ext cx="1645920" cy="411480"/>
          </a:xfrm>
          <a:prstGeom prst="rect">
            <a:avLst/>
          </a:prstGeom>
          <a:noFill/>
          <a:ln/>
        </p:spPr>
        <p:txBody>
          <a:bodyPr wrap="square" lIns="0" tIns="0" rIns="0" bIns="0" rtlCol="0" anchor="t"/>
          <a:lstStyle/>
          <a:p>
            <a:pPr marL="0" indent="0" algn="ctr">
              <a:buNone/>
            </a:pPr>
            <a:r>
              <a:rPr lang="en-US" sz="900" dirty="0">
                <a:solidFill>
                  <a:srgbClr val="CBD5E1"/>
                </a:solidFill>
                <a:latin typeface="맑은 고딕" pitchFamily="34" charset="0"/>
                <a:ea typeface="맑은 고딕" pitchFamily="34" charset="-122"/>
                <a:cs typeface="맑은 고딕" pitchFamily="34" charset="-120"/>
              </a:rPr>
              <a:t>음성 · 텍스트로 질문</a:t>
            </a:r>
            <a:endParaRPr lang="en-US" sz="900" dirty="0"/>
          </a:p>
        </p:txBody>
      </p:sp>
      <p:sp>
        <p:nvSpPr>
          <p:cNvPr id="31" name="Shape 24"/>
          <p:cNvSpPr/>
          <p:nvPr/>
        </p:nvSpPr>
        <p:spPr>
          <a:xfrm>
            <a:off x="457200" y="3623310"/>
            <a:ext cx="548640" cy="548640"/>
          </a:xfrm>
          <a:prstGeom prst="ellipse">
            <a:avLst/>
          </a:prstGeom>
          <a:solidFill>
            <a:srgbClr val="DCE8F6"/>
          </a:solidFill>
          <a:ln w="12700">
            <a:solidFill>
              <a:srgbClr val="DCE8F6"/>
            </a:solidFill>
            <a:prstDash val="solid"/>
          </a:ln>
        </p:spPr>
        <p:txBody>
          <a:bodyPr/>
          <a:lstStyle/>
          <a:p>
            <a:endParaRPr lang="ko-KR" altLang="en-US"/>
          </a:p>
        </p:txBody>
      </p:sp>
      <p:pic>
        <p:nvPicPr>
          <p:cNvPr id="32" name="Image 4" descr="preencoded.png"/>
          <p:cNvPicPr>
            <a:picLocks noChangeAspect="1"/>
          </p:cNvPicPr>
          <p:nvPr/>
        </p:nvPicPr>
        <p:blipFill>
          <a:blip r:embed="rId7"/>
          <a:stretch>
            <a:fillRect/>
          </a:stretch>
        </p:blipFill>
        <p:spPr>
          <a:xfrm>
            <a:off x="588874" y="3754984"/>
            <a:ext cx="285293" cy="285293"/>
          </a:xfrm>
          <a:prstGeom prst="rect">
            <a:avLst/>
          </a:prstGeom>
        </p:spPr>
      </p:pic>
      <p:sp>
        <p:nvSpPr>
          <p:cNvPr id="33" name="Text 25"/>
          <p:cNvSpPr txBox="1"/>
          <p:nvPr/>
        </p:nvSpPr>
        <p:spPr>
          <a:xfrm>
            <a:off x="1097280" y="3623310"/>
            <a:ext cx="1371600" cy="548640"/>
          </a:xfrm>
          <a:prstGeom prst="rect">
            <a:avLst/>
          </a:prstGeom>
          <a:noFill/>
          <a:ln/>
        </p:spPr>
        <p:txBody>
          <a:bodyPr wrap="square" lIns="0" tIns="0" rIns="0" bIns="0" rtlCol="0" anchor="ctr"/>
          <a:lstStyle/>
          <a:p>
            <a:pPr marL="0" indent="0">
              <a:buNone/>
            </a:pPr>
            <a:r>
              <a:rPr lang="en-US" sz="1300" b="1" dirty="0">
                <a:solidFill>
                  <a:srgbClr val="1B2A3A"/>
                </a:solidFill>
                <a:latin typeface="맑은 고딕" pitchFamily="34" charset="0"/>
                <a:ea typeface="맑은 고딕" pitchFamily="34" charset="-122"/>
                <a:cs typeface="맑은 고딕" pitchFamily="34" charset="-120"/>
              </a:rPr>
              <a:t>조회만</a:t>
            </a:r>
            <a:endParaRPr lang="en-US" sz="1300" dirty="0"/>
          </a:p>
        </p:txBody>
      </p:sp>
      <p:sp>
        <p:nvSpPr>
          <p:cNvPr id="34" name="Shape 26"/>
          <p:cNvSpPr/>
          <p:nvPr/>
        </p:nvSpPr>
        <p:spPr>
          <a:xfrm>
            <a:off x="2587752" y="3623310"/>
            <a:ext cx="548640" cy="548640"/>
          </a:xfrm>
          <a:prstGeom prst="ellipse">
            <a:avLst/>
          </a:prstGeom>
          <a:solidFill>
            <a:srgbClr val="DCE8F6"/>
          </a:solidFill>
          <a:ln w="12700">
            <a:solidFill>
              <a:srgbClr val="DCE8F6"/>
            </a:solidFill>
            <a:prstDash val="solid"/>
          </a:ln>
        </p:spPr>
        <p:txBody>
          <a:bodyPr/>
          <a:lstStyle/>
          <a:p>
            <a:endParaRPr lang="ko-KR" altLang="en-US"/>
          </a:p>
        </p:txBody>
      </p:sp>
      <p:pic>
        <p:nvPicPr>
          <p:cNvPr id="35" name="Image 5" descr="preencoded.png"/>
          <p:cNvPicPr>
            <a:picLocks noChangeAspect="1"/>
          </p:cNvPicPr>
          <p:nvPr/>
        </p:nvPicPr>
        <p:blipFill>
          <a:blip r:embed="rId8"/>
          <a:stretch>
            <a:fillRect/>
          </a:stretch>
        </p:blipFill>
        <p:spPr>
          <a:xfrm>
            <a:off x="2719426" y="3754984"/>
            <a:ext cx="285293" cy="285293"/>
          </a:xfrm>
          <a:prstGeom prst="rect">
            <a:avLst/>
          </a:prstGeom>
        </p:spPr>
      </p:pic>
      <p:sp>
        <p:nvSpPr>
          <p:cNvPr id="36" name="Text 27"/>
          <p:cNvSpPr txBox="1"/>
          <p:nvPr/>
        </p:nvSpPr>
        <p:spPr>
          <a:xfrm>
            <a:off x="3227832" y="3623310"/>
            <a:ext cx="1371600" cy="548640"/>
          </a:xfrm>
          <a:prstGeom prst="rect">
            <a:avLst/>
          </a:prstGeom>
          <a:noFill/>
          <a:ln/>
        </p:spPr>
        <p:txBody>
          <a:bodyPr wrap="square" lIns="0" tIns="0" rIns="0" bIns="0" rtlCol="0" anchor="ctr"/>
          <a:lstStyle/>
          <a:p>
            <a:pPr marL="0" indent="0">
              <a:buNone/>
            </a:pPr>
            <a:r>
              <a:rPr lang="ko-KR" sz="1300" b="1" dirty="0">
                <a:solidFill>
                  <a:srgbClr val="1B2A3A"/>
                </a:solidFill>
                <a:latin typeface="맑은 고딕" pitchFamily="34" charset="0"/>
                <a:ea typeface="맑은 고딕" pitchFamily="34" charset="-122"/>
                <a:cs typeface="맑은 고딕" pitchFamily="34" charset="-120"/>
              </a:rPr>
              <a:t>개인정보 마스킹</a:t>
            </a:r>
          </a:p>
          <a:p>
            <a:pPr marL="0" indent="0">
              <a:buNone/>
            </a:pPr>
            <a:r>
              <a:rPr lang="ko-KR" sz="950" dirty="0">
                <a:solidFill>
                  <a:srgbClr val="475569"/>
                </a:solidFill>
                <a:latin typeface="맑은 고딕" pitchFamily="34" charset="0"/>
                <a:ea typeface="맑은 고딕" pitchFamily="34" charset="-122"/>
                <a:cs typeface="맑은 고딕" pitchFamily="34" charset="-120"/>
              </a:rPr>
              <a:t>LLM엔 원본 미전달</a:t>
            </a:r>
            <a:endParaRPr lang="ko-KR" sz="950" dirty="0"/>
          </a:p>
        </p:txBody>
      </p:sp>
      <p:sp>
        <p:nvSpPr>
          <p:cNvPr id="37" name="Shape 28"/>
          <p:cNvSpPr/>
          <p:nvPr/>
        </p:nvSpPr>
        <p:spPr>
          <a:xfrm>
            <a:off x="4718304" y="3623310"/>
            <a:ext cx="548640" cy="548640"/>
          </a:xfrm>
          <a:prstGeom prst="ellipse">
            <a:avLst/>
          </a:prstGeom>
          <a:solidFill>
            <a:srgbClr val="DCE8F6"/>
          </a:solidFill>
          <a:ln w="12700">
            <a:solidFill>
              <a:srgbClr val="DCE8F6"/>
            </a:solidFill>
            <a:prstDash val="solid"/>
          </a:ln>
        </p:spPr>
        <p:txBody>
          <a:bodyPr/>
          <a:lstStyle/>
          <a:p>
            <a:endParaRPr lang="ko-KR" altLang="en-US"/>
          </a:p>
        </p:txBody>
      </p:sp>
      <p:pic>
        <p:nvPicPr>
          <p:cNvPr id="38" name="Image 6" descr="preencoded.png"/>
          <p:cNvPicPr>
            <a:picLocks noChangeAspect="1"/>
          </p:cNvPicPr>
          <p:nvPr/>
        </p:nvPicPr>
        <p:blipFill>
          <a:blip r:embed="rId9"/>
          <a:stretch>
            <a:fillRect/>
          </a:stretch>
        </p:blipFill>
        <p:spPr>
          <a:xfrm>
            <a:off x="4849978" y="3754984"/>
            <a:ext cx="285293" cy="285293"/>
          </a:xfrm>
          <a:prstGeom prst="rect">
            <a:avLst/>
          </a:prstGeom>
        </p:spPr>
      </p:pic>
      <p:sp>
        <p:nvSpPr>
          <p:cNvPr id="39" name="Text 29"/>
          <p:cNvSpPr txBox="1"/>
          <p:nvPr/>
        </p:nvSpPr>
        <p:spPr>
          <a:xfrm>
            <a:off x="5358384" y="3623310"/>
            <a:ext cx="1371600" cy="548640"/>
          </a:xfrm>
          <a:prstGeom prst="rect">
            <a:avLst/>
          </a:prstGeom>
          <a:noFill/>
          <a:ln/>
        </p:spPr>
        <p:txBody>
          <a:bodyPr wrap="square" lIns="0" tIns="0" rIns="0" bIns="0" rtlCol="0" anchor="ctr"/>
          <a:lstStyle/>
          <a:p>
            <a:pPr marL="0" indent="0">
              <a:buNone/>
            </a:pPr>
            <a:r>
              <a:rPr lang="en-US" sz="1300" b="1" dirty="0">
                <a:solidFill>
                  <a:srgbClr val="1B2A3A"/>
                </a:solidFill>
                <a:latin typeface="맑은 고딕" pitchFamily="34" charset="0"/>
                <a:ea typeface="맑은 고딕" pitchFamily="34" charset="-122"/>
                <a:cs typeface="맑은 고딕" pitchFamily="34" charset="-120"/>
              </a:rPr>
              <a:t>모르면 상담원</a:t>
            </a:r>
            <a:endParaRPr lang="en-US" sz="1300" dirty="0"/>
          </a:p>
        </p:txBody>
      </p:sp>
      <p:sp>
        <p:nvSpPr>
          <p:cNvPr id="40" name="Shape 30"/>
          <p:cNvSpPr/>
          <p:nvPr/>
        </p:nvSpPr>
        <p:spPr>
          <a:xfrm>
            <a:off x="6848856" y="3623310"/>
            <a:ext cx="548640" cy="548640"/>
          </a:xfrm>
          <a:prstGeom prst="ellipse">
            <a:avLst/>
          </a:prstGeom>
          <a:solidFill>
            <a:srgbClr val="DCE8F6"/>
          </a:solidFill>
          <a:ln w="12700">
            <a:solidFill>
              <a:srgbClr val="DCE8F6"/>
            </a:solidFill>
            <a:prstDash val="solid"/>
          </a:ln>
        </p:spPr>
        <p:txBody>
          <a:bodyPr/>
          <a:lstStyle/>
          <a:p>
            <a:endParaRPr lang="ko-KR" altLang="en-US"/>
          </a:p>
        </p:txBody>
      </p:sp>
      <p:pic>
        <p:nvPicPr>
          <p:cNvPr id="41" name="Image 7" descr="preencoded.png"/>
          <p:cNvPicPr>
            <a:picLocks noChangeAspect="1"/>
          </p:cNvPicPr>
          <p:nvPr/>
        </p:nvPicPr>
        <p:blipFill>
          <a:blip r:embed="rId10"/>
          <a:stretch>
            <a:fillRect/>
          </a:stretch>
        </p:blipFill>
        <p:spPr>
          <a:xfrm>
            <a:off x="6980530" y="3754984"/>
            <a:ext cx="285293" cy="285293"/>
          </a:xfrm>
          <a:prstGeom prst="rect">
            <a:avLst/>
          </a:prstGeom>
        </p:spPr>
      </p:pic>
      <p:sp>
        <p:nvSpPr>
          <p:cNvPr id="42" name="Text 31"/>
          <p:cNvSpPr txBox="1"/>
          <p:nvPr/>
        </p:nvSpPr>
        <p:spPr>
          <a:xfrm>
            <a:off x="7488936" y="3623310"/>
            <a:ext cx="1371600" cy="548640"/>
          </a:xfrm>
          <a:prstGeom prst="rect">
            <a:avLst/>
          </a:prstGeom>
          <a:noFill/>
          <a:ln/>
        </p:spPr>
        <p:txBody>
          <a:bodyPr wrap="square" lIns="0" tIns="0" rIns="0" bIns="0" rtlCol="0" anchor="ctr"/>
          <a:lstStyle/>
          <a:p>
            <a:pPr marL="0" indent="0">
              <a:buNone/>
            </a:pPr>
            <a:r>
              <a:rPr lang="en-US" sz="1300" b="1" dirty="0">
                <a:solidFill>
                  <a:srgbClr val="1B2A3A"/>
                </a:solidFill>
                <a:latin typeface="맑은 고딕" pitchFamily="34" charset="0"/>
                <a:ea typeface="맑은 고딕" pitchFamily="34" charset="-122"/>
                <a:cs typeface="맑은 고딕" pitchFamily="34" charset="-120"/>
              </a:rPr>
              <a:t>온디바이스</a:t>
            </a:r>
            <a:endParaRPr lang="en-US" sz="1300" dirty="0"/>
          </a:p>
        </p:txBody>
      </p:sp>
    </p:spTree>
    <p:extLst>
      <p:ext uri="{BB962C8B-B14F-4D97-AF65-F5344CB8AC3E}">
        <p14:creationId xmlns:p14="http://schemas.microsoft.com/office/powerpoint/2010/main" val="2038350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52400"/>
            <a:ext cx="4572000" cy="177800"/>
          </a:xfrm>
          <a:prstGeom prst="rect">
            <a:avLst/>
          </a:prstGeom>
          <a:noFill/>
          <a:ln/>
        </p:spPr>
        <p:txBody>
          <a:bodyPr wrap="square" lIns="0" tIns="0" rIns="0" bIns="0" rtlCol="0" anchor="t"/>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01  문제 정의</a:t>
            </a:r>
            <a:endParaRPr lang="en-US" sz="900" dirty="0"/>
          </a:p>
        </p:txBody>
      </p:sp>
      <p:sp>
        <p:nvSpPr>
          <p:cNvPr id="4" name="Text 2"/>
          <p:cNvSpPr txBox="1"/>
          <p:nvPr/>
        </p:nvSpPr>
        <p:spPr>
          <a:xfrm>
            <a:off x="457200" y="330200"/>
            <a:ext cx="8229600" cy="355600"/>
          </a:xfrm>
          <a:prstGeom prst="rect">
            <a:avLst/>
          </a:prstGeom>
          <a:noFill/>
          <a:ln/>
        </p:spPr>
        <p:txBody>
          <a:bodyPr wrap="square" lIns="0" tIns="0" rIns="0" bIns="0" rtlCol="0" anchor="ctr"/>
          <a:lstStyle/>
          <a:p>
            <a:pPr marL="0" indent="0">
              <a:buNone/>
            </a:pPr>
            <a:r>
              <a:rPr lang="ko-KR" altLang="en-US" sz="2000" b="1" dirty="0">
                <a:solidFill>
                  <a:srgbClr val="1B2A3A"/>
                </a:solidFill>
                <a:latin typeface="맑은 고딕" pitchFamily="34" charset="0"/>
                <a:ea typeface="맑은 고딕" pitchFamily="34" charset="-122"/>
                <a:cs typeface="맑은 고딕" pitchFamily="34" charset="-120"/>
              </a:rPr>
              <a:t>서비스 구현</a:t>
            </a:r>
            <a:endParaRPr lang="en-US" sz="2000" dirty="0"/>
          </a:p>
        </p:txBody>
      </p:sp>
      <p:sp>
        <p:nvSpPr>
          <p:cNvPr id="6" name="Text 4"/>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6</a:t>
            </a:r>
            <a:endParaRPr lang="en-US" sz="850" dirty="0"/>
          </a:p>
        </p:txBody>
      </p:sp>
      <p:sp>
        <p:nvSpPr>
          <p:cNvPr id="8" name="Shape 5"/>
          <p:cNvSpPr/>
          <p:nvPr/>
        </p:nvSpPr>
        <p:spPr>
          <a:xfrm>
            <a:off x="457200" y="1148080"/>
            <a:ext cx="1691640" cy="1417320"/>
          </a:xfrm>
          <a:prstGeom prst="roundRect">
            <a:avLst>
              <a:gd name="adj" fmla="val 5161"/>
            </a:avLst>
          </a:prstGeom>
          <a:solidFill>
            <a:srgbClr val="F1F5F9"/>
          </a:solidFill>
          <a:ln w="12700">
            <a:solidFill>
              <a:srgbClr val="F1F5F9"/>
            </a:solidFill>
            <a:prstDash val="solid"/>
          </a:ln>
        </p:spPr>
        <p:txBody>
          <a:bodyPr/>
          <a:lstStyle/>
          <a:p>
            <a:endParaRPr lang="ko-KR" altLang="en-US"/>
          </a:p>
        </p:txBody>
      </p:sp>
      <p:sp>
        <p:nvSpPr>
          <p:cNvPr id="9" name="Shape 6"/>
          <p:cNvSpPr/>
          <p:nvPr/>
        </p:nvSpPr>
        <p:spPr>
          <a:xfrm>
            <a:off x="1005840" y="1312672"/>
            <a:ext cx="594360" cy="594360"/>
          </a:xfrm>
          <a:prstGeom prst="ellipse">
            <a:avLst/>
          </a:prstGeom>
          <a:solidFill>
            <a:srgbClr val="41659E"/>
          </a:solidFill>
          <a:ln w="12700">
            <a:solidFill>
              <a:srgbClr val="41659E"/>
            </a:solidFill>
            <a:prstDash val="solid"/>
          </a:ln>
        </p:spPr>
        <p:txBody>
          <a:bodyPr/>
          <a:lstStyle/>
          <a:p>
            <a:endParaRPr lang="ko-KR" altLang="en-US"/>
          </a:p>
        </p:txBody>
      </p:sp>
      <p:pic>
        <p:nvPicPr>
          <p:cNvPr id="10" name="Image 0" descr="preencoded.png"/>
          <p:cNvPicPr>
            <a:picLocks noChangeAspect="1"/>
          </p:cNvPicPr>
          <p:nvPr/>
        </p:nvPicPr>
        <p:blipFill>
          <a:blip r:embed="rId3"/>
          <a:stretch>
            <a:fillRect/>
          </a:stretch>
        </p:blipFill>
        <p:spPr>
          <a:xfrm>
            <a:off x="1148486" y="1455318"/>
            <a:ext cx="309067" cy="309067"/>
          </a:xfrm>
          <a:prstGeom prst="rect">
            <a:avLst/>
          </a:prstGeom>
        </p:spPr>
      </p:pic>
      <p:sp>
        <p:nvSpPr>
          <p:cNvPr id="11" name="Text 7"/>
          <p:cNvSpPr txBox="1"/>
          <p:nvPr/>
        </p:nvSpPr>
        <p:spPr>
          <a:xfrm>
            <a:off x="530352" y="2016760"/>
            <a:ext cx="1554480" cy="411480"/>
          </a:xfrm>
          <a:prstGeom prst="rect">
            <a:avLst/>
          </a:prstGeom>
          <a:noFill/>
          <a:ln/>
        </p:spPr>
        <p:txBody>
          <a:bodyPr wrap="square" lIns="0" tIns="0" rIns="0" bIns="0" rtlCol="0" anchor="ctr"/>
          <a:lstStyle/>
          <a:p>
            <a:pPr marL="0" indent="0" algn="ctr">
              <a:buNone/>
            </a:pPr>
            <a:r>
              <a:rPr lang="en-US" sz="1150" b="1" dirty="0">
                <a:solidFill>
                  <a:srgbClr val="1B2A3A"/>
                </a:solidFill>
                <a:latin typeface="맑은 고딕" pitchFamily="34" charset="0"/>
                <a:ea typeface="맑은 고딕" pitchFamily="34" charset="-122"/>
                <a:cs typeface="맑은 고딕" pitchFamily="34" charset="-120"/>
              </a:rPr>
              <a:t>개인정보 마스킹</a:t>
            </a:r>
            <a:endParaRPr lang="en-US" sz="1150" dirty="0"/>
          </a:p>
        </p:txBody>
      </p:sp>
      <p:sp>
        <p:nvSpPr>
          <p:cNvPr id="12" name="Shape 8"/>
          <p:cNvSpPr/>
          <p:nvPr/>
        </p:nvSpPr>
        <p:spPr>
          <a:xfrm>
            <a:off x="2286000" y="1148080"/>
            <a:ext cx="1691640" cy="1417320"/>
          </a:xfrm>
          <a:prstGeom prst="roundRect">
            <a:avLst>
              <a:gd name="adj" fmla="val 5161"/>
            </a:avLst>
          </a:prstGeom>
          <a:solidFill>
            <a:srgbClr val="F1F5F9"/>
          </a:solidFill>
          <a:ln w="12700">
            <a:solidFill>
              <a:srgbClr val="F1F5F9"/>
            </a:solidFill>
            <a:prstDash val="solid"/>
          </a:ln>
        </p:spPr>
        <p:txBody>
          <a:bodyPr/>
          <a:lstStyle/>
          <a:p>
            <a:endParaRPr lang="ko-KR" altLang="en-US"/>
          </a:p>
        </p:txBody>
      </p:sp>
      <p:sp>
        <p:nvSpPr>
          <p:cNvPr id="13" name="Shape 9"/>
          <p:cNvSpPr/>
          <p:nvPr/>
        </p:nvSpPr>
        <p:spPr>
          <a:xfrm>
            <a:off x="2834640" y="1312672"/>
            <a:ext cx="594360" cy="594360"/>
          </a:xfrm>
          <a:prstGeom prst="ellipse">
            <a:avLst/>
          </a:prstGeom>
          <a:solidFill>
            <a:srgbClr val="41659E"/>
          </a:solidFill>
          <a:ln w="12700">
            <a:solidFill>
              <a:srgbClr val="41659E"/>
            </a:solidFill>
            <a:prstDash val="solid"/>
          </a:ln>
        </p:spPr>
        <p:txBody>
          <a:bodyPr/>
          <a:lstStyle/>
          <a:p>
            <a:endParaRPr lang="ko-KR" altLang="en-US"/>
          </a:p>
        </p:txBody>
      </p:sp>
      <p:pic>
        <p:nvPicPr>
          <p:cNvPr id="14" name="Image 1" descr="preencoded.png"/>
          <p:cNvPicPr>
            <a:picLocks noChangeAspect="1"/>
          </p:cNvPicPr>
          <p:nvPr/>
        </p:nvPicPr>
        <p:blipFill>
          <a:blip r:embed="rId4"/>
          <a:stretch>
            <a:fillRect/>
          </a:stretch>
        </p:blipFill>
        <p:spPr>
          <a:xfrm>
            <a:off x="2977286" y="1455318"/>
            <a:ext cx="309067" cy="309067"/>
          </a:xfrm>
          <a:prstGeom prst="rect">
            <a:avLst/>
          </a:prstGeom>
        </p:spPr>
      </p:pic>
      <p:sp>
        <p:nvSpPr>
          <p:cNvPr id="15" name="Text 10"/>
          <p:cNvSpPr txBox="1"/>
          <p:nvPr/>
        </p:nvSpPr>
        <p:spPr>
          <a:xfrm>
            <a:off x="2359152" y="2016760"/>
            <a:ext cx="1554480" cy="411480"/>
          </a:xfrm>
          <a:prstGeom prst="rect">
            <a:avLst/>
          </a:prstGeom>
          <a:noFill/>
          <a:ln/>
        </p:spPr>
        <p:txBody>
          <a:bodyPr wrap="square" lIns="0" tIns="0" rIns="0" bIns="0" rtlCol="0" anchor="ctr"/>
          <a:lstStyle/>
          <a:p>
            <a:pPr marL="0" indent="0" algn="ctr">
              <a:buNone/>
            </a:pPr>
            <a:r>
              <a:rPr lang="ko-KR" altLang="en-US" sz="1150" b="1" dirty="0">
                <a:solidFill>
                  <a:srgbClr val="1B2A3A"/>
                </a:solidFill>
                <a:latin typeface="맑은 고딕" pitchFamily="34" charset="0"/>
                <a:ea typeface="맑은 고딕" pitchFamily="34" charset="-122"/>
                <a:cs typeface="맑은 고딕" pitchFamily="34" charset="-120"/>
              </a:rPr>
              <a:t>은행 업무</a:t>
            </a:r>
            <a:br>
              <a:rPr lang="en-US" altLang="ko-KR" sz="1150" b="1" dirty="0">
                <a:solidFill>
                  <a:srgbClr val="1B2A3A"/>
                </a:solidFill>
                <a:latin typeface="맑은 고딕" pitchFamily="34" charset="0"/>
                <a:ea typeface="맑은 고딕" pitchFamily="34" charset="-122"/>
                <a:cs typeface="맑은 고딕" pitchFamily="34" charset="-120"/>
              </a:rPr>
            </a:br>
            <a:r>
              <a:rPr lang="en-US" sz="1150" b="1" dirty="0">
                <a:solidFill>
                  <a:srgbClr val="1B2A3A"/>
                </a:solidFill>
                <a:latin typeface="맑은 고딕" pitchFamily="34" charset="0"/>
                <a:ea typeface="맑은 고딕" pitchFamily="34" charset="-122"/>
                <a:cs typeface="맑은 고딕" pitchFamily="34" charset="-120"/>
              </a:rPr>
              <a:t>9개 </a:t>
            </a:r>
            <a:r>
              <a:rPr lang="en-US" sz="1150" b="1" dirty="0" err="1">
                <a:solidFill>
                  <a:srgbClr val="1B2A3A"/>
                </a:solidFill>
                <a:latin typeface="맑은 고딕" pitchFamily="34" charset="0"/>
                <a:ea typeface="맑은 고딕" pitchFamily="34" charset="-122"/>
                <a:cs typeface="맑은 고딕" pitchFamily="34" charset="-120"/>
              </a:rPr>
              <a:t>주제</a:t>
            </a:r>
            <a:r>
              <a:rPr lang="en-US" sz="1150" b="1" dirty="0">
                <a:solidFill>
                  <a:srgbClr val="1B2A3A"/>
                </a:solidFill>
                <a:latin typeface="맑은 고딕" pitchFamily="34" charset="0"/>
                <a:ea typeface="맑은 고딕" pitchFamily="34" charset="-122"/>
                <a:cs typeface="맑은 고딕" pitchFamily="34" charset="-120"/>
              </a:rPr>
              <a:t> </a:t>
            </a:r>
            <a:r>
              <a:rPr lang="ko-KR" altLang="en-US" sz="1150" b="1" dirty="0">
                <a:solidFill>
                  <a:srgbClr val="1B2A3A"/>
                </a:solidFill>
                <a:latin typeface="맑은 고딕" pitchFamily="34" charset="0"/>
                <a:ea typeface="맑은 고딕" pitchFamily="34" charset="-122"/>
                <a:cs typeface="맑은 고딕" pitchFamily="34" charset="-120"/>
              </a:rPr>
              <a:t>대</a:t>
            </a:r>
            <a:r>
              <a:rPr lang="en-US" sz="1150" b="1" dirty="0" err="1">
                <a:solidFill>
                  <a:srgbClr val="1B2A3A"/>
                </a:solidFill>
                <a:latin typeface="맑은 고딕" pitchFamily="34" charset="0"/>
                <a:ea typeface="맑은 고딕" pitchFamily="34" charset="-122"/>
                <a:cs typeface="맑은 고딕" pitchFamily="34" charset="-120"/>
              </a:rPr>
              <a:t>분류</a:t>
            </a:r>
            <a:endParaRPr lang="en-US" sz="1150" dirty="0"/>
          </a:p>
        </p:txBody>
      </p:sp>
      <p:sp>
        <p:nvSpPr>
          <p:cNvPr id="16" name="Shape 11"/>
          <p:cNvSpPr/>
          <p:nvPr/>
        </p:nvSpPr>
        <p:spPr>
          <a:xfrm>
            <a:off x="4114800" y="1148080"/>
            <a:ext cx="1691640" cy="1417320"/>
          </a:xfrm>
          <a:prstGeom prst="roundRect">
            <a:avLst>
              <a:gd name="adj" fmla="val 5161"/>
            </a:avLst>
          </a:prstGeom>
          <a:solidFill>
            <a:srgbClr val="F1F5F9"/>
          </a:solidFill>
          <a:ln w="12700">
            <a:solidFill>
              <a:srgbClr val="F1F5F9"/>
            </a:solidFill>
            <a:prstDash val="solid"/>
          </a:ln>
        </p:spPr>
        <p:txBody>
          <a:bodyPr/>
          <a:lstStyle/>
          <a:p>
            <a:endParaRPr lang="ko-KR" altLang="en-US"/>
          </a:p>
        </p:txBody>
      </p:sp>
      <p:sp>
        <p:nvSpPr>
          <p:cNvPr id="17" name="Shape 12"/>
          <p:cNvSpPr/>
          <p:nvPr/>
        </p:nvSpPr>
        <p:spPr>
          <a:xfrm>
            <a:off x="4663440" y="1312672"/>
            <a:ext cx="594360" cy="594360"/>
          </a:xfrm>
          <a:prstGeom prst="ellipse">
            <a:avLst/>
          </a:prstGeom>
          <a:solidFill>
            <a:srgbClr val="41659E"/>
          </a:solidFill>
          <a:ln w="12700">
            <a:solidFill>
              <a:srgbClr val="41659E"/>
            </a:solidFill>
            <a:prstDash val="solid"/>
          </a:ln>
        </p:spPr>
        <p:txBody>
          <a:bodyPr/>
          <a:lstStyle/>
          <a:p>
            <a:endParaRPr lang="ko-KR" altLang="en-US"/>
          </a:p>
        </p:txBody>
      </p:sp>
      <p:pic>
        <p:nvPicPr>
          <p:cNvPr id="18" name="Image 2" descr="preencoded.png"/>
          <p:cNvPicPr>
            <a:picLocks noChangeAspect="1"/>
          </p:cNvPicPr>
          <p:nvPr/>
        </p:nvPicPr>
        <p:blipFill>
          <a:blip r:embed="rId5"/>
          <a:stretch>
            <a:fillRect/>
          </a:stretch>
        </p:blipFill>
        <p:spPr>
          <a:xfrm>
            <a:off x="4806086" y="1455318"/>
            <a:ext cx="309067" cy="309067"/>
          </a:xfrm>
          <a:prstGeom prst="rect">
            <a:avLst/>
          </a:prstGeom>
        </p:spPr>
      </p:pic>
      <p:sp>
        <p:nvSpPr>
          <p:cNvPr id="19" name="Text 13"/>
          <p:cNvSpPr txBox="1"/>
          <p:nvPr/>
        </p:nvSpPr>
        <p:spPr>
          <a:xfrm>
            <a:off x="4187952" y="2016760"/>
            <a:ext cx="1554480" cy="411480"/>
          </a:xfrm>
          <a:prstGeom prst="rect">
            <a:avLst/>
          </a:prstGeom>
          <a:noFill/>
          <a:ln/>
        </p:spPr>
        <p:txBody>
          <a:bodyPr wrap="square" lIns="0" tIns="0" rIns="0" bIns="0" rtlCol="0" anchor="ctr"/>
          <a:lstStyle/>
          <a:p>
            <a:pPr marL="0" indent="0" algn="ctr">
              <a:buNone/>
            </a:pPr>
            <a:r>
              <a:rPr lang="en-US" sz="1150" b="1" dirty="0">
                <a:solidFill>
                  <a:srgbClr val="1B2A3A"/>
                </a:solidFill>
                <a:latin typeface="맑은 고딕" pitchFamily="34" charset="0"/>
                <a:ea typeface="맑은 고딕" pitchFamily="34" charset="-122"/>
                <a:cs typeface="맑은 고딕" pitchFamily="34" charset="-120"/>
              </a:rPr>
              <a:t>전문 </a:t>
            </a:r>
            <a:r>
              <a:rPr lang="en-US" sz="1150" b="1" dirty="0" err="1">
                <a:solidFill>
                  <a:srgbClr val="1B2A3A"/>
                </a:solidFill>
                <a:latin typeface="맑은 고딕" pitchFamily="34" charset="0"/>
                <a:ea typeface="맑은 고딕" pitchFamily="34" charset="-122"/>
                <a:cs typeface="맑은 고딕" pitchFamily="34" charset="-120"/>
              </a:rPr>
              <a:t>에이전트</a:t>
            </a:r>
            <a:r>
              <a:rPr lang="en-US" sz="1150" b="1" dirty="0">
                <a:solidFill>
                  <a:srgbClr val="1B2A3A"/>
                </a:solidFill>
                <a:latin typeface="맑은 고딕" pitchFamily="34" charset="0"/>
                <a:ea typeface="맑은 고딕" pitchFamily="34" charset="-122"/>
                <a:cs typeface="맑은 고딕" pitchFamily="34" charset="-120"/>
              </a:rPr>
              <a:t> 3</a:t>
            </a:r>
            <a:br>
              <a:rPr lang="en-US" sz="1150" b="1" dirty="0">
                <a:solidFill>
                  <a:srgbClr val="1B2A3A"/>
                </a:solidFill>
                <a:latin typeface="맑은 고딕" pitchFamily="34" charset="0"/>
                <a:ea typeface="맑은 고딕" pitchFamily="34" charset="-122"/>
                <a:cs typeface="맑은 고딕" pitchFamily="34" charset="-120"/>
              </a:rPr>
            </a:br>
            <a:r>
              <a:rPr lang="ko-KR" altLang="en-US" sz="1150" b="1" dirty="0">
                <a:solidFill>
                  <a:srgbClr val="1B2A3A"/>
                </a:solidFill>
                <a:latin typeface="맑은 고딕" pitchFamily="34" charset="0"/>
                <a:ea typeface="맑은 고딕" pitchFamily="34" charset="-122"/>
                <a:cs typeface="맑은 고딕" pitchFamily="34" charset="-120"/>
              </a:rPr>
              <a:t>대분류 속 필요한 정보</a:t>
            </a:r>
            <a:endParaRPr lang="en-US" sz="1150" dirty="0"/>
          </a:p>
        </p:txBody>
      </p:sp>
      <p:sp>
        <p:nvSpPr>
          <p:cNvPr id="20" name="Shape 14"/>
          <p:cNvSpPr/>
          <p:nvPr/>
        </p:nvSpPr>
        <p:spPr>
          <a:xfrm>
            <a:off x="457200" y="2702560"/>
            <a:ext cx="1691640" cy="1417320"/>
          </a:xfrm>
          <a:prstGeom prst="roundRect">
            <a:avLst>
              <a:gd name="adj" fmla="val 5161"/>
            </a:avLst>
          </a:prstGeom>
          <a:solidFill>
            <a:srgbClr val="F1F5F9"/>
          </a:solidFill>
          <a:ln w="12700">
            <a:solidFill>
              <a:srgbClr val="F1F5F9"/>
            </a:solidFill>
            <a:prstDash val="solid"/>
          </a:ln>
        </p:spPr>
        <p:txBody>
          <a:bodyPr/>
          <a:lstStyle/>
          <a:p>
            <a:endParaRPr lang="ko-KR" altLang="en-US"/>
          </a:p>
        </p:txBody>
      </p:sp>
      <p:sp>
        <p:nvSpPr>
          <p:cNvPr id="21" name="Shape 15"/>
          <p:cNvSpPr/>
          <p:nvPr/>
        </p:nvSpPr>
        <p:spPr>
          <a:xfrm>
            <a:off x="1005840" y="2867152"/>
            <a:ext cx="594360" cy="594360"/>
          </a:xfrm>
          <a:prstGeom prst="ellipse">
            <a:avLst/>
          </a:prstGeom>
          <a:solidFill>
            <a:srgbClr val="41659E"/>
          </a:solidFill>
          <a:ln w="12700">
            <a:solidFill>
              <a:srgbClr val="41659E"/>
            </a:solidFill>
            <a:prstDash val="solid"/>
          </a:ln>
        </p:spPr>
        <p:txBody>
          <a:bodyPr/>
          <a:lstStyle/>
          <a:p>
            <a:endParaRPr lang="ko-KR" altLang="en-US"/>
          </a:p>
        </p:txBody>
      </p:sp>
      <p:pic>
        <p:nvPicPr>
          <p:cNvPr id="22" name="Image 3" descr="preencoded.png"/>
          <p:cNvPicPr>
            <a:picLocks noChangeAspect="1"/>
          </p:cNvPicPr>
          <p:nvPr/>
        </p:nvPicPr>
        <p:blipFill>
          <a:blip r:embed="rId6"/>
          <a:stretch>
            <a:fillRect/>
          </a:stretch>
        </p:blipFill>
        <p:spPr>
          <a:xfrm>
            <a:off x="1148486" y="3009798"/>
            <a:ext cx="309067" cy="309067"/>
          </a:xfrm>
          <a:prstGeom prst="rect">
            <a:avLst/>
          </a:prstGeom>
        </p:spPr>
      </p:pic>
      <p:sp>
        <p:nvSpPr>
          <p:cNvPr id="23" name="Text 16"/>
          <p:cNvSpPr txBox="1"/>
          <p:nvPr/>
        </p:nvSpPr>
        <p:spPr>
          <a:xfrm>
            <a:off x="530352" y="3571240"/>
            <a:ext cx="1554480" cy="411480"/>
          </a:xfrm>
          <a:prstGeom prst="rect">
            <a:avLst/>
          </a:prstGeom>
          <a:noFill/>
          <a:ln/>
        </p:spPr>
        <p:txBody>
          <a:bodyPr wrap="square" lIns="0" tIns="0" rIns="0" bIns="0" rtlCol="0" anchor="ctr"/>
          <a:lstStyle/>
          <a:p>
            <a:pPr marL="0" indent="0" algn="ctr">
              <a:buNone/>
            </a:pPr>
            <a:r>
              <a:rPr lang="ko-KR" altLang="en-US" sz="1150" b="1" dirty="0">
                <a:solidFill>
                  <a:srgbClr val="1B2A3A"/>
                </a:solidFill>
                <a:latin typeface="맑은 고딕" pitchFamily="34" charset="0"/>
                <a:ea typeface="맑은 고딕" pitchFamily="34" charset="-122"/>
                <a:cs typeface="맑은 고딕" pitchFamily="34" charset="-120"/>
              </a:rPr>
              <a:t>복합 질문 되묻기 · 선택 버튼</a:t>
            </a:r>
            <a:endParaRPr lang="en-US" sz="1150" dirty="0"/>
          </a:p>
        </p:txBody>
      </p:sp>
      <p:sp>
        <p:nvSpPr>
          <p:cNvPr id="24" name="Shape 17"/>
          <p:cNvSpPr/>
          <p:nvPr/>
        </p:nvSpPr>
        <p:spPr>
          <a:xfrm>
            <a:off x="2286000" y="2702560"/>
            <a:ext cx="1691640" cy="1417320"/>
          </a:xfrm>
          <a:prstGeom prst="roundRect">
            <a:avLst>
              <a:gd name="adj" fmla="val 5161"/>
            </a:avLst>
          </a:prstGeom>
          <a:solidFill>
            <a:srgbClr val="F1F5F9"/>
          </a:solidFill>
          <a:ln w="12700">
            <a:solidFill>
              <a:srgbClr val="F1F5F9"/>
            </a:solidFill>
            <a:prstDash val="solid"/>
          </a:ln>
        </p:spPr>
        <p:txBody>
          <a:bodyPr/>
          <a:lstStyle/>
          <a:p>
            <a:endParaRPr lang="ko-KR" altLang="en-US"/>
          </a:p>
        </p:txBody>
      </p:sp>
      <p:sp>
        <p:nvSpPr>
          <p:cNvPr id="25" name="Shape 18"/>
          <p:cNvSpPr/>
          <p:nvPr/>
        </p:nvSpPr>
        <p:spPr>
          <a:xfrm>
            <a:off x="2834640" y="2867152"/>
            <a:ext cx="594360" cy="594360"/>
          </a:xfrm>
          <a:prstGeom prst="ellipse">
            <a:avLst/>
          </a:prstGeom>
          <a:solidFill>
            <a:srgbClr val="41659E"/>
          </a:solidFill>
          <a:ln w="12700">
            <a:solidFill>
              <a:srgbClr val="41659E"/>
            </a:solidFill>
            <a:prstDash val="solid"/>
          </a:ln>
        </p:spPr>
        <p:txBody>
          <a:bodyPr/>
          <a:lstStyle/>
          <a:p>
            <a:endParaRPr lang="ko-KR" altLang="en-US"/>
          </a:p>
        </p:txBody>
      </p:sp>
      <p:pic>
        <p:nvPicPr>
          <p:cNvPr id="26" name="Image 4" descr="preencoded.png"/>
          <p:cNvPicPr>
            <a:picLocks noChangeAspect="1"/>
          </p:cNvPicPr>
          <p:nvPr/>
        </p:nvPicPr>
        <p:blipFill>
          <a:blip r:embed="rId7"/>
          <a:stretch>
            <a:fillRect/>
          </a:stretch>
        </p:blipFill>
        <p:spPr>
          <a:xfrm>
            <a:off x="2977286" y="3009798"/>
            <a:ext cx="309067" cy="309067"/>
          </a:xfrm>
          <a:prstGeom prst="rect">
            <a:avLst/>
          </a:prstGeom>
        </p:spPr>
      </p:pic>
      <p:sp>
        <p:nvSpPr>
          <p:cNvPr id="27" name="Text 19"/>
          <p:cNvSpPr txBox="1"/>
          <p:nvPr/>
        </p:nvSpPr>
        <p:spPr>
          <a:xfrm>
            <a:off x="2359152" y="3571240"/>
            <a:ext cx="1554480" cy="411480"/>
          </a:xfrm>
          <a:prstGeom prst="rect">
            <a:avLst/>
          </a:prstGeom>
          <a:noFill/>
          <a:ln/>
        </p:spPr>
        <p:txBody>
          <a:bodyPr wrap="square" lIns="0" tIns="0" rIns="0" bIns="0" rtlCol="0" anchor="ctr"/>
          <a:lstStyle/>
          <a:p>
            <a:pPr marL="0" indent="0" algn="ctr">
              <a:buNone/>
            </a:pPr>
            <a:r>
              <a:rPr lang="ko-KR" altLang="en-US" sz="1150" b="1" dirty="0">
                <a:solidFill>
                  <a:srgbClr val="1B2A3A"/>
                </a:solidFill>
                <a:latin typeface="맑은 고딕" pitchFamily="34" charset="0"/>
                <a:ea typeface="맑은 고딕" pitchFamily="34" charset="-122"/>
                <a:cs typeface="맑은 고딕" pitchFamily="34" charset="-120"/>
              </a:rPr>
              <a:t>대화 형식으로 편하게</a:t>
            </a:r>
            <a:endParaRPr lang="en-US" sz="1150" dirty="0"/>
          </a:p>
        </p:txBody>
      </p:sp>
      <p:sp>
        <p:nvSpPr>
          <p:cNvPr id="28" name="Shape 20"/>
          <p:cNvSpPr/>
          <p:nvPr/>
        </p:nvSpPr>
        <p:spPr>
          <a:xfrm>
            <a:off x="4114800" y="2702560"/>
            <a:ext cx="1691640" cy="1417320"/>
          </a:xfrm>
          <a:prstGeom prst="roundRect">
            <a:avLst>
              <a:gd name="adj" fmla="val 5161"/>
            </a:avLst>
          </a:prstGeom>
          <a:solidFill>
            <a:srgbClr val="F1F5F9"/>
          </a:solidFill>
          <a:ln w="12700">
            <a:solidFill>
              <a:srgbClr val="F1F5F9"/>
            </a:solidFill>
            <a:prstDash val="solid"/>
          </a:ln>
        </p:spPr>
        <p:txBody>
          <a:bodyPr/>
          <a:lstStyle/>
          <a:p>
            <a:endParaRPr lang="ko-KR" altLang="en-US"/>
          </a:p>
        </p:txBody>
      </p:sp>
      <p:sp>
        <p:nvSpPr>
          <p:cNvPr id="29" name="Shape 21"/>
          <p:cNvSpPr/>
          <p:nvPr/>
        </p:nvSpPr>
        <p:spPr>
          <a:xfrm>
            <a:off x="4663440" y="2867152"/>
            <a:ext cx="594360" cy="594360"/>
          </a:xfrm>
          <a:prstGeom prst="ellipse">
            <a:avLst/>
          </a:prstGeom>
          <a:solidFill>
            <a:srgbClr val="41659E"/>
          </a:solidFill>
          <a:ln w="12700">
            <a:solidFill>
              <a:srgbClr val="41659E"/>
            </a:solidFill>
            <a:prstDash val="solid"/>
          </a:ln>
        </p:spPr>
        <p:txBody>
          <a:bodyPr/>
          <a:lstStyle/>
          <a:p>
            <a:endParaRPr lang="ko-KR" altLang="en-US"/>
          </a:p>
        </p:txBody>
      </p:sp>
      <p:pic>
        <p:nvPicPr>
          <p:cNvPr id="30" name="Image 5" descr="preencoded.png"/>
          <p:cNvPicPr>
            <a:picLocks noChangeAspect="1"/>
          </p:cNvPicPr>
          <p:nvPr/>
        </p:nvPicPr>
        <p:blipFill>
          <a:blip r:embed="rId8"/>
          <a:stretch>
            <a:fillRect/>
          </a:stretch>
        </p:blipFill>
        <p:spPr>
          <a:xfrm>
            <a:off x="4806086" y="3009798"/>
            <a:ext cx="309067" cy="309067"/>
          </a:xfrm>
          <a:prstGeom prst="rect">
            <a:avLst/>
          </a:prstGeom>
        </p:spPr>
      </p:pic>
      <p:sp>
        <p:nvSpPr>
          <p:cNvPr id="31" name="Text 22"/>
          <p:cNvSpPr txBox="1"/>
          <p:nvPr/>
        </p:nvSpPr>
        <p:spPr>
          <a:xfrm>
            <a:off x="4187952" y="3571240"/>
            <a:ext cx="1554480" cy="411480"/>
          </a:xfrm>
          <a:prstGeom prst="rect">
            <a:avLst/>
          </a:prstGeom>
          <a:noFill/>
          <a:ln/>
        </p:spPr>
        <p:txBody>
          <a:bodyPr wrap="square" lIns="0" tIns="0" rIns="0" bIns="0" rtlCol="0" anchor="ctr"/>
          <a:lstStyle/>
          <a:p>
            <a:pPr marL="0" indent="0" algn="ctr">
              <a:buNone/>
            </a:pPr>
            <a:r>
              <a:rPr lang="en-US" sz="1150" b="1" dirty="0" err="1">
                <a:solidFill>
                  <a:srgbClr val="1B2A3A"/>
                </a:solidFill>
                <a:latin typeface="맑은 고딕" pitchFamily="34" charset="0"/>
                <a:ea typeface="맑은 고딕" pitchFamily="34" charset="-122"/>
                <a:cs typeface="맑은 고딕" pitchFamily="34" charset="-120"/>
              </a:rPr>
              <a:t>상담원</a:t>
            </a:r>
            <a:r>
              <a:rPr lang="en-US" sz="1150" b="1" dirty="0">
                <a:solidFill>
                  <a:srgbClr val="1B2A3A"/>
                </a:solidFill>
                <a:latin typeface="맑은 고딕" pitchFamily="34" charset="0"/>
                <a:ea typeface="맑은 고딕" pitchFamily="34" charset="-122"/>
                <a:cs typeface="맑은 고딕" pitchFamily="34" charset="-120"/>
              </a:rPr>
              <a:t> </a:t>
            </a:r>
            <a:r>
              <a:rPr lang="ko-KR" altLang="en-US" sz="1150" b="1" dirty="0">
                <a:solidFill>
                  <a:srgbClr val="1B2A3A"/>
                </a:solidFill>
                <a:latin typeface="맑은 고딕" pitchFamily="34" charset="0"/>
                <a:ea typeface="맑은 고딕" pitchFamily="34" charset="-122"/>
                <a:cs typeface="맑은 고딕" pitchFamily="34" charset="-120"/>
              </a:rPr>
              <a:t>연결</a:t>
            </a:r>
            <a:endParaRPr lang="en-US" sz="1150" dirty="0"/>
          </a:p>
        </p:txBody>
      </p:sp>
      <p:sp>
        <p:nvSpPr>
          <p:cNvPr id="32" name="Shape 23"/>
          <p:cNvSpPr/>
          <p:nvPr/>
        </p:nvSpPr>
        <p:spPr>
          <a:xfrm>
            <a:off x="6080760" y="1148080"/>
            <a:ext cx="2606040" cy="2971800"/>
          </a:xfrm>
          <a:prstGeom prst="roundRect">
            <a:avLst>
              <a:gd name="adj" fmla="val 2807"/>
            </a:avLst>
          </a:prstGeom>
          <a:solidFill>
            <a:srgbClr val="F9DFDB"/>
          </a:solidFill>
          <a:ln w="12700">
            <a:solidFill>
              <a:srgbClr val="F9DFDB"/>
            </a:solidFill>
            <a:prstDash val="solid"/>
          </a:ln>
        </p:spPr>
        <p:txBody>
          <a:bodyPr/>
          <a:lstStyle/>
          <a:p>
            <a:endParaRPr lang="ko-KR" altLang="en-US"/>
          </a:p>
        </p:txBody>
      </p:sp>
      <p:sp>
        <p:nvSpPr>
          <p:cNvPr id="33" name="Text 24"/>
          <p:cNvSpPr txBox="1"/>
          <p:nvPr/>
        </p:nvSpPr>
        <p:spPr>
          <a:xfrm>
            <a:off x="6217920" y="1497584"/>
            <a:ext cx="2286000" cy="274320"/>
          </a:xfrm>
          <a:prstGeom prst="rect">
            <a:avLst/>
          </a:prstGeom>
          <a:noFill/>
          <a:ln/>
        </p:spPr>
        <p:txBody>
          <a:bodyPr wrap="square" lIns="0" tIns="0" rIns="0" bIns="0" rtlCol="0" anchor="t"/>
          <a:lstStyle/>
          <a:p>
            <a:pPr marL="0" indent="0">
              <a:buNone/>
            </a:pPr>
            <a:r>
              <a:rPr lang="en-US" sz="1200" b="1" dirty="0">
                <a:solidFill>
                  <a:srgbClr val="B91C1C"/>
                </a:solidFill>
                <a:latin typeface="맑은 고딕" pitchFamily="34" charset="0"/>
                <a:ea typeface="맑은 고딕" pitchFamily="34" charset="-122"/>
                <a:cs typeface="맑은 고딕" pitchFamily="34" charset="-120"/>
              </a:rPr>
              <a:t>하지 않는 것</a:t>
            </a:r>
            <a:endParaRPr lang="en-US" sz="1200" dirty="0"/>
          </a:p>
        </p:txBody>
      </p:sp>
      <p:pic>
        <p:nvPicPr>
          <p:cNvPr id="34" name="Image 6" descr="preencoded.png"/>
          <p:cNvPicPr>
            <a:picLocks noChangeAspect="1"/>
          </p:cNvPicPr>
          <p:nvPr/>
        </p:nvPicPr>
        <p:blipFill>
          <a:blip r:embed="rId9"/>
          <a:stretch>
            <a:fillRect/>
          </a:stretch>
        </p:blipFill>
        <p:spPr>
          <a:xfrm>
            <a:off x="6263640" y="1909064"/>
            <a:ext cx="347472" cy="347472"/>
          </a:xfrm>
          <a:prstGeom prst="rect">
            <a:avLst/>
          </a:prstGeom>
        </p:spPr>
      </p:pic>
      <p:sp>
        <p:nvSpPr>
          <p:cNvPr id="35" name="Text 25"/>
          <p:cNvSpPr txBox="1"/>
          <p:nvPr/>
        </p:nvSpPr>
        <p:spPr>
          <a:xfrm>
            <a:off x="6720840" y="1909064"/>
            <a:ext cx="1828800" cy="347472"/>
          </a:xfrm>
          <a:prstGeom prst="rect">
            <a:avLst/>
          </a:prstGeom>
          <a:noFill/>
          <a:ln/>
        </p:spPr>
        <p:txBody>
          <a:bodyPr wrap="square" lIns="0" tIns="0" rIns="0" bIns="0" rtlCol="0" anchor="ctr"/>
          <a:lstStyle/>
          <a:p>
            <a:pPr marL="0" indent="0">
              <a:buNone/>
            </a:pPr>
            <a:r>
              <a:rPr lang="en-US" sz="1150" b="1" dirty="0">
                <a:solidFill>
                  <a:srgbClr val="1E293B"/>
                </a:solidFill>
                <a:latin typeface="맑은 고딕" pitchFamily="34" charset="0"/>
                <a:ea typeface="맑은 고딕" pitchFamily="34" charset="-122"/>
                <a:cs typeface="맑은 고딕" pitchFamily="34" charset="-120"/>
              </a:rPr>
              <a:t>이체 · 대출 실행</a:t>
            </a:r>
            <a:endParaRPr lang="en-US" sz="1150" dirty="0"/>
          </a:p>
        </p:txBody>
      </p:sp>
      <p:pic>
        <p:nvPicPr>
          <p:cNvPr id="36" name="Image 7" descr="preencoded.png"/>
          <p:cNvPicPr>
            <a:picLocks noChangeAspect="1"/>
          </p:cNvPicPr>
          <p:nvPr/>
        </p:nvPicPr>
        <p:blipFill>
          <a:blip r:embed="rId10"/>
          <a:stretch>
            <a:fillRect/>
          </a:stretch>
        </p:blipFill>
        <p:spPr>
          <a:xfrm>
            <a:off x="6263640" y="2457704"/>
            <a:ext cx="347472" cy="347472"/>
          </a:xfrm>
          <a:prstGeom prst="rect">
            <a:avLst/>
          </a:prstGeom>
        </p:spPr>
      </p:pic>
      <p:sp>
        <p:nvSpPr>
          <p:cNvPr id="37" name="Text 26"/>
          <p:cNvSpPr txBox="1"/>
          <p:nvPr/>
        </p:nvSpPr>
        <p:spPr>
          <a:xfrm>
            <a:off x="6720840" y="2457704"/>
            <a:ext cx="1828800" cy="347472"/>
          </a:xfrm>
          <a:prstGeom prst="rect">
            <a:avLst/>
          </a:prstGeom>
          <a:noFill/>
          <a:ln/>
        </p:spPr>
        <p:txBody>
          <a:bodyPr wrap="square" lIns="0" tIns="0" rIns="0" bIns="0" rtlCol="0" anchor="ctr"/>
          <a:lstStyle/>
          <a:p>
            <a:pPr marL="0" indent="0">
              <a:buNone/>
            </a:pPr>
            <a:r>
              <a:rPr lang="en-US" sz="1150" b="1" dirty="0">
                <a:solidFill>
                  <a:srgbClr val="1E293B"/>
                </a:solidFill>
                <a:latin typeface="맑은 고딕" pitchFamily="34" charset="0"/>
                <a:ea typeface="맑은 고딕" pitchFamily="34" charset="-122"/>
                <a:cs typeface="맑은 고딕" pitchFamily="34" charset="-120"/>
              </a:rPr>
              <a:t>금리 · 약관 안내</a:t>
            </a:r>
            <a:endParaRPr lang="en-US" sz="1150" dirty="0"/>
          </a:p>
        </p:txBody>
      </p:sp>
      <p:sp>
        <p:nvSpPr>
          <p:cNvPr id="38" name="Text 27"/>
          <p:cNvSpPr txBox="1"/>
          <p:nvPr/>
        </p:nvSpPr>
        <p:spPr>
          <a:xfrm>
            <a:off x="6217920" y="3097784"/>
            <a:ext cx="2286000" cy="256032"/>
          </a:xfrm>
          <a:prstGeom prst="rect">
            <a:avLst/>
          </a:prstGeom>
          <a:noFill/>
          <a:ln/>
        </p:spPr>
        <p:txBody>
          <a:bodyPr wrap="square" lIns="0" tIns="0" rIns="0" bIns="0" rtlCol="0" anchor="t"/>
          <a:lstStyle/>
          <a:p>
            <a:pPr marL="0" indent="0">
              <a:buNone/>
            </a:pPr>
            <a:r>
              <a:rPr lang="en-US" sz="1100" b="1" dirty="0">
                <a:solidFill>
                  <a:srgbClr val="B45309"/>
                </a:solidFill>
                <a:latin typeface="맑은 고딕" pitchFamily="34" charset="0"/>
                <a:ea typeface="맑은 고딕" pitchFamily="34" charset="-122"/>
                <a:cs typeface="맑은 고딕" pitchFamily="34" charset="-120"/>
              </a:rPr>
              <a:t>MVP 대체</a:t>
            </a:r>
            <a:endParaRPr lang="en-US" sz="1100" dirty="0"/>
          </a:p>
        </p:txBody>
      </p:sp>
      <p:sp>
        <p:nvSpPr>
          <p:cNvPr id="39" name="Text 28"/>
          <p:cNvSpPr txBox="1"/>
          <p:nvPr/>
        </p:nvSpPr>
        <p:spPr>
          <a:xfrm>
            <a:off x="6217920" y="3399536"/>
            <a:ext cx="2377440" cy="822960"/>
          </a:xfrm>
          <a:prstGeom prst="rect">
            <a:avLst/>
          </a:prstGeom>
          <a:noFill/>
          <a:ln/>
        </p:spPr>
        <p:txBody>
          <a:bodyPr wrap="square" lIns="0" tIns="0" rIns="0" bIns="0" rtlCol="0" anchor="t"/>
          <a:lstStyle/>
          <a:p>
            <a:pPr marL="0" indent="0">
              <a:buNone/>
            </a:pPr>
            <a:r>
              <a:rPr lang="en-US" sz="1050" dirty="0">
                <a:solidFill>
                  <a:srgbClr val="2C3E50"/>
                </a:solidFill>
                <a:latin typeface="맑은 고딕" pitchFamily="34" charset="0"/>
                <a:ea typeface="맑은 고딕" pitchFamily="34" charset="-122"/>
                <a:cs typeface="맑은 고딕" pitchFamily="34" charset="-120"/>
              </a:rPr>
              <a:t>본인 인증 → 가상 고객 선택</a:t>
            </a:r>
            <a:endParaRPr lang="en-US" sz="1050" dirty="0"/>
          </a:p>
          <a:p>
            <a:pPr marL="0" indent="0">
              <a:buNone/>
            </a:pPr>
            <a:r>
              <a:rPr lang="en-US" sz="1050" dirty="0">
                <a:solidFill>
                  <a:srgbClr val="2C3E50"/>
                </a:solidFill>
                <a:latin typeface="맑은 고딕" pitchFamily="34" charset="0"/>
                <a:ea typeface="맑은 고딕" pitchFamily="34" charset="-122"/>
                <a:cs typeface="맑은 고딕" pitchFamily="34" charset="-120"/>
              </a:rPr>
              <a:t>상담원 연결 → 안내 문구</a:t>
            </a:r>
            <a:endParaRPr lang="en-US" sz="1050" dirty="0"/>
          </a:p>
        </p:txBody>
      </p:sp>
    </p:spTree>
    <p:extLst>
      <p:ext uri="{BB962C8B-B14F-4D97-AF65-F5344CB8AC3E}">
        <p14:creationId xmlns:p14="http://schemas.microsoft.com/office/powerpoint/2010/main" val="1921504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52400"/>
            <a:ext cx="4572000" cy="177800"/>
          </a:xfrm>
          <a:prstGeom prst="rect">
            <a:avLst/>
          </a:prstGeom>
          <a:noFill/>
          <a:ln/>
        </p:spPr>
        <p:txBody>
          <a:bodyPr wrap="square" lIns="0" tIns="0" rIns="0" bIns="0" rtlCol="0" anchor="t"/>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02  서비스 경험</a:t>
            </a:r>
            <a:endParaRPr lang="en-US" sz="900" dirty="0"/>
          </a:p>
        </p:txBody>
      </p:sp>
      <p:sp>
        <p:nvSpPr>
          <p:cNvPr id="4" name="Text 2"/>
          <p:cNvSpPr txBox="1"/>
          <p:nvPr/>
        </p:nvSpPr>
        <p:spPr>
          <a:xfrm>
            <a:off x="457200" y="330200"/>
            <a:ext cx="8229600" cy="355600"/>
          </a:xfrm>
          <a:prstGeom prst="rect">
            <a:avLst/>
          </a:prstGeom>
          <a:noFill/>
          <a:ln/>
        </p:spPr>
        <p:txBody>
          <a:bodyPr wrap="square" lIns="0" tIns="0" rIns="0" bIns="0" rtlCol="0" anchor="ctr"/>
          <a:lstStyle/>
          <a:p>
            <a:pPr marL="0" indent="0">
              <a:buNone/>
            </a:pPr>
            <a:r>
              <a:rPr lang="en-US" sz="2000" b="1" dirty="0">
                <a:solidFill>
                  <a:srgbClr val="1B2A3A"/>
                </a:solidFill>
                <a:latin typeface="맑은 고딕" pitchFamily="34" charset="0"/>
                <a:ea typeface="맑은 고딕" pitchFamily="34" charset="-122"/>
                <a:cs typeface="맑은 고딕" pitchFamily="34" charset="-120"/>
              </a:rPr>
              <a:t>사용 방안과 UX 플로우</a:t>
            </a:r>
            <a:endParaRPr lang="en-US" sz="2000" dirty="0"/>
          </a:p>
        </p:txBody>
      </p:sp>
      <p:sp>
        <p:nvSpPr>
          <p:cNvPr id="6" name="Text 4"/>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7</a:t>
            </a:r>
            <a:endParaRPr lang="en-US" sz="850" dirty="0"/>
          </a:p>
        </p:txBody>
      </p:sp>
      <p:sp>
        <p:nvSpPr>
          <p:cNvPr id="8" name="Shape 5"/>
          <p:cNvSpPr/>
          <p:nvPr/>
        </p:nvSpPr>
        <p:spPr>
          <a:xfrm>
            <a:off x="850392" y="1102360"/>
            <a:ext cx="685800" cy="685800"/>
          </a:xfrm>
          <a:prstGeom prst="ellipse">
            <a:avLst/>
          </a:prstGeom>
          <a:solidFill>
            <a:srgbClr val="DCE8F6"/>
          </a:solidFill>
          <a:ln w="12700">
            <a:solidFill>
              <a:srgbClr val="DCE8F6"/>
            </a:solidFill>
            <a:prstDash val="solid"/>
          </a:ln>
        </p:spPr>
        <p:txBody>
          <a:bodyPr/>
          <a:lstStyle/>
          <a:p>
            <a:endParaRPr lang="ko-KR" altLang="en-US"/>
          </a:p>
        </p:txBody>
      </p:sp>
      <p:pic>
        <p:nvPicPr>
          <p:cNvPr id="9" name="Image 0" descr="preencoded.png"/>
          <p:cNvPicPr>
            <a:picLocks noChangeAspect="1"/>
          </p:cNvPicPr>
          <p:nvPr/>
        </p:nvPicPr>
        <p:blipFill>
          <a:blip r:embed="rId3"/>
          <a:stretch>
            <a:fillRect/>
          </a:stretch>
        </p:blipFill>
        <p:spPr>
          <a:xfrm>
            <a:off x="1014984" y="1266952"/>
            <a:ext cx="356616" cy="356616"/>
          </a:xfrm>
          <a:prstGeom prst="rect">
            <a:avLst/>
          </a:prstGeom>
        </p:spPr>
      </p:pic>
      <p:sp>
        <p:nvSpPr>
          <p:cNvPr id="10" name="Text 6"/>
          <p:cNvSpPr txBox="1"/>
          <p:nvPr/>
        </p:nvSpPr>
        <p:spPr>
          <a:xfrm>
            <a:off x="457200" y="1861312"/>
            <a:ext cx="1481328" cy="320040"/>
          </a:xfrm>
          <a:prstGeom prst="rect">
            <a:avLst/>
          </a:prstGeom>
          <a:noFill/>
          <a:ln/>
        </p:spPr>
        <p:txBody>
          <a:bodyPr wrap="square" lIns="0" tIns="0" rIns="0" bIns="0" rtlCol="0" anchor="ctr"/>
          <a:lstStyle/>
          <a:p>
            <a:pPr marL="0" indent="0" algn="ctr">
              <a:buNone/>
            </a:pPr>
            <a:r>
              <a:rPr lang="en-US" sz="1150" b="1" dirty="0">
                <a:solidFill>
                  <a:srgbClr val="1B2A3A"/>
                </a:solidFill>
                <a:latin typeface="맑은 고딕" pitchFamily="34" charset="0"/>
                <a:ea typeface="맑은 고딕" pitchFamily="34" charset="-122"/>
                <a:cs typeface="맑은 고딕" pitchFamily="34" charset="-120"/>
              </a:rPr>
              <a:t>인증 · 불러오기</a:t>
            </a:r>
            <a:endParaRPr lang="en-US" sz="1150" dirty="0"/>
          </a:p>
        </p:txBody>
      </p:sp>
      <p:sp>
        <p:nvSpPr>
          <p:cNvPr id="11" name="Shape 7"/>
          <p:cNvSpPr/>
          <p:nvPr/>
        </p:nvSpPr>
        <p:spPr>
          <a:xfrm>
            <a:off x="1856232" y="1349248"/>
            <a:ext cx="201168" cy="201168"/>
          </a:xfrm>
          <a:prstGeom prst="rightArrow">
            <a:avLst/>
          </a:prstGeom>
          <a:solidFill>
            <a:srgbClr val="94A3B8"/>
          </a:solidFill>
          <a:ln w="12700">
            <a:solidFill>
              <a:srgbClr val="94A3B8"/>
            </a:solidFill>
            <a:prstDash val="solid"/>
          </a:ln>
        </p:spPr>
        <p:txBody>
          <a:bodyPr/>
          <a:lstStyle/>
          <a:p>
            <a:endParaRPr lang="ko-KR" altLang="en-US"/>
          </a:p>
        </p:txBody>
      </p:sp>
      <p:sp>
        <p:nvSpPr>
          <p:cNvPr id="12" name="Shape 8"/>
          <p:cNvSpPr/>
          <p:nvPr/>
        </p:nvSpPr>
        <p:spPr>
          <a:xfrm>
            <a:off x="2551176" y="1102360"/>
            <a:ext cx="685800" cy="685800"/>
          </a:xfrm>
          <a:prstGeom prst="ellipse">
            <a:avLst/>
          </a:prstGeom>
          <a:solidFill>
            <a:srgbClr val="DCE8F6"/>
          </a:solidFill>
          <a:ln w="12700">
            <a:solidFill>
              <a:srgbClr val="DCE8F6"/>
            </a:solidFill>
            <a:prstDash val="solid"/>
          </a:ln>
        </p:spPr>
        <p:txBody>
          <a:bodyPr/>
          <a:lstStyle/>
          <a:p>
            <a:endParaRPr lang="ko-KR" altLang="en-US"/>
          </a:p>
        </p:txBody>
      </p:sp>
      <p:pic>
        <p:nvPicPr>
          <p:cNvPr id="13" name="Image 1" descr="preencoded.png"/>
          <p:cNvPicPr>
            <a:picLocks noChangeAspect="1"/>
          </p:cNvPicPr>
          <p:nvPr/>
        </p:nvPicPr>
        <p:blipFill>
          <a:blip r:embed="rId4"/>
          <a:stretch>
            <a:fillRect/>
          </a:stretch>
        </p:blipFill>
        <p:spPr>
          <a:xfrm>
            <a:off x="2715768" y="1266952"/>
            <a:ext cx="356616" cy="356616"/>
          </a:xfrm>
          <a:prstGeom prst="rect">
            <a:avLst/>
          </a:prstGeom>
        </p:spPr>
      </p:pic>
      <p:sp>
        <p:nvSpPr>
          <p:cNvPr id="14" name="Text 9"/>
          <p:cNvSpPr txBox="1"/>
          <p:nvPr/>
        </p:nvSpPr>
        <p:spPr>
          <a:xfrm>
            <a:off x="2157984" y="1861312"/>
            <a:ext cx="1481328" cy="320040"/>
          </a:xfrm>
          <a:prstGeom prst="rect">
            <a:avLst/>
          </a:prstGeom>
          <a:noFill/>
          <a:ln/>
        </p:spPr>
        <p:txBody>
          <a:bodyPr wrap="square" lIns="0" tIns="0" rIns="0" bIns="0" rtlCol="0" anchor="ctr"/>
          <a:lstStyle/>
          <a:p>
            <a:pPr marL="0" indent="0" algn="ctr">
              <a:buNone/>
            </a:pPr>
            <a:r>
              <a:rPr lang="en-US" sz="1150" b="1" dirty="0">
                <a:solidFill>
                  <a:srgbClr val="1B2A3A"/>
                </a:solidFill>
                <a:latin typeface="맑은 고딕" pitchFamily="34" charset="0"/>
                <a:ea typeface="맑은 고딕" pitchFamily="34" charset="-122"/>
                <a:cs typeface="맑은 고딕" pitchFamily="34" charset="-120"/>
              </a:rPr>
              <a:t>한 문장 질문</a:t>
            </a:r>
            <a:endParaRPr lang="en-US" sz="1150" dirty="0"/>
          </a:p>
        </p:txBody>
      </p:sp>
      <p:sp>
        <p:nvSpPr>
          <p:cNvPr id="15" name="Shape 10"/>
          <p:cNvSpPr/>
          <p:nvPr/>
        </p:nvSpPr>
        <p:spPr>
          <a:xfrm>
            <a:off x="3557016" y="1349248"/>
            <a:ext cx="201168" cy="201168"/>
          </a:xfrm>
          <a:prstGeom prst="rightArrow">
            <a:avLst/>
          </a:prstGeom>
          <a:solidFill>
            <a:srgbClr val="94A3B8"/>
          </a:solidFill>
          <a:ln w="12700">
            <a:solidFill>
              <a:srgbClr val="94A3B8"/>
            </a:solidFill>
            <a:prstDash val="solid"/>
          </a:ln>
        </p:spPr>
        <p:txBody>
          <a:bodyPr/>
          <a:lstStyle/>
          <a:p>
            <a:endParaRPr lang="ko-KR" altLang="en-US"/>
          </a:p>
        </p:txBody>
      </p:sp>
      <p:sp>
        <p:nvSpPr>
          <p:cNvPr id="16" name="Shape 11"/>
          <p:cNvSpPr/>
          <p:nvPr/>
        </p:nvSpPr>
        <p:spPr>
          <a:xfrm>
            <a:off x="4251960" y="1102360"/>
            <a:ext cx="685800" cy="685800"/>
          </a:xfrm>
          <a:prstGeom prst="ellipse">
            <a:avLst/>
          </a:prstGeom>
          <a:solidFill>
            <a:srgbClr val="DCE8F6"/>
          </a:solidFill>
          <a:ln w="12700">
            <a:solidFill>
              <a:srgbClr val="DCE8F6"/>
            </a:solidFill>
            <a:prstDash val="solid"/>
          </a:ln>
        </p:spPr>
        <p:txBody>
          <a:bodyPr/>
          <a:lstStyle/>
          <a:p>
            <a:endParaRPr lang="ko-KR" altLang="en-US"/>
          </a:p>
        </p:txBody>
      </p:sp>
      <p:pic>
        <p:nvPicPr>
          <p:cNvPr id="17" name="Image 2" descr="preencoded.png"/>
          <p:cNvPicPr>
            <a:picLocks noChangeAspect="1"/>
          </p:cNvPicPr>
          <p:nvPr/>
        </p:nvPicPr>
        <p:blipFill>
          <a:blip r:embed="rId5"/>
          <a:stretch>
            <a:fillRect/>
          </a:stretch>
        </p:blipFill>
        <p:spPr>
          <a:xfrm>
            <a:off x="4416552" y="1266952"/>
            <a:ext cx="356616" cy="356616"/>
          </a:xfrm>
          <a:prstGeom prst="rect">
            <a:avLst/>
          </a:prstGeom>
        </p:spPr>
      </p:pic>
      <p:sp>
        <p:nvSpPr>
          <p:cNvPr id="18" name="Text 12"/>
          <p:cNvSpPr txBox="1"/>
          <p:nvPr/>
        </p:nvSpPr>
        <p:spPr>
          <a:xfrm>
            <a:off x="3858768" y="1861312"/>
            <a:ext cx="1481328" cy="320040"/>
          </a:xfrm>
          <a:prstGeom prst="rect">
            <a:avLst/>
          </a:prstGeom>
          <a:noFill/>
          <a:ln/>
        </p:spPr>
        <p:txBody>
          <a:bodyPr wrap="square" lIns="0" tIns="0" rIns="0" bIns="0" rtlCol="0" anchor="ctr"/>
          <a:lstStyle/>
          <a:p>
            <a:pPr marL="0" indent="0" algn="ctr">
              <a:buNone/>
            </a:pPr>
            <a:r>
              <a:rPr lang="en-US" sz="1150" b="1" dirty="0">
                <a:solidFill>
                  <a:srgbClr val="1B2A3A"/>
                </a:solidFill>
                <a:latin typeface="맑은 고딕" pitchFamily="34" charset="0"/>
                <a:ea typeface="맑은 고딕" pitchFamily="34" charset="-122"/>
                <a:cs typeface="맑은 고딕" pitchFamily="34" charset="-120"/>
              </a:rPr>
              <a:t>버튼 선택</a:t>
            </a:r>
            <a:endParaRPr lang="en-US" sz="1150" dirty="0"/>
          </a:p>
        </p:txBody>
      </p:sp>
      <p:sp>
        <p:nvSpPr>
          <p:cNvPr id="19" name="Shape 13"/>
          <p:cNvSpPr/>
          <p:nvPr/>
        </p:nvSpPr>
        <p:spPr>
          <a:xfrm>
            <a:off x="5257800" y="1349248"/>
            <a:ext cx="201168" cy="201168"/>
          </a:xfrm>
          <a:prstGeom prst="rightArrow">
            <a:avLst/>
          </a:prstGeom>
          <a:solidFill>
            <a:srgbClr val="94A3B8"/>
          </a:solidFill>
          <a:ln w="12700">
            <a:solidFill>
              <a:srgbClr val="94A3B8"/>
            </a:solidFill>
            <a:prstDash val="solid"/>
          </a:ln>
        </p:spPr>
        <p:txBody>
          <a:bodyPr/>
          <a:lstStyle/>
          <a:p>
            <a:endParaRPr lang="ko-KR" altLang="en-US"/>
          </a:p>
        </p:txBody>
      </p:sp>
      <p:sp>
        <p:nvSpPr>
          <p:cNvPr id="20" name="Shape 14"/>
          <p:cNvSpPr/>
          <p:nvPr/>
        </p:nvSpPr>
        <p:spPr>
          <a:xfrm>
            <a:off x="5952744" y="1102360"/>
            <a:ext cx="685800" cy="685800"/>
          </a:xfrm>
          <a:prstGeom prst="ellipse">
            <a:avLst/>
          </a:prstGeom>
          <a:solidFill>
            <a:srgbClr val="41659E"/>
          </a:solidFill>
          <a:ln w="12700">
            <a:solidFill>
              <a:srgbClr val="41659E"/>
            </a:solidFill>
            <a:prstDash val="solid"/>
          </a:ln>
        </p:spPr>
        <p:txBody>
          <a:bodyPr/>
          <a:lstStyle/>
          <a:p>
            <a:endParaRPr lang="ko-KR" altLang="en-US"/>
          </a:p>
        </p:txBody>
      </p:sp>
      <p:pic>
        <p:nvPicPr>
          <p:cNvPr id="21" name="Image 3" descr="preencoded.png"/>
          <p:cNvPicPr>
            <a:picLocks noChangeAspect="1"/>
          </p:cNvPicPr>
          <p:nvPr/>
        </p:nvPicPr>
        <p:blipFill>
          <a:blip r:embed="rId6"/>
          <a:stretch>
            <a:fillRect/>
          </a:stretch>
        </p:blipFill>
        <p:spPr>
          <a:xfrm>
            <a:off x="6117336" y="1266952"/>
            <a:ext cx="356616" cy="356616"/>
          </a:xfrm>
          <a:prstGeom prst="rect">
            <a:avLst/>
          </a:prstGeom>
        </p:spPr>
      </p:pic>
      <p:sp>
        <p:nvSpPr>
          <p:cNvPr id="22" name="Text 15"/>
          <p:cNvSpPr txBox="1"/>
          <p:nvPr/>
        </p:nvSpPr>
        <p:spPr>
          <a:xfrm>
            <a:off x="5559552" y="1861312"/>
            <a:ext cx="1481328" cy="320040"/>
          </a:xfrm>
          <a:prstGeom prst="rect">
            <a:avLst/>
          </a:prstGeom>
          <a:noFill/>
          <a:ln/>
        </p:spPr>
        <p:txBody>
          <a:bodyPr wrap="square" lIns="0" tIns="0" rIns="0" bIns="0" rtlCol="0" anchor="ctr"/>
          <a:lstStyle/>
          <a:p>
            <a:pPr marL="0" indent="0" algn="ctr">
              <a:buNone/>
            </a:pPr>
            <a:r>
              <a:rPr lang="en-US" sz="1150" b="1" dirty="0">
                <a:solidFill>
                  <a:srgbClr val="1B2A3A"/>
                </a:solidFill>
                <a:latin typeface="맑은 고딕" pitchFamily="34" charset="0"/>
                <a:ea typeface="맑은 고딕" pitchFamily="34" charset="-122"/>
                <a:cs typeface="맑은 고딕" pitchFamily="34" charset="-120"/>
              </a:rPr>
              <a:t>즉시 답변</a:t>
            </a:r>
            <a:endParaRPr lang="en-US" sz="1150" dirty="0"/>
          </a:p>
        </p:txBody>
      </p:sp>
      <p:sp>
        <p:nvSpPr>
          <p:cNvPr id="23" name="Shape 16"/>
          <p:cNvSpPr/>
          <p:nvPr/>
        </p:nvSpPr>
        <p:spPr>
          <a:xfrm>
            <a:off x="6958584" y="1349248"/>
            <a:ext cx="201168" cy="201168"/>
          </a:xfrm>
          <a:prstGeom prst="rightArrow">
            <a:avLst/>
          </a:prstGeom>
          <a:solidFill>
            <a:srgbClr val="94A3B8"/>
          </a:solidFill>
          <a:ln w="12700">
            <a:solidFill>
              <a:srgbClr val="94A3B8"/>
            </a:solidFill>
            <a:prstDash val="solid"/>
          </a:ln>
        </p:spPr>
        <p:txBody>
          <a:bodyPr/>
          <a:lstStyle/>
          <a:p>
            <a:endParaRPr lang="ko-KR" altLang="en-US"/>
          </a:p>
        </p:txBody>
      </p:sp>
      <p:sp>
        <p:nvSpPr>
          <p:cNvPr id="24" name="Shape 17"/>
          <p:cNvSpPr/>
          <p:nvPr/>
        </p:nvSpPr>
        <p:spPr>
          <a:xfrm>
            <a:off x="7653528" y="1102360"/>
            <a:ext cx="685800" cy="685800"/>
          </a:xfrm>
          <a:prstGeom prst="ellipse">
            <a:avLst/>
          </a:prstGeom>
          <a:solidFill>
            <a:srgbClr val="DCE8F6"/>
          </a:solidFill>
          <a:ln w="12700">
            <a:solidFill>
              <a:srgbClr val="DCE8F6"/>
            </a:solidFill>
            <a:prstDash val="solid"/>
          </a:ln>
        </p:spPr>
        <p:txBody>
          <a:bodyPr/>
          <a:lstStyle/>
          <a:p>
            <a:endParaRPr lang="ko-KR" altLang="en-US"/>
          </a:p>
        </p:txBody>
      </p:sp>
      <p:pic>
        <p:nvPicPr>
          <p:cNvPr id="25" name="Image 4" descr="preencoded.png"/>
          <p:cNvPicPr>
            <a:picLocks noChangeAspect="1"/>
          </p:cNvPicPr>
          <p:nvPr/>
        </p:nvPicPr>
        <p:blipFill>
          <a:blip r:embed="rId7"/>
          <a:stretch>
            <a:fillRect/>
          </a:stretch>
        </p:blipFill>
        <p:spPr>
          <a:xfrm>
            <a:off x="7818120" y="1266952"/>
            <a:ext cx="356616" cy="356616"/>
          </a:xfrm>
          <a:prstGeom prst="rect">
            <a:avLst/>
          </a:prstGeom>
        </p:spPr>
      </p:pic>
      <p:sp>
        <p:nvSpPr>
          <p:cNvPr id="26" name="Text 18"/>
          <p:cNvSpPr txBox="1"/>
          <p:nvPr/>
        </p:nvSpPr>
        <p:spPr>
          <a:xfrm>
            <a:off x="7260336" y="1861312"/>
            <a:ext cx="1481328" cy="320040"/>
          </a:xfrm>
          <a:prstGeom prst="rect">
            <a:avLst/>
          </a:prstGeom>
          <a:noFill/>
          <a:ln/>
        </p:spPr>
        <p:txBody>
          <a:bodyPr wrap="square" lIns="0" tIns="0" rIns="0" bIns="0" rtlCol="0" anchor="ctr"/>
          <a:lstStyle/>
          <a:p>
            <a:pPr marL="0" indent="0" algn="ctr">
              <a:buNone/>
            </a:pPr>
            <a:r>
              <a:rPr lang="en-US" sz="1150" b="1" dirty="0">
                <a:solidFill>
                  <a:srgbClr val="1B2A3A"/>
                </a:solidFill>
                <a:latin typeface="맑은 고딕" pitchFamily="34" charset="0"/>
                <a:ea typeface="맑은 고딕" pitchFamily="34" charset="-122"/>
                <a:cs typeface="맑은 고딕" pitchFamily="34" charset="-120"/>
              </a:rPr>
              <a:t>범위 밖 → 상담원</a:t>
            </a:r>
            <a:endParaRPr lang="en-US" sz="1150" dirty="0"/>
          </a:p>
        </p:txBody>
      </p:sp>
      <p:sp>
        <p:nvSpPr>
          <p:cNvPr id="27" name="Shape 19"/>
          <p:cNvSpPr/>
          <p:nvPr/>
        </p:nvSpPr>
        <p:spPr>
          <a:xfrm>
            <a:off x="457200" y="2565400"/>
            <a:ext cx="2606040" cy="1645920"/>
          </a:xfrm>
          <a:prstGeom prst="roundRect">
            <a:avLst>
              <a:gd name="adj" fmla="val 4444"/>
            </a:avLst>
          </a:prstGeom>
          <a:solidFill>
            <a:srgbClr val="F1F5F9"/>
          </a:solidFill>
          <a:ln w="12700">
            <a:solidFill>
              <a:srgbClr val="F1F5F9"/>
            </a:solidFill>
            <a:prstDash val="solid"/>
          </a:ln>
        </p:spPr>
        <p:txBody>
          <a:bodyPr/>
          <a:lstStyle/>
          <a:p>
            <a:endParaRPr lang="ko-KR" altLang="en-US"/>
          </a:p>
        </p:txBody>
      </p:sp>
      <p:pic>
        <p:nvPicPr>
          <p:cNvPr id="28" name="Image 5" descr="preencoded.png"/>
          <p:cNvPicPr>
            <a:picLocks noChangeAspect="1"/>
          </p:cNvPicPr>
          <p:nvPr/>
        </p:nvPicPr>
        <p:blipFill>
          <a:blip r:embed="rId8"/>
          <a:stretch>
            <a:fillRect/>
          </a:stretch>
        </p:blipFill>
        <p:spPr>
          <a:xfrm>
            <a:off x="640080" y="2748280"/>
            <a:ext cx="502920" cy="502920"/>
          </a:xfrm>
          <a:prstGeom prst="rect">
            <a:avLst/>
          </a:prstGeom>
        </p:spPr>
      </p:pic>
      <p:sp>
        <p:nvSpPr>
          <p:cNvPr id="29" name="Text 20"/>
          <p:cNvSpPr txBox="1"/>
          <p:nvPr/>
        </p:nvSpPr>
        <p:spPr>
          <a:xfrm>
            <a:off x="1280160" y="2748280"/>
            <a:ext cx="1645920" cy="256032"/>
          </a:xfrm>
          <a:prstGeom prst="rect">
            <a:avLst/>
          </a:prstGeom>
          <a:noFill/>
          <a:ln/>
        </p:spPr>
        <p:txBody>
          <a:bodyPr wrap="square" lIns="0" tIns="0" rIns="0" bIns="0" rtlCol="0" anchor="t"/>
          <a:lstStyle/>
          <a:p>
            <a:pPr marL="0" indent="0">
              <a:buNone/>
            </a:pPr>
            <a:r>
              <a:rPr lang="en-US" sz="1000" b="1" dirty="0">
                <a:solidFill>
                  <a:srgbClr val="41659E"/>
                </a:solidFill>
                <a:latin typeface="맑은 고딕" pitchFamily="34" charset="0"/>
                <a:ea typeface="맑은 고딕" pitchFamily="34" charset="-122"/>
                <a:cs typeface="맑은 고딕" pitchFamily="34" charset="-120"/>
              </a:rPr>
              <a:t>지금</a:t>
            </a:r>
            <a:endParaRPr lang="en-US" sz="1000" dirty="0"/>
          </a:p>
        </p:txBody>
      </p:sp>
      <p:sp>
        <p:nvSpPr>
          <p:cNvPr id="30" name="Text 21"/>
          <p:cNvSpPr txBox="1"/>
          <p:nvPr/>
        </p:nvSpPr>
        <p:spPr>
          <a:xfrm>
            <a:off x="640080" y="3388360"/>
            <a:ext cx="2286000" cy="736600"/>
          </a:xfrm>
          <a:prstGeom prst="rect">
            <a:avLst/>
          </a:prstGeom>
          <a:noFill/>
          <a:ln/>
        </p:spPr>
        <p:txBody>
          <a:bodyPr wrap="square" lIns="0" tIns="0" rIns="0" bIns="0" rtlCol="0" anchor="ctr"/>
          <a:lstStyle/>
          <a:p>
            <a:pPr marL="0" indent="0">
              <a:spcAft>
                <a:spcPts val="400"/>
              </a:spcAft>
              <a:buNone/>
            </a:pPr>
            <a:r>
              <a:rPr lang="en-US" sz="1350" b="1" dirty="0">
                <a:solidFill>
                  <a:srgbClr val="1B2A3A"/>
                </a:solidFill>
                <a:latin typeface="맑은 고딕" pitchFamily="34" charset="0"/>
                <a:ea typeface="맑은 고딕" pitchFamily="34" charset="-122"/>
                <a:cs typeface="맑은 고딕" pitchFamily="34" charset="-120"/>
              </a:rPr>
              <a:t>웹 챗봇에서 텍스트 조회</a:t>
            </a:r>
            <a:endParaRPr lang="en-US" sz="1350" dirty="0"/>
          </a:p>
          <a:p>
            <a:pPr marL="0" indent="0">
              <a:buNone/>
            </a:pPr>
            <a:r>
              <a:rPr lang="ko-KR" sz="1050" dirty="0">
                <a:solidFill>
                  <a:srgbClr val="475569"/>
                </a:solidFill>
                <a:latin typeface="맑은 고딕" pitchFamily="34" charset="0"/>
                <a:ea typeface="맑은 고딕" pitchFamily="34" charset="-122"/>
                <a:cs typeface="맑은 고딕" pitchFamily="34" charset="-120"/>
              </a:rPr>
              <a:t>가상 데이터 · 텍스트 대화</a:t>
            </a:r>
            <a:endParaRPr lang="en-US" sz="1050" dirty="0"/>
          </a:p>
        </p:txBody>
      </p:sp>
      <p:sp>
        <p:nvSpPr>
          <p:cNvPr id="31" name="Shape 22"/>
          <p:cNvSpPr/>
          <p:nvPr/>
        </p:nvSpPr>
        <p:spPr>
          <a:xfrm>
            <a:off x="3090672" y="3278632"/>
            <a:ext cx="128016" cy="128016"/>
          </a:xfrm>
          <a:prstGeom prst="rightArrow">
            <a:avLst/>
          </a:prstGeom>
          <a:solidFill>
            <a:srgbClr val="94A3B8"/>
          </a:solidFill>
          <a:ln w="12700">
            <a:solidFill>
              <a:srgbClr val="94A3B8"/>
            </a:solidFill>
            <a:prstDash val="solid"/>
          </a:ln>
        </p:spPr>
        <p:txBody>
          <a:bodyPr/>
          <a:lstStyle/>
          <a:p>
            <a:endParaRPr lang="ko-KR" altLang="en-US"/>
          </a:p>
        </p:txBody>
      </p:sp>
      <p:sp>
        <p:nvSpPr>
          <p:cNvPr id="32" name="Shape 23"/>
          <p:cNvSpPr/>
          <p:nvPr/>
        </p:nvSpPr>
        <p:spPr>
          <a:xfrm>
            <a:off x="3246120" y="2565400"/>
            <a:ext cx="2606040" cy="1645920"/>
          </a:xfrm>
          <a:prstGeom prst="roundRect">
            <a:avLst>
              <a:gd name="adj" fmla="val 4444"/>
            </a:avLst>
          </a:prstGeom>
          <a:solidFill>
            <a:srgbClr val="F1F5F9"/>
          </a:solidFill>
          <a:ln w="12700">
            <a:solidFill>
              <a:srgbClr val="F1F5F9"/>
            </a:solidFill>
            <a:prstDash val="solid"/>
          </a:ln>
        </p:spPr>
        <p:txBody>
          <a:bodyPr/>
          <a:lstStyle/>
          <a:p>
            <a:endParaRPr lang="ko-KR" altLang="en-US"/>
          </a:p>
        </p:txBody>
      </p:sp>
      <p:pic>
        <p:nvPicPr>
          <p:cNvPr id="33" name="Image 6" descr="preencoded.png"/>
          <p:cNvPicPr>
            <a:picLocks noChangeAspect="1"/>
          </p:cNvPicPr>
          <p:nvPr/>
        </p:nvPicPr>
        <p:blipFill>
          <a:blip r:embed="rId9"/>
          <a:stretch>
            <a:fillRect/>
          </a:stretch>
        </p:blipFill>
        <p:spPr>
          <a:xfrm>
            <a:off x="3429000" y="2748280"/>
            <a:ext cx="502920" cy="502920"/>
          </a:xfrm>
          <a:prstGeom prst="rect">
            <a:avLst/>
          </a:prstGeom>
        </p:spPr>
      </p:pic>
      <p:sp>
        <p:nvSpPr>
          <p:cNvPr id="34" name="Text 24"/>
          <p:cNvSpPr txBox="1"/>
          <p:nvPr/>
        </p:nvSpPr>
        <p:spPr>
          <a:xfrm>
            <a:off x="4069080" y="2748280"/>
            <a:ext cx="1645920" cy="256032"/>
          </a:xfrm>
          <a:prstGeom prst="rect">
            <a:avLst/>
          </a:prstGeom>
          <a:noFill/>
          <a:ln/>
        </p:spPr>
        <p:txBody>
          <a:bodyPr wrap="square" lIns="0" tIns="0" rIns="0" bIns="0" rtlCol="0" anchor="t"/>
          <a:lstStyle/>
          <a:p>
            <a:pPr marL="0" indent="0">
              <a:buNone/>
            </a:pPr>
            <a:r>
              <a:rPr lang="en-US" sz="1000" b="1" dirty="0">
                <a:solidFill>
                  <a:srgbClr val="41659E"/>
                </a:solidFill>
                <a:latin typeface="맑은 고딕" pitchFamily="34" charset="0"/>
                <a:ea typeface="맑은 고딕" pitchFamily="34" charset="-122"/>
                <a:cs typeface="맑은 고딕" pitchFamily="34" charset="-120"/>
              </a:rPr>
              <a:t>다음</a:t>
            </a:r>
            <a:endParaRPr lang="en-US" sz="1000" dirty="0"/>
          </a:p>
        </p:txBody>
      </p:sp>
      <p:sp>
        <p:nvSpPr>
          <p:cNvPr id="35" name="Text 25"/>
          <p:cNvSpPr txBox="1"/>
          <p:nvPr/>
        </p:nvSpPr>
        <p:spPr>
          <a:xfrm>
            <a:off x="3429000" y="3388360"/>
            <a:ext cx="2286000" cy="736600"/>
          </a:xfrm>
          <a:prstGeom prst="rect">
            <a:avLst/>
          </a:prstGeom>
          <a:noFill/>
          <a:ln/>
        </p:spPr>
        <p:txBody>
          <a:bodyPr wrap="square" lIns="0" tIns="0" rIns="0" bIns="0" rtlCol="0" anchor="ctr"/>
          <a:lstStyle/>
          <a:p>
            <a:pPr marL="0" indent="0">
              <a:spcAft>
                <a:spcPts val="400"/>
              </a:spcAft>
              <a:buNone/>
            </a:pPr>
            <a:r>
              <a:rPr lang="en-US" sz="1350" b="1" dirty="0">
                <a:solidFill>
                  <a:srgbClr val="1B2A3A"/>
                </a:solidFill>
                <a:latin typeface="맑은 고딕" pitchFamily="34" charset="0"/>
                <a:ea typeface="맑은 고딕" pitchFamily="34" charset="-122"/>
                <a:cs typeface="맑은 고딕" pitchFamily="34" charset="-120"/>
              </a:rPr>
              <a:t>온디바이스 AI 에이전트 연동</a:t>
            </a:r>
            <a:endParaRPr lang="en-US" sz="1350" dirty="0"/>
          </a:p>
          <a:p>
            <a:pPr marL="0" indent="0">
              <a:buNone/>
            </a:pPr>
            <a:r>
              <a:rPr lang="ko-KR" sz="1050" dirty="0">
                <a:solidFill>
                  <a:srgbClr val="475569"/>
                </a:solidFill>
                <a:latin typeface="맑은 고딕" pitchFamily="34" charset="0"/>
                <a:ea typeface="맑은 고딕" pitchFamily="34" charset="-122"/>
                <a:cs typeface="맑은 고딕" pitchFamily="34" charset="-120"/>
              </a:rPr>
              <a:t>마스킹 문장만 전달, 값은 기기에서 채움 · 음성(STT·TTS) 추가</a:t>
            </a:r>
            <a:endParaRPr lang="en-US" sz="1050" dirty="0"/>
          </a:p>
        </p:txBody>
      </p:sp>
      <p:sp>
        <p:nvSpPr>
          <p:cNvPr id="36" name="Shape 26"/>
          <p:cNvSpPr/>
          <p:nvPr/>
        </p:nvSpPr>
        <p:spPr>
          <a:xfrm>
            <a:off x="5879592" y="3278632"/>
            <a:ext cx="128016" cy="128016"/>
          </a:xfrm>
          <a:prstGeom prst="rightArrow">
            <a:avLst/>
          </a:prstGeom>
          <a:solidFill>
            <a:srgbClr val="94A3B8"/>
          </a:solidFill>
          <a:ln w="12700">
            <a:solidFill>
              <a:srgbClr val="94A3B8"/>
            </a:solidFill>
            <a:prstDash val="solid"/>
          </a:ln>
        </p:spPr>
        <p:txBody>
          <a:bodyPr/>
          <a:lstStyle/>
          <a:p>
            <a:endParaRPr lang="ko-KR" altLang="en-US"/>
          </a:p>
        </p:txBody>
      </p:sp>
      <p:sp>
        <p:nvSpPr>
          <p:cNvPr id="37" name="Shape 27"/>
          <p:cNvSpPr/>
          <p:nvPr/>
        </p:nvSpPr>
        <p:spPr>
          <a:xfrm>
            <a:off x="6035040" y="2565400"/>
            <a:ext cx="2606040" cy="1645920"/>
          </a:xfrm>
          <a:prstGeom prst="roundRect">
            <a:avLst>
              <a:gd name="adj" fmla="val 4444"/>
            </a:avLst>
          </a:prstGeom>
          <a:solidFill>
            <a:srgbClr val="1B2A3A"/>
          </a:solidFill>
          <a:ln w="12700">
            <a:solidFill>
              <a:srgbClr val="1B2A3A"/>
            </a:solidFill>
            <a:prstDash val="solid"/>
          </a:ln>
        </p:spPr>
        <p:txBody>
          <a:bodyPr/>
          <a:lstStyle/>
          <a:p>
            <a:endParaRPr lang="ko-KR" altLang="en-US"/>
          </a:p>
        </p:txBody>
      </p:sp>
      <p:pic>
        <p:nvPicPr>
          <p:cNvPr id="38" name="Image 7" descr="preencoded.png"/>
          <p:cNvPicPr>
            <a:picLocks noChangeAspect="1"/>
          </p:cNvPicPr>
          <p:nvPr/>
        </p:nvPicPr>
        <p:blipFill>
          <a:blip r:embed="rId10"/>
          <a:stretch>
            <a:fillRect/>
          </a:stretch>
        </p:blipFill>
        <p:spPr>
          <a:xfrm>
            <a:off x="6217920" y="2748280"/>
            <a:ext cx="502920" cy="502920"/>
          </a:xfrm>
          <a:prstGeom prst="rect">
            <a:avLst/>
          </a:prstGeom>
        </p:spPr>
      </p:pic>
      <p:sp>
        <p:nvSpPr>
          <p:cNvPr id="39" name="Text 28"/>
          <p:cNvSpPr txBox="1"/>
          <p:nvPr/>
        </p:nvSpPr>
        <p:spPr>
          <a:xfrm>
            <a:off x="6858000" y="2748280"/>
            <a:ext cx="1645920" cy="256032"/>
          </a:xfrm>
          <a:prstGeom prst="rect">
            <a:avLst/>
          </a:prstGeom>
          <a:noFill/>
          <a:ln/>
        </p:spPr>
        <p:txBody>
          <a:bodyPr wrap="square" lIns="0" tIns="0" rIns="0" bIns="0" rtlCol="0" anchor="t"/>
          <a:lstStyle/>
          <a:p>
            <a:pPr marL="0" indent="0">
              <a:buNone/>
            </a:pPr>
            <a:r>
              <a:rPr lang="en-US" sz="1000" b="1" dirty="0">
                <a:solidFill>
                  <a:srgbClr val="F2C94C"/>
                </a:solidFill>
                <a:latin typeface="맑은 고딕" pitchFamily="34" charset="0"/>
                <a:ea typeface="맑은 고딕" pitchFamily="34" charset="-122"/>
                <a:cs typeface="맑은 고딕" pitchFamily="34" charset="-120"/>
              </a:rPr>
              <a:t>목표</a:t>
            </a:r>
            <a:endParaRPr lang="en-US" sz="1000" dirty="0"/>
          </a:p>
        </p:txBody>
      </p:sp>
      <p:sp>
        <p:nvSpPr>
          <p:cNvPr id="40" name="Text 29"/>
          <p:cNvSpPr txBox="1"/>
          <p:nvPr/>
        </p:nvSpPr>
        <p:spPr>
          <a:xfrm>
            <a:off x="6217920" y="3388360"/>
            <a:ext cx="2286000" cy="736600"/>
          </a:xfrm>
          <a:prstGeom prst="rect">
            <a:avLst/>
          </a:prstGeom>
          <a:noFill/>
          <a:ln/>
        </p:spPr>
        <p:txBody>
          <a:bodyPr wrap="square" lIns="0" tIns="0" rIns="0" bIns="0" rtlCol="0" anchor="ctr"/>
          <a:lstStyle/>
          <a:p>
            <a:pPr marL="0" indent="0">
              <a:spcAft>
                <a:spcPts val="400"/>
              </a:spcAft>
              <a:buNone/>
            </a:pPr>
            <a:r>
              <a:rPr lang="en-US" sz="1350" b="1" dirty="0">
                <a:solidFill>
                  <a:srgbClr val="FFFFFF"/>
                </a:solidFill>
                <a:latin typeface="맑은 고딕" pitchFamily="34" charset="0"/>
                <a:ea typeface="맑은 고딕" pitchFamily="34" charset="-122"/>
                <a:cs typeface="맑은 고딕" pitchFamily="34" charset="-120"/>
              </a:rPr>
              <a:t>버튼 한 번, 음성으로 조회</a:t>
            </a:r>
            <a:endParaRPr lang="en-US" sz="1350" dirty="0"/>
          </a:p>
          <a:p>
            <a:pPr marL="0" indent="0">
              <a:buNone/>
            </a:pPr>
            <a:r>
              <a:rPr lang="ko-KR" sz="1050" dirty="0">
                <a:solidFill>
                  <a:srgbClr val="CBD5E1"/>
                </a:solidFill>
                <a:latin typeface="맑은 고딕" pitchFamily="34" charset="0"/>
                <a:ea typeface="맑은 고딕" pitchFamily="34" charset="-122"/>
                <a:cs typeface="맑은 고딕" pitchFamily="34" charset="-120"/>
              </a:rPr>
              <a:t>앱 없이 어르신·시각장애인도 조회</a:t>
            </a:r>
            <a:endParaRPr lang="en-US" sz="1050" dirty="0"/>
          </a:p>
        </p:txBody>
      </p:sp>
    </p:spTree>
    <p:extLst>
      <p:ext uri="{BB962C8B-B14F-4D97-AF65-F5344CB8AC3E}">
        <p14:creationId xmlns:p14="http://schemas.microsoft.com/office/powerpoint/2010/main" val="1844425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52400"/>
            <a:ext cx="4572000" cy="177800"/>
          </a:xfrm>
          <a:prstGeom prst="rect">
            <a:avLst/>
          </a:prstGeom>
          <a:noFill/>
          <a:ln/>
        </p:spPr>
        <p:txBody>
          <a:bodyPr wrap="square" lIns="0" tIns="0" rIns="0" bIns="0" rtlCol="0" anchor="t"/>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02  서비스 경험</a:t>
            </a:r>
            <a:endParaRPr lang="en-US" sz="900" dirty="0"/>
          </a:p>
        </p:txBody>
      </p:sp>
      <p:sp>
        <p:nvSpPr>
          <p:cNvPr id="4" name="Text 2"/>
          <p:cNvSpPr txBox="1"/>
          <p:nvPr/>
        </p:nvSpPr>
        <p:spPr>
          <a:xfrm>
            <a:off x="457200" y="330200"/>
            <a:ext cx="8229600" cy="355600"/>
          </a:xfrm>
          <a:prstGeom prst="rect">
            <a:avLst/>
          </a:prstGeom>
          <a:noFill/>
          <a:ln/>
        </p:spPr>
        <p:txBody>
          <a:bodyPr wrap="square" lIns="0" tIns="0" rIns="0" bIns="0" rtlCol="0" anchor="ctr"/>
          <a:lstStyle/>
          <a:p>
            <a:pPr marL="0" indent="0">
              <a:buNone/>
            </a:pPr>
            <a:r>
              <a:rPr lang="en-US" sz="2000" b="1" dirty="0">
                <a:solidFill>
                  <a:srgbClr val="1B2A3A"/>
                </a:solidFill>
                <a:latin typeface="맑은 고딕" pitchFamily="34" charset="0"/>
                <a:ea typeface="맑은 고딕" pitchFamily="34" charset="-122"/>
                <a:cs typeface="맑은 고딕" pitchFamily="34" charset="-120"/>
              </a:rPr>
              <a:t>플레이 시나리오</a:t>
            </a:r>
            <a:endParaRPr lang="en-US" sz="2000" dirty="0"/>
          </a:p>
        </p:txBody>
      </p:sp>
      <p:sp>
        <p:nvSpPr>
          <p:cNvPr id="6" name="Text 4"/>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8</a:t>
            </a:r>
            <a:endParaRPr lang="en-US" sz="850" dirty="0"/>
          </a:p>
        </p:txBody>
      </p:sp>
      <p:grpSp>
        <p:nvGrpSpPr>
          <p:cNvPr id="7" name="그룹 6">
            <a:extLst>
              <a:ext uri="{FF2B5EF4-FFF2-40B4-BE49-F238E27FC236}">
                <a16:creationId xmlns:a16="http://schemas.microsoft.com/office/drawing/2014/main" id="{B7E1CD7C-0D20-C2C0-C615-E7ECBE6C5C94}"/>
              </a:ext>
            </a:extLst>
          </p:cNvPr>
          <p:cNvGrpSpPr/>
          <p:nvPr/>
        </p:nvGrpSpPr>
        <p:grpSpPr>
          <a:xfrm>
            <a:off x="457200" y="1056640"/>
            <a:ext cx="4869180" cy="3355847"/>
            <a:chOff x="4975860" y="1056640"/>
            <a:chExt cx="4869180" cy="3355847"/>
          </a:xfrm>
        </p:grpSpPr>
        <p:sp>
          <p:nvSpPr>
            <p:cNvPr id="9" name="Shape 5"/>
            <p:cNvSpPr/>
            <p:nvPr/>
          </p:nvSpPr>
          <p:spPr>
            <a:xfrm>
              <a:off x="4975860" y="1056640"/>
              <a:ext cx="3710940" cy="749808"/>
            </a:xfrm>
            <a:prstGeom prst="roundRect">
              <a:avLst>
                <a:gd name="adj" fmla="val 9756"/>
              </a:avLst>
            </a:prstGeom>
            <a:solidFill>
              <a:srgbClr val="DCE8F6"/>
            </a:solidFill>
            <a:ln w="12700">
              <a:solidFill>
                <a:srgbClr val="DCE8F6"/>
              </a:solidFill>
              <a:prstDash val="solid"/>
            </a:ln>
          </p:spPr>
          <p:txBody>
            <a:bodyPr/>
            <a:lstStyle/>
            <a:p>
              <a:endParaRPr lang="ko-KR" altLang="en-US" dirty="0"/>
            </a:p>
          </p:txBody>
        </p:sp>
        <p:sp>
          <p:nvSpPr>
            <p:cNvPr id="10" name="Shape 6"/>
            <p:cNvSpPr/>
            <p:nvPr/>
          </p:nvSpPr>
          <p:spPr>
            <a:xfrm>
              <a:off x="5177394" y="1184656"/>
              <a:ext cx="493776" cy="493776"/>
            </a:xfrm>
            <a:prstGeom prst="ellipse">
              <a:avLst/>
            </a:prstGeom>
            <a:solidFill>
              <a:srgbClr val="41659E"/>
            </a:solidFill>
            <a:ln w="12700">
              <a:solidFill>
                <a:srgbClr val="41659E"/>
              </a:solidFill>
              <a:prstDash val="solid"/>
            </a:ln>
          </p:spPr>
          <p:txBody>
            <a:bodyPr/>
            <a:lstStyle/>
            <a:p>
              <a:endParaRPr lang="ko-KR" altLang="en-US"/>
            </a:p>
          </p:txBody>
        </p:sp>
        <p:pic>
          <p:nvPicPr>
            <p:cNvPr id="11" name="Image 1" descr="preencoded.png"/>
            <p:cNvPicPr>
              <a:picLocks noChangeAspect="1"/>
            </p:cNvPicPr>
            <p:nvPr/>
          </p:nvPicPr>
          <p:blipFill>
            <a:blip r:embed="rId3"/>
            <a:stretch>
              <a:fillRect/>
            </a:stretch>
          </p:blipFill>
          <p:spPr>
            <a:xfrm>
              <a:off x="5295900" y="1303161"/>
              <a:ext cx="256764" cy="256764"/>
            </a:xfrm>
            <a:prstGeom prst="rect">
              <a:avLst/>
            </a:prstGeom>
          </p:spPr>
        </p:pic>
        <p:sp>
          <p:nvSpPr>
            <p:cNvPr id="12" name="Text 7"/>
            <p:cNvSpPr txBox="1"/>
            <p:nvPr/>
          </p:nvSpPr>
          <p:spPr>
            <a:xfrm>
              <a:off x="6004560" y="1129792"/>
              <a:ext cx="3840480" cy="310896"/>
            </a:xfrm>
            <a:prstGeom prst="rect">
              <a:avLst/>
            </a:prstGeom>
            <a:noFill/>
            <a:ln/>
          </p:spPr>
          <p:txBody>
            <a:bodyPr wrap="square" lIns="0" tIns="0" rIns="0" bIns="0" rtlCol="0" anchor="ctr"/>
            <a:lstStyle/>
            <a:p>
              <a:pPr marL="0" indent="0">
                <a:buNone/>
              </a:pPr>
              <a:r>
                <a:rPr lang="en-US" sz="1250" b="1" dirty="0">
                  <a:solidFill>
                    <a:srgbClr val="1B2A3A"/>
                  </a:solidFill>
                  <a:latin typeface="맑은 고딕" pitchFamily="34" charset="0"/>
                  <a:ea typeface="맑은 고딕" pitchFamily="34" charset="-122"/>
                  <a:cs typeface="맑은 고딕" pitchFamily="34" charset="-120"/>
                </a:rPr>
                <a:t>복합 문의 → 되묻기</a:t>
              </a:r>
              <a:endParaRPr lang="en-US" sz="1250" dirty="0"/>
            </a:p>
          </p:txBody>
        </p:sp>
        <p:sp>
          <p:nvSpPr>
            <p:cNvPr id="13" name="Text 8"/>
            <p:cNvSpPr txBox="1"/>
            <p:nvPr/>
          </p:nvSpPr>
          <p:spPr>
            <a:xfrm>
              <a:off x="6004560" y="1440688"/>
              <a:ext cx="3840480" cy="274320"/>
            </a:xfrm>
            <a:prstGeom prst="rect">
              <a:avLst/>
            </a:prstGeom>
            <a:noFill/>
            <a:ln/>
          </p:spPr>
          <p:txBody>
            <a:bodyPr wrap="square" lIns="0" tIns="0" rIns="0" bIns="0" rtlCol="0" anchor="ctr"/>
            <a:lstStyle/>
            <a:p>
              <a:pPr marL="0" indent="0">
                <a:buNone/>
              </a:pPr>
              <a:r>
                <a:rPr lang="en-US" sz="1000" dirty="0">
                  <a:solidFill>
                    <a:srgbClr val="64748B"/>
                  </a:solidFill>
                  <a:latin typeface="맑은 고딕" pitchFamily="34" charset="0"/>
                  <a:ea typeface="맑은 고딕" pitchFamily="34" charset="-122"/>
                  <a:cs typeface="맑은 고딕" pitchFamily="34" charset="-120"/>
                </a:rPr>
                <a:t>대출 잔액이랑 이자 얼마 남았어요?</a:t>
              </a:r>
              <a:endParaRPr lang="en-US" sz="1000" dirty="0"/>
            </a:p>
          </p:txBody>
        </p:sp>
        <p:sp>
          <p:nvSpPr>
            <p:cNvPr id="14" name="Shape 9"/>
            <p:cNvSpPr/>
            <p:nvPr/>
          </p:nvSpPr>
          <p:spPr>
            <a:xfrm>
              <a:off x="4975860" y="1925320"/>
              <a:ext cx="3710940" cy="749808"/>
            </a:xfrm>
            <a:prstGeom prst="roundRect">
              <a:avLst>
                <a:gd name="adj" fmla="val 9756"/>
              </a:avLst>
            </a:prstGeom>
            <a:solidFill>
              <a:srgbClr val="DCE8F6"/>
            </a:solidFill>
            <a:ln w="12700">
              <a:solidFill>
                <a:srgbClr val="DCE8F6"/>
              </a:solidFill>
              <a:prstDash val="solid"/>
            </a:ln>
          </p:spPr>
          <p:txBody>
            <a:bodyPr/>
            <a:lstStyle/>
            <a:p>
              <a:endParaRPr lang="ko-KR" altLang="en-US"/>
            </a:p>
          </p:txBody>
        </p:sp>
        <p:sp>
          <p:nvSpPr>
            <p:cNvPr id="15" name="Shape 10"/>
            <p:cNvSpPr/>
            <p:nvPr/>
          </p:nvSpPr>
          <p:spPr>
            <a:xfrm>
              <a:off x="5177394" y="2053336"/>
              <a:ext cx="493776" cy="493776"/>
            </a:xfrm>
            <a:prstGeom prst="ellipse">
              <a:avLst/>
            </a:prstGeom>
            <a:solidFill>
              <a:srgbClr val="41659E"/>
            </a:solidFill>
            <a:ln w="12700">
              <a:solidFill>
                <a:srgbClr val="41659E"/>
              </a:solidFill>
              <a:prstDash val="solid"/>
            </a:ln>
          </p:spPr>
          <p:txBody>
            <a:bodyPr/>
            <a:lstStyle/>
            <a:p>
              <a:endParaRPr lang="ko-KR" altLang="en-US"/>
            </a:p>
          </p:txBody>
        </p:sp>
        <p:pic>
          <p:nvPicPr>
            <p:cNvPr id="16" name="Image 2" descr="preencoded.png"/>
            <p:cNvPicPr>
              <a:picLocks noChangeAspect="1"/>
            </p:cNvPicPr>
            <p:nvPr/>
          </p:nvPicPr>
          <p:blipFill>
            <a:blip r:embed="rId4"/>
            <a:stretch>
              <a:fillRect/>
            </a:stretch>
          </p:blipFill>
          <p:spPr>
            <a:xfrm>
              <a:off x="5295900" y="2171841"/>
              <a:ext cx="256764" cy="256764"/>
            </a:xfrm>
            <a:prstGeom prst="rect">
              <a:avLst/>
            </a:prstGeom>
          </p:spPr>
        </p:pic>
        <p:sp>
          <p:nvSpPr>
            <p:cNvPr id="17" name="Text 11"/>
            <p:cNvSpPr txBox="1"/>
            <p:nvPr/>
          </p:nvSpPr>
          <p:spPr>
            <a:xfrm>
              <a:off x="6004560" y="1998472"/>
              <a:ext cx="3840480" cy="310896"/>
            </a:xfrm>
            <a:prstGeom prst="rect">
              <a:avLst/>
            </a:prstGeom>
            <a:noFill/>
            <a:ln/>
          </p:spPr>
          <p:txBody>
            <a:bodyPr wrap="square" lIns="0" tIns="0" rIns="0" bIns="0" rtlCol="0" anchor="ctr"/>
            <a:lstStyle/>
            <a:p>
              <a:pPr marL="0" indent="0">
                <a:buNone/>
              </a:pPr>
              <a:r>
                <a:rPr lang="en-US" sz="1250" b="1" dirty="0">
                  <a:solidFill>
                    <a:srgbClr val="1B2A3A"/>
                  </a:solidFill>
                  <a:latin typeface="맑은 고딕" pitchFamily="34" charset="0"/>
                  <a:ea typeface="맑은 고딕" pitchFamily="34" charset="-122"/>
                  <a:cs typeface="맑은 고딕" pitchFamily="34" charset="-120"/>
                </a:rPr>
                <a:t>바로 조회</a:t>
              </a:r>
              <a:endParaRPr lang="en-US" sz="1250" dirty="0"/>
            </a:p>
          </p:txBody>
        </p:sp>
        <p:sp>
          <p:nvSpPr>
            <p:cNvPr id="18" name="Text 12"/>
            <p:cNvSpPr txBox="1"/>
            <p:nvPr/>
          </p:nvSpPr>
          <p:spPr>
            <a:xfrm>
              <a:off x="6004560" y="2309368"/>
              <a:ext cx="3840480" cy="274320"/>
            </a:xfrm>
            <a:prstGeom prst="rect">
              <a:avLst/>
            </a:prstGeom>
            <a:noFill/>
            <a:ln/>
          </p:spPr>
          <p:txBody>
            <a:bodyPr wrap="square" lIns="0" tIns="0" rIns="0" bIns="0" rtlCol="0" anchor="ctr"/>
            <a:lstStyle/>
            <a:p>
              <a:pPr marL="0" indent="0">
                <a:buNone/>
              </a:pPr>
              <a:r>
                <a:rPr lang="en-US" sz="1000" dirty="0">
                  <a:solidFill>
                    <a:srgbClr val="64748B"/>
                  </a:solidFill>
                  <a:latin typeface="맑은 고딕" pitchFamily="34" charset="0"/>
                  <a:ea typeface="맑은 고딕" pitchFamily="34" charset="-122"/>
                  <a:cs typeface="맑은 고딕" pitchFamily="34" charset="-120"/>
                </a:rPr>
                <a:t>연체 금액 625,000원 · 다음 납부일</a:t>
              </a:r>
              <a:endParaRPr lang="en-US" sz="1000" dirty="0"/>
            </a:p>
          </p:txBody>
        </p:sp>
        <p:sp>
          <p:nvSpPr>
            <p:cNvPr id="19" name="Shape 13"/>
            <p:cNvSpPr/>
            <p:nvPr/>
          </p:nvSpPr>
          <p:spPr>
            <a:xfrm>
              <a:off x="4975860" y="2794000"/>
              <a:ext cx="3710940" cy="749808"/>
            </a:xfrm>
            <a:prstGeom prst="roundRect">
              <a:avLst>
                <a:gd name="adj" fmla="val 9756"/>
              </a:avLst>
            </a:prstGeom>
            <a:solidFill>
              <a:srgbClr val="DCE8F6"/>
            </a:solidFill>
            <a:ln w="12700">
              <a:solidFill>
                <a:srgbClr val="DCE8F6"/>
              </a:solidFill>
              <a:prstDash val="solid"/>
            </a:ln>
          </p:spPr>
          <p:txBody>
            <a:bodyPr/>
            <a:lstStyle/>
            <a:p>
              <a:endParaRPr lang="ko-KR" altLang="en-US"/>
            </a:p>
          </p:txBody>
        </p:sp>
        <p:sp>
          <p:nvSpPr>
            <p:cNvPr id="20" name="Shape 14"/>
            <p:cNvSpPr/>
            <p:nvPr/>
          </p:nvSpPr>
          <p:spPr>
            <a:xfrm>
              <a:off x="5177394" y="2922016"/>
              <a:ext cx="493776" cy="493776"/>
            </a:xfrm>
            <a:prstGeom prst="ellipse">
              <a:avLst/>
            </a:prstGeom>
            <a:solidFill>
              <a:srgbClr val="41659E"/>
            </a:solidFill>
            <a:ln w="12700">
              <a:solidFill>
                <a:srgbClr val="41659E"/>
              </a:solidFill>
              <a:prstDash val="solid"/>
            </a:ln>
          </p:spPr>
          <p:txBody>
            <a:bodyPr/>
            <a:lstStyle/>
            <a:p>
              <a:endParaRPr lang="ko-KR" altLang="en-US"/>
            </a:p>
          </p:txBody>
        </p:sp>
        <p:pic>
          <p:nvPicPr>
            <p:cNvPr id="21" name="Image 3" descr="preencoded.png"/>
            <p:cNvPicPr>
              <a:picLocks noChangeAspect="1"/>
            </p:cNvPicPr>
            <p:nvPr/>
          </p:nvPicPr>
          <p:blipFill>
            <a:blip r:embed="rId5"/>
            <a:stretch>
              <a:fillRect/>
            </a:stretch>
          </p:blipFill>
          <p:spPr>
            <a:xfrm>
              <a:off x="5295900" y="3040521"/>
              <a:ext cx="256764" cy="256764"/>
            </a:xfrm>
            <a:prstGeom prst="rect">
              <a:avLst/>
            </a:prstGeom>
          </p:spPr>
        </p:pic>
        <p:sp>
          <p:nvSpPr>
            <p:cNvPr id="22" name="Text 15"/>
            <p:cNvSpPr txBox="1"/>
            <p:nvPr/>
          </p:nvSpPr>
          <p:spPr>
            <a:xfrm>
              <a:off x="6004560" y="2867152"/>
              <a:ext cx="3840480" cy="310896"/>
            </a:xfrm>
            <a:prstGeom prst="rect">
              <a:avLst/>
            </a:prstGeom>
            <a:noFill/>
            <a:ln/>
          </p:spPr>
          <p:txBody>
            <a:bodyPr wrap="square" lIns="0" tIns="0" rIns="0" bIns="0" rtlCol="0" anchor="ctr"/>
            <a:lstStyle/>
            <a:p>
              <a:pPr marL="0" indent="0">
                <a:buNone/>
              </a:pPr>
              <a:r>
                <a:rPr lang="en-US" sz="1250" b="1" dirty="0">
                  <a:solidFill>
                    <a:srgbClr val="1B2A3A"/>
                  </a:solidFill>
                  <a:latin typeface="맑은 고딕" pitchFamily="34" charset="0"/>
                  <a:ea typeface="맑은 고딕" pitchFamily="34" charset="-122"/>
                  <a:cs typeface="맑은 고딕" pitchFamily="34" charset="-120"/>
                </a:rPr>
                <a:t>모르면 상담원에게</a:t>
              </a:r>
              <a:endParaRPr lang="en-US" sz="1250" dirty="0"/>
            </a:p>
          </p:txBody>
        </p:sp>
        <p:sp>
          <p:nvSpPr>
            <p:cNvPr id="23" name="Text 16"/>
            <p:cNvSpPr txBox="1"/>
            <p:nvPr/>
          </p:nvSpPr>
          <p:spPr>
            <a:xfrm>
              <a:off x="6004560" y="3178048"/>
              <a:ext cx="3840480" cy="274320"/>
            </a:xfrm>
            <a:prstGeom prst="rect">
              <a:avLst/>
            </a:prstGeom>
            <a:noFill/>
            <a:ln/>
          </p:spPr>
          <p:txBody>
            <a:bodyPr wrap="square" lIns="0" tIns="0" rIns="0" bIns="0" rtlCol="0" anchor="ctr"/>
            <a:lstStyle/>
            <a:p>
              <a:pPr marL="0" indent="0">
                <a:buNone/>
              </a:pPr>
              <a:r>
                <a:rPr lang="en-US" sz="1000" dirty="0">
                  <a:solidFill>
                    <a:srgbClr val="64748B"/>
                  </a:solidFill>
                  <a:latin typeface="맑은 고딕" pitchFamily="34" charset="0"/>
                  <a:ea typeface="맑은 고딕" pitchFamily="34" charset="-122"/>
                  <a:cs typeface="맑은 고딕" pitchFamily="34" charset="-120"/>
                </a:rPr>
                <a:t>연체 기록 없애 주실 수 있어요?</a:t>
              </a:r>
              <a:endParaRPr lang="en-US" sz="1000" dirty="0"/>
            </a:p>
          </p:txBody>
        </p:sp>
        <p:sp>
          <p:nvSpPr>
            <p:cNvPr id="24" name="Shape 17"/>
            <p:cNvSpPr/>
            <p:nvPr/>
          </p:nvSpPr>
          <p:spPr>
            <a:xfrm>
              <a:off x="4975860" y="3662679"/>
              <a:ext cx="3710940" cy="749808"/>
            </a:xfrm>
            <a:prstGeom prst="roundRect">
              <a:avLst>
                <a:gd name="adj" fmla="val 9756"/>
              </a:avLst>
            </a:prstGeom>
            <a:solidFill>
              <a:srgbClr val="F1F5F9"/>
            </a:solidFill>
            <a:ln w="12700">
              <a:solidFill>
                <a:srgbClr val="F1F5F9"/>
              </a:solidFill>
              <a:prstDash val="solid"/>
            </a:ln>
          </p:spPr>
          <p:txBody>
            <a:bodyPr/>
            <a:lstStyle/>
            <a:p>
              <a:endParaRPr lang="ko-KR" altLang="en-US"/>
            </a:p>
          </p:txBody>
        </p:sp>
        <p:sp>
          <p:nvSpPr>
            <p:cNvPr id="25" name="Shape 18"/>
            <p:cNvSpPr/>
            <p:nvPr/>
          </p:nvSpPr>
          <p:spPr>
            <a:xfrm>
              <a:off x="5177394" y="3790696"/>
              <a:ext cx="493776" cy="493776"/>
            </a:xfrm>
            <a:prstGeom prst="ellipse">
              <a:avLst/>
            </a:prstGeom>
            <a:solidFill>
              <a:srgbClr val="94A3B8"/>
            </a:solidFill>
            <a:ln w="12700">
              <a:solidFill>
                <a:srgbClr val="94A3B8"/>
              </a:solidFill>
              <a:prstDash val="solid"/>
            </a:ln>
          </p:spPr>
          <p:txBody>
            <a:bodyPr/>
            <a:lstStyle/>
            <a:p>
              <a:endParaRPr lang="ko-KR" altLang="en-US"/>
            </a:p>
          </p:txBody>
        </p:sp>
        <p:pic>
          <p:nvPicPr>
            <p:cNvPr id="26" name="Image 4" descr="preencoded.png"/>
            <p:cNvPicPr>
              <a:picLocks noChangeAspect="1"/>
            </p:cNvPicPr>
            <p:nvPr/>
          </p:nvPicPr>
          <p:blipFill>
            <a:blip r:embed="rId6"/>
            <a:stretch>
              <a:fillRect/>
            </a:stretch>
          </p:blipFill>
          <p:spPr>
            <a:xfrm>
              <a:off x="5295900" y="3909201"/>
              <a:ext cx="256764" cy="256764"/>
            </a:xfrm>
            <a:prstGeom prst="rect">
              <a:avLst/>
            </a:prstGeom>
          </p:spPr>
        </p:pic>
        <p:sp>
          <p:nvSpPr>
            <p:cNvPr id="27" name="Text 19"/>
            <p:cNvSpPr txBox="1"/>
            <p:nvPr/>
          </p:nvSpPr>
          <p:spPr>
            <a:xfrm>
              <a:off x="6004560" y="3735832"/>
              <a:ext cx="3840480" cy="310896"/>
            </a:xfrm>
            <a:prstGeom prst="rect">
              <a:avLst/>
            </a:prstGeom>
            <a:noFill/>
            <a:ln/>
          </p:spPr>
          <p:txBody>
            <a:bodyPr wrap="square" lIns="0" tIns="0" rIns="0" bIns="0" rtlCol="0" anchor="ctr"/>
            <a:lstStyle/>
            <a:p>
              <a:pPr marL="0" indent="0">
                <a:buNone/>
              </a:pPr>
              <a:r>
                <a:rPr lang="en-US" sz="1250" b="1" dirty="0">
                  <a:solidFill>
                    <a:srgbClr val="1B2A3A"/>
                  </a:solidFill>
                  <a:latin typeface="맑은 고딕" pitchFamily="34" charset="0"/>
                  <a:ea typeface="맑은 고딕" pitchFamily="34" charset="-122"/>
                  <a:cs typeface="맑은 고딕" pitchFamily="34" charset="-120"/>
                </a:rPr>
                <a:t>계좌 선택 (계좌 2개 고객)</a:t>
              </a:r>
              <a:endParaRPr lang="en-US" sz="1250" dirty="0"/>
            </a:p>
          </p:txBody>
        </p:sp>
        <p:sp>
          <p:nvSpPr>
            <p:cNvPr id="28" name="Text 20"/>
            <p:cNvSpPr txBox="1"/>
            <p:nvPr/>
          </p:nvSpPr>
          <p:spPr>
            <a:xfrm>
              <a:off x="6004560" y="4046728"/>
              <a:ext cx="3840480" cy="274320"/>
            </a:xfrm>
            <a:prstGeom prst="rect">
              <a:avLst/>
            </a:prstGeom>
            <a:noFill/>
            <a:ln/>
          </p:spPr>
          <p:txBody>
            <a:bodyPr wrap="square" lIns="0" tIns="0" rIns="0" bIns="0" rtlCol="0" anchor="ctr"/>
            <a:lstStyle/>
            <a:p>
              <a:pPr marL="0" indent="0">
                <a:buNone/>
              </a:pPr>
              <a:r>
                <a:rPr lang="en-US" sz="1000" dirty="0">
                  <a:solidFill>
                    <a:srgbClr val="64748B"/>
                  </a:solidFill>
                  <a:latin typeface="맑은 고딕" pitchFamily="34" charset="0"/>
                  <a:ea typeface="맑은 고딕" pitchFamily="34" charset="-122"/>
                  <a:cs typeface="맑은 고딕" pitchFamily="34" charset="-120"/>
                </a:rPr>
                <a:t>어느 계좌를 조회할까요? → 버튼</a:t>
              </a:r>
              <a:endParaRPr lang="en-US" sz="1000" dirty="0"/>
            </a:p>
          </p:txBody>
        </p:sp>
      </p:grpSp>
      <p:pic>
        <p:nvPicPr>
          <p:cNvPr id="32" name="실제 서비스 캡처 v07" descr="img_chat_v07.png"/>
          <p:cNvPicPr>
            <a:picLocks noChangeAspect="1"/>
          </p:cNvPicPr>
          <p:nvPr/>
        </p:nvPicPr>
        <p:blipFill>
          <a:blip r:embed="rId7"/>
          <a:stretch>
            <a:fillRect/>
          </a:stretch>
        </p:blipFill>
        <p:spPr>
          <a:xfrm>
            <a:off x="4402609" y="182193"/>
            <a:ext cx="4343444" cy="4777336"/>
          </a:xfrm>
          <a:prstGeom prst="rect">
            <a:avLst/>
          </a:prstGeom>
        </p:spPr>
      </p:pic>
    </p:spTree>
    <p:extLst>
      <p:ext uri="{BB962C8B-B14F-4D97-AF65-F5344CB8AC3E}">
        <p14:creationId xmlns:p14="http://schemas.microsoft.com/office/powerpoint/2010/main" val="55409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52400"/>
            <a:ext cx="4572000" cy="177800"/>
          </a:xfrm>
          <a:prstGeom prst="rect">
            <a:avLst/>
          </a:prstGeom>
          <a:noFill/>
          <a:ln/>
        </p:spPr>
        <p:txBody>
          <a:bodyPr wrap="square" lIns="0" tIns="0" rIns="0" bIns="0" rtlCol="0" anchor="t"/>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03  아키텍처</a:t>
            </a:r>
            <a:endParaRPr lang="en-US" sz="900" dirty="0"/>
          </a:p>
        </p:txBody>
      </p:sp>
      <p:sp>
        <p:nvSpPr>
          <p:cNvPr id="4" name="Text 2"/>
          <p:cNvSpPr txBox="1"/>
          <p:nvPr/>
        </p:nvSpPr>
        <p:spPr>
          <a:xfrm>
            <a:off x="457200" y="330200"/>
            <a:ext cx="8229600" cy="355600"/>
          </a:xfrm>
          <a:prstGeom prst="rect">
            <a:avLst/>
          </a:prstGeom>
          <a:noFill/>
          <a:ln/>
        </p:spPr>
        <p:txBody>
          <a:bodyPr wrap="square" lIns="0" tIns="0" rIns="0" bIns="0" rtlCol="0" anchor="ctr"/>
          <a:lstStyle/>
          <a:p>
            <a:pPr marL="0" indent="0">
              <a:buNone/>
            </a:pPr>
            <a:r>
              <a:rPr lang="en-US" sz="2000" b="1" dirty="0">
                <a:solidFill>
                  <a:srgbClr val="1B2A3A"/>
                </a:solidFill>
                <a:latin typeface="맑은 고딕" pitchFamily="34" charset="0"/>
                <a:ea typeface="맑은 고딕" pitchFamily="34" charset="-122"/>
                <a:cs typeface="맑은 고딕" pitchFamily="34" charset="-120"/>
              </a:rPr>
              <a:t>시스템 아키텍처</a:t>
            </a:r>
            <a:endParaRPr lang="en-US" sz="2000" dirty="0"/>
          </a:p>
        </p:txBody>
      </p:sp>
      <p:sp>
        <p:nvSpPr>
          <p:cNvPr id="5" name="Text 3"/>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9</a:t>
            </a:r>
            <a:endParaRPr lang="en-US" sz="850" dirty="0"/>
          </a:p>
        </p:txBody>
      </p:sp>
      <p:sp>
        <p:nvSpPr>
          <p:cNvPr id="7" name="Shape 4"/>
          <p:cNvSpPr/>
          <p:nvPr/>
        </p:nvSpPr>
        <p:spPr>
          <a:xfrm>
            <a:off x="457200" y="858858"/>
            <a:ext cx="1645920" cy="3199257"/>
          </a:xfrm>
          <a:prstGeom prst="roundRect">
            <a:avLst>
              <a:gd name="adj" fmla="val 4444"/>
            </a:avLst>
          </a:prstGeom>
          <a:solidFill>
            <a:srgbClr val="DCE8F6"/>
          </a:solidFill>
          <a:ln w="12700">
            <a:solidFill>
              <a:srgbClr val="DCE8F6"/>
            </a:solidFill>
            <a:prstDash val="solid"/>
          </a:ln>
        </p:spPr>
        <p:txBody>
          <a:bodyPr/>
          <a:lstStyle/>
          <a:p>
            <a:endParaRPr lang="ko-KR" altLang="en-US"/>
          </a:p>
        </p:txBody>
      </p:sp>
      <p:pic>
        <p:nvPicPr>
          <p:cNvPr id="8" name="Image 0" descr="preencoded.png"/>
          <p:cNvPicPr>
            <a:picLocks noChangeAspect="1"/>
          </p:cNvPicPr>
          <p:nvPr/>
        </p:nvPicPr>
        <p:blipFill>
          <a:blip r:embed="rId3"/>
          <a:stretch>
            <a:fillRect/>
          </a:stretch>
        </p:blipFill>
        <p:spPr>
          <a:xfrm>
            <a:off x="1005840" y="1362444"/>
            <a:ext cx="548640" cy="511881"/>
          </a:xfrm>
          <a:prstGeom prst="rect">
            <a:avLst/>
          </a:prstGeom>
        </p:spPr>
      </p:pic>
      <p:sp>
        <p:nvSpPr>
          <p:cNvPr id="9" name="Text 5"/>
          <p:cNvSpPr txBox="1"/>
          <p:nvPr/>
        </p:nvSpPr>
        <p:spPr>
          <a:xfrm>
            <a:off x="502920" y="1959641"/>
            <a:ext cx="1554480" cy="255941"/>
          </a:xfrm>
          <a:prstGeom prst="rect">
            <a:avLst/>
          </a:prstGeom>
          <a:noFill/>
          <a:ln/>
        </p:spPr>
        <p:txBody>
          <a:bodyPr wrap="square" lIns="0" tIns="0" rIns="0" bIns="0" rtlCol="0" anchor="t"/>
          <a:lstStyle/>
          <a:p>
            <a:pPr marL="0" indent="0" algn="ctr">
              <a:buNone/>
            </a:pPr>
            <a:r>
              <a:rPr lang="en-US" sz="1300" b="1" dirty="0">
                <a:solidFill>
                  <a:srgbClr val="1E293B"/>
                </a:solidFill>
                <a:latin typeface="맑은 고딕" pitchFamily="34" charset="0"/>
                <a:ea typeface="맑은 고딕" pitchFamily="34" charset="-122"/>
                <a:cs typeface="맑은 고딕" pitchFamily="34" charset="-120"/>
              </a:rPr>
              <a:t>챗봇 UI</a:t>
            </a:r>
            <a:endParaRPr lang="en-US" sz="1300" dirty="0"/>
          </a:p>
        </p:txBody>
      </p:sp>
      <p:sp>
        <p:nvSpPr>
          <p:cNvPr id="10" name="Text 6"/>
          <p:cNvSpPr txBox="1"/>
          <p:nvPr/>
        </p:nvSpPr>
        <p:spPr>
          <a:xfrm>
            <a:off x="502920" y="2603561"/>
            <a:ext cx="1554480" cy="511881"/>
          </a:xfrm>
          <a:prstGeom prst="rect">
            <a:avLst/>
          </a:prstGeom>
          <a:noFill/>
          <a:ln/>
        </p:spPr>
        <p:txBody>
          <a:bodyPr wrap="square" lIns="0" tIns="0" rIns="0" bIns="0" rtlCol="0" anchor="t"/>
          <a:lstStyle/>
          <a:p>
            <a:pPr marL="0" indent="0" algn="ctr">
              <a:lnSpc>
                <a:spcPct val="150000"/>
              </a:lnSpc>
              <a:buNone/>
            </a:pPr>
            <a:r>
              <a:rPr lang="en-US" sz="950" b="1" dirty="0">
                <a:solidFill>
                  <a:srgbClr val="41659E"/>
                </a:solidFill>
                <a:latin typeface="맑은 고딕" pitchFamily="34" charset="0"/>
                <a:ea typeface="맑은 고딕" pitchFamily="34" charset="-122"/>
                <a:cs typeface="맑은 고딕" pitchFamily="34" charset="-120"/>
              </a:rPr>
              <a:t>모델 </a:t>
            </a:r>
            <a:r>
              <a:rPr lang="en-US" sz="950" b="1" dirty="0" err="1">
                <a:solidFill>
                  <a:srgbClr val="41659E"/>
                </a:solidFill>
                <a:latin typeface="맑은 고딕" pitchFamily="34" charset="0"/>
                <a:ea typeface="맑은 고딕" pitchFamily="34" charset="-122"/>
                <a:cs typeface="맑은 고딕" pitchFamily="34" charset="-120"/>
              </a:rPr>
              <a:t>문장</a:t>
            </a:r>
            <a:r>
              <a:rPr lang="en-US" sz="950" b="1" dirty="0">
                <a:solidFill>
                  <a:srgbClr val="41659E"/>
                </a:solidFill>
                <a:latin typeface="맑은 고딕" pitchFamily="34" charset="0"/>
                <a:ea typeface="맑은 고딕" pitchFamily="34" charset="-122"/>
                <a:cs typeface="맑은 고딕" pitchFamily="34" charset="-120"/>
              </a:rPr>
              <a:t> </a:t>
            </a:r>
            <a:br>
              <a:rPr lang="en-US" sz="950" b="1" dirty="0">
                <a:solidFill>
                  <a:srgbClr val="41659E"/>
                </a:solidFill>
                <a:latin typeface="맑은 고딕" pitchFamily="34" charset="0"/>
                <a:ea typeface="맑은 고딕" pitchFamily="34" charset="-122"/>
                <a:cs typeface="맑은 고딕" pitchFamily="34" charset="-120"/>
              </a:rPr>
            </a:br>
            <a:r>
              <a:rPr lang="en-US" sz="950" b="1" dirty="0">
                <a:solidFill>
                  <a:srgbClr val="41659E"/>
                </a:solidFill>
                <a:latin typeface="맑은 고딕" pitchFamily="34" charset="0"/>
                <a:ea typeface="맑은 고딕" pitchFamily="34" charset="-122"/>
                <a:cs typeface="맑은 고딕" pitchFamily="34" charset="-120"/>
              </a:rPr>
              <a:t>+ </a:t>
            </a:r>
            <a:br>
              <a:rPr lang="en-US" sz="950" b="1" dirty="0">
                <a:solidFill>
                  <a:srgbClr val="41659E"/>
                </a:solidFill>
                <a:latin typeface="맑은 고딕" pitchFamily="34" charset="0"/>
                <a:ea typeface="맑은 고딕" pitchFamily="34" charset="-122"/>
                <a:cs typeface="맑은 고딕" pitchFamily="34" charset="-120"/>
              </a:rPr>
            </a:br>
            <a:r>
              <a:rPr lang="ko-KR" altLang="en-US" sz="950" b="1" dirty="0" err="1">
                <a:solidFill>
                  <a:srgbClr val="41659E"/>
                </a:solidFill>
                <a:latin typeface="맑은 고딕" pitchFamily="34" charset="0"/>
                <a:ea typeface="맑은 고딕" pitchFamily="34" charset="-122"/>
                <a:cs typeface="맑은 고딕" pitchFamily="34" charset="-120"/>
              </a:rPr>
              <a:t>마스킹된</a:t>
            </a:r>
            <a:r>
              <a:rPr lang="ko-KR" altLang="en-US" sz="950" b="1" dirty="0">
                <a:solidFill>
                  <a:srgbClr val="41659E"/>
                </a:solidFill>
                <a:latin typeface="맑은 고딕" pitchFamily="34" charset="0"/>
                <a:ea typeface="맑은 고딕" pitchFamily="34" charset="-122"/>
                <a:cs typeface="맑은 고딕" pitchFamily="34" charset="-120"/>
              </a:rPr>
              <a:t> 개인 정보</a:t>
            </a:r>
            <a:r>
              <a:rPr lang="en-US" sz="950" b="1" dirty="0">
                <a:solidFill>
                  <a:srgbClr val="41659E"/>
                </a:solidFill>
                <a:latin typeface="맑은 고딕" pitchFamily="34" charset="0"/>
                <a:ea typeface="맑은 고딕" pitchFamily="34" charset="-122"/>
                <a:cs typeface="맑은 고딕" pitchFamily="34" charset="-120"/>
              </a:rPr>
              <a:t>값</a:t>
            </a:r>
            <a:endParaRPr lang="en-US" sz="950" dirty="0"/>
          </a:p>
          <a:p>
            <a:pPr marL="0" indent="0" algn="ctr">
              <a:lnSpc>
                <a:spcPct val="150000"/>
              </a:lnSpc>
              <a:buNone/>
            </a:pPr>
            <a:br>
              <a:rPr lang="en-US" sz="950" b="1" dirty="0">
                <a:solidFill>
                  <a:srgbClr val="41659E"/>
                </a:solidFill>
                <a:latin typeface="맑은 고딕" pitchFamily="34" charset="0"/>
                <a:ea typeface="맑은 고딕" pitchFamily="34" charset="-122"/>
                <a:cs typeface="맑은 고딕" pitchFamily="34" charset="-120"/>
              </a:rPr>
            </a:br>
            <a:r>
              <a:rPr lang="en-US" sz="950" b="1" dirty="0">
                <a:solidFill>
                  <a:srgbClr val="41659E"/>
                </a:solidFill>
                <a:latin typeface="맑은 고딕" pitchFamily="34" charset="0"/>
                <a:ea typeface="맑은 고딕" pitchFamily="34" charset="-122"/>
                <a:cs typeface="맑은 고딕" pitchFamily="34" charset="-120"/>
              </a:rPr>
              <a:t>→ 화면에서 합침</a:t>
            </a:r>
            <a:endParaRPr lang="en-US" sz="950" dirty="0"/>
          </a:p>
        </p:txBody>
      </p:sp>
      <p:sp>
        <p:nvSpPr>
          <p:cNvPr id="11" name="Shape 7"/>
          <p:cNvSpPr/>
          <p:nvPr/>
        </p:nvSpPr>
        <p:spPr>
          <a:xfrm>
            <a:off x="2167128" y="2309188"/>
            <a:ext cx="256032" cy="238878"/>
          </a:xfrm>
          <a:prstGeom prst="rightArrow">
            <a:avLst/>
          </a:prstGeom>
          <a:solidFill>
            <a:srgbClr val="94A3B8"/>
          </a:solidFill>
          <a:ln w="12700">
            <a:solidFill>
              <a:srgbClr val="94A3B8"/>
            </a:solidFill>
            <a:prstDash val="solid"/>
          </a:ln>
        </p:spPr>
        <p:txBody>
          <a:bodyPr/>
          <a:lstStyle/>
          <a:p>
            <a:endParaRPr lang="ko-KR" altLang="en-US"/>
          </a:p>
        </p:txBody>
      </p:sp>
      <p:sp>
        <p:nvSpPr>
          <p:cNvPr id="12" name="Shape 8"/>
          <p:cNvSpPr/>
          <p:nvPr/>
        </p:nvSpPr>
        <p:spPr>
          <a:xfrm>
            <a:off x="2514600" y="858858"/>
            <a:ext cx="3749040" cy="3199257"/>
          </a:xfrm>
          <a:prstGeom prst="roundRect">
            <a:avLst>
              <a:gd name="adj" fmla="val 2133"/>
            </a:avLst>
          </a:prstGeom>
          <a:solidFill>
            <a:srgbClr val="F1F5F9"/>
          </a:solidFill>
          <a:ln w="12700">
            <a:solidFill>
              <a:srgbClr val="F1F5F9"/>
            </a:solidFill>
            <a:prstDash val="solid"/>
          </a:ln>
        </p:spPr>
        <p:txBody>
          <a:bodyPr/>
          <a:lstStyle/>
          <a:p>
            <a:endParaRPr lang="ko-KR" altLang="en-US"/>
          </a:p>
        </p:txBody>
      </p:sp>
      <p:sp>
        <p:nvSpPr>
          <p:cNvPr id="13" name="Text 9"/>
          <p:cNvSpPr txBox="1"/>
          <p:nvPr/>
        </p:nvSpPr>
        <p:spPr>
          <a:xfrm>
            <a:off x="2651760" y="927109"/>
            <a:ext cx="3474720" cy="255941"/>
          </a:xfrm>
          <a:prstGeom prst="rect">
            <a:avLst/>
          </a:prstGeom>
          <a:noFill/>
          <a:ln/>
        </p:spPr>
        <p:txBody>
          <a:bodyPr wrap="square" lIns="0" tIns="0" rIns="0" bIns="0" rtlCol="0" anchor="t"/>
          <a:lstStyle/>
          <a:p>
            <a:pPr marL="0" indent="0">
              <a:buNone/>
            </a:pPr>
            <a:r>
              <a:rPr lang="en-US" sz="1150" b="1" dirty="0">
                <a:solidFill>
                  <a:srgbClr val="64748B"/>
                </a:solidFill>
                <a:latin typeface="맑은 고딕" pitchFamily="34" charset="0"/>
                <a:ea typeface="맑은 고딕" pitchFamily="34" charset="-122"/>
                <a:cs typeface="맑은 고딕" pitchFamily="34" charset="-120"/>
              </a:rPr>
              <a:t>백엔드 (FastAPI)</a:t>
            </a:r>
            <a:endParaRPr lang="en-US" sz="1150" dirty="0"/>
          </a:p>
        </p:txBody>
      </p:sp>
      <p:sp>
        <p:nvSpPr>
          <p:cNvPr id="14" name="Shape 10"/>
          <p:cNvSpPr/>
          <p:nvPr/>
        </p:nvSpPr>
        <p:spPr>
          <a:xfrm>
            <a:off x="2697480" y="1285427"/>
            <a:ext cx="3383280" cy="725165"/>
          </a:xfrm>
          <a:prstGeom prst="roundRect">
            <a:avLst>
              <a:gd name="adj" fmla="val 9412"/>
            </a:avLst>
          </a:prstGeom>
          <a:solidFill>
            <a:srgbClr val="FFFFFF"/>
          </a:solidFill>
          <a:ln w="9525">
            <a:solidFill>
              <a:srgbClr val="CBD5E1"/>
            </a:solidFill>
            <a:prstDash val="solid"/>
          </a:ln>
        </p:spPr>
        <p:txBody>
          <a:bodyPr/>
          <a:lstStyle/>
          <a:p>
            <a:endParaRPr lang="ko-KR" altLang="en-US"/>
          </a:p>
        </p:txBody>
      </p:sp>
      <p:sp>
        <p:nvSpPr>
          <p:cNvPr id="15" name="Shape 11"/>
          <p:cNvSpPr/>
          <p:nvPr/>
        </p:nvSpPr>
        <p:spPr>
          <a:xfrm>
            <a:off x="2834640" y="1404867"/>
            <a:ext cx="521208" cy="486287"/>
          </a:xfrm>
          <a:prstGeom prst="ellipse">
            <a:avLst/>
          </a:prstGeom>
          <a:solidFill>
            <a:srgbClr val="41659E"/>
          </a:solidFill>
          <a:ln w="12700">
            <a:solidFill>
              <a:srgbClr val="41659E"/>
            </a:solidFill>
            <a:prstDash val="solid"/>
          </a:ln>
        </p:spPr>
        <p:txBody>
          <a:bodyPr/>
          <a:lstStyle/>
          <a:p>
            <a:endParaRPr lang="ko-KR" altLang="en-US"/>
          </a:p>
        </p:txBody>
      </p:sp>
      <p:pic>
        <p:nvPicPr>
          <p:cNvPr id="16" name="Image 1" descr="preencoded.png"/>
          <p:cNvPicPr>
            <a:picLocks noChangeAspect="1"/>
          </p:cNvPicPr>
          <p:nvPr/>
        </p:nvPicPr>
        <p:blipFill>
          <a:blip r:embed="rId4"/>
          <a:stretch>
            <a:fillRect/>
          </a:stretch>
        </p:blipFill>
        <p:spPr>
          <a:xfrm>
            <a:off x="2959730" y="1521576"/>
            <a:ext cx="271028" cy="252869"/>
          </a:xfrm>
          <a:prstGeom prst="rect">
            <a:avLst/>
          </a:prstGeom>
        </p:spPr>
      </p:pic>
      <p:sp>
        <p:nvSpPr>
          <p:cNvPr id="17" name="Text 12"/>
          <p:cNvSpPr txBox="1"/>
          <p:nvPr/>
        </p:nvSpPr>
        <p:spPr>
          <a:xfrm>
            <a:off x="3520440" y="1370740"/>
            <a:ext cx="2468880" cy="298597"/>
          </a:xfrm>
          <a:prstGeom prst="rect">
            <a:avLst/>
          </a:prstGeom>
          <a:noFill/>
          <a:ln/>
        </p:spPr>
        <p:txBody>
          <a:bodyPr wrap="square" lIns="0" tIns="0" rIns="0" bIns="0" rtlCol="0" anchor="ctr"/>
          <a:lstStyle/>
          <a:p>
            <a:pPr marL="0" indent="0">
              <a:buNone/>
            </a:pPr>
            <a:r>
              <a:rPr lang="en-US" sz="1300" b="1" dirty="0">
                <a:solidFill>
                  <a:srgbClr val="1E293B"/>
                </a:solidFill>
                <a:latin typeface="맑은 고딕" pitchFamily="34" charset="0"/>
                <a:ea typeface="맑은 고딕" pitchFamily="34" charset="-122"/>
                <a:cs typeface="맑은 고딕" pitchFamily="34" charset="-120"/>
              </a:rPr>
              <a:t>게이트웨이</a:t>
            </a:r>
            <a:endParaRPr lang="en-US" sz="1300" dirty="0"/>
          </a:p>
        </p:txBody>
      </p:sp>
      <p:sp>
        <p:nvSpPr>
          <p:cNvPr id="18" name="Text 13"/>
          <p:cNvSpPr txBox="1"/>
          <p:nvPr/>
        </p:nvSpPr>
        <p:spPr>
          <a:xfrm>
            <a:off x="3520440" y="1669338"/>
            <a:ext cx="2468880" cy="255941"/>
          </a:xfrm>
          <a:prstGeom prst="rect">
            <a:avLst/>
          </a:prstGeom>
          <a:noFill/>
          <a:ln/>
        </p:spPr>
        <p:txBody>
          <a:bodyPr wrap="square" lIns="0" tIns="0" rIns="0" bIns="0" rtlCol="0" anchor="ctr"/>
          <a:lstStyle/>
          <a:p>
            <a:pPr marL="0" indent="0">
              <a:buNone/>
            </a:pPr>
            <a:r>
              <a:rPr lang="en-US" sz="1000" dirty="0">
                <a:solidFill>
                  <a:srgbClr val="64748B"/>
                </a:solidFill>
                <a:latin typeface="맑은 고딕" pitchFamily="34" charset="0"/>
                <a:ea typeface="맑은 고딕" pitchFamily="34" charset="-122"/>
                <a:cs typeface="맑은 고딕" pitchFamily="34" charset="-120"/>
              </a:rPr>
              <a:t>마스킹</a:t>
            </a:r>
            <a:endParaRPr lang="en-US" sz="1000" dirty="0"/>
          </a:p>
        </p:txBody>
      </p:sp>
      <p:sp>
        <p:nvSpPr>
          <p:cNvPr id="19" name="Shape 14"/>
          <p:cNvSpPr/>
          <p:nvPr/>
        </p:nvSpPr>
        <p:spPr>
          <a:xfrm>
            <a:off x="2697480" y="2181220"/>
            <a:ext cx="3383280" cy="725165"/>
          </a:xfrm>
          <a:prstGeom prst="roundRect">
            <a:avLst>
              <a:gd name="adj" fmla="val 9412"/>
            </a:avLst>
          </a:prstGeom>
          <a:solidFill>
            <a:srgbClr val="FFFFFF"/>
          </a:solidFill>
          <a:ln w="9525">
            <a:solidFill>
              <a:srgbClr val="CBD5E1"/>
            </a:solidFill>
            <a:prstDash val="solid"/>
          </a:ln>
        </p:spPr>
        <p:txBody>
          <a:bodyPr/>
          <a:lstStyle/>
          <a:p>
            <a:endParaRPr lang="ko-KR" altLang="en-US"/>
          </a:p>
        </p:txBody>
      </p:sp>
      <p:sp>
        <p:nvSpPr>
          <p:cNvPr id="20" name="Shape 15"/>
          <p:cNvSpPr/>
          <p:nvPr/>
        </p:nvSpPr>
        <p:spPr>
          <a:xfrm>
            <a:off x="2834640" y="2300659"/>
            <a:ext cx="521208" cy="486287"/>
          </a:xfrm>
          <a:prstGeom prst="ellipse">
            <a:avLst/>
          </a:prstGeom>
          <a:solidFill>
            <a:srgbClr val="41659E"/>
          </a:solidFill>
          <a:ln w="12700">
            <a:solidFill>
              <a:srgbClr val="41659E"/>
            </a:solidFill>
            <a:prstDash val="solid"/>
          </a:ln>
        </p:spPr>
        <p:txBody>
          <a:bodyPr/>
          <a:lstStyle/>
          <a:p>
            <a:endParaRPr lang="ko-KR" altLang="en-US"/>
          </a:p>
        </p:txBody>
      </p:sp>
      <p:pic>
        <p:nvPicPr>
          <p:cNvPr id="21" name="Image 2" descr="preencoded.png"/>
          <p:cNvPicPr>
            <a:picLocks noChangeAspect="1"/>
          </p:cNvPicPr>
          <p:nvPr/>
        </p:nvPicPr>
        <p:blipFill>
          <a:blip r:embed="rId5"/>
          <a:stretch>
            <a:fillRect/>
          </a:stretch>
        </p:blipFill>
        <p:spPr>
          <a:xfrm>
            <a:off x="2959730" y="2417367"/>
            <a:ext cx="271028" cy="252869"/>
          </a:xfrm>
          <a:prstGeom prst="rect">
            <a:avLst/>
          </a:prstGeom>
        </p:spPr>
      </p:pic>
      <p:sp>
        <p:nvSpPr>
          <p:cNvPr id="22" name="Text 16"/>
          <p:cNvSpPr txBox="1"/>
          <p:nvPr/>
        </p:nvSpPr>
        <p:spPr>
          <a:xfrm>
            <a:off x="3520440" y="2266533"/>
            <a:ext cx="2468880" cy="298597"/>
          </a:xfrm>
          <a:prstGeom prst="rect">
            <a:avLst/>
          </a:prstGeom>
          <a:noFill/>
          <a:ln/>
        </p:spPr>
        <p:txBody>
          <a:bodyPr wrap="square" lIns="0" tIns="0" rIns="0" bIns="0" rtlCol="0" anchor="ctr"/>
          <a:lstStyle/>
          <a:p>
            <a:pPr marL="0" indent="0">
              <a:buNone/>
            </a:pPr>
            <a:r>
              <a:rPr lang="en-US" sz="1300" b="1" dirty="0">
                <a:solidFill>
                  <a:srgbClr val="1E293B"/>
                </a:solidFill>
                <a:latin typeface="맑은 고딕" pitchFamily="34" charset="0"/>
                <a:ea typeface="맑은 고딕" pitchFamily="34" charset="-122"/>
                <a:cs typeface="맑은 고딕" pitchFamily="34" charset="-120"/>
              </a:rPr>
              <a:t>라우터</a:t>
            </a:r>
            <a:endParaRPr lang="en-US" sz="1300" dirty="0"/>
          </a:p>
        </p:txBody>
      </p:sp>
      <p:sp>
        <p:nvSpPr>
          <p:cNvPr id="23" name="Text 17"/>
          <p:cNvSpPr txBox="1"/>
          <p:nvPr/>
        </p:nvSpPr>
        <p:spPr>
          <a:xfrm>
            <a:off x="3520440" y="2565131"/>
            <a:ext cx="2468880" cy="255941"/>
          </a:xfrm>
          <a:prstGeom prst="rect">
            <a:avLst/>
          </a:prstGeom>
          <a:noFill/>
          <a:ln/>
        </p:spPr>
        <p:txBody>
          <a:bodyPr wrap="square" lIns="0" tIns="0" rIns="0" bIns="0" rtlCol="0" anchor="ctr"/>
          <a:lstStyle/>
          <a:p>
            <a:pPr marL="0" indent="0">
              <a:buNone/>
            </a:pPr>
            <a:r>
              <a:rPr lang="en-US" sz="1000" dirty="0">
                <a:solidFill>
                  <a:srgbClr val="64748B"/>
                </a:solidFill>
                <a:latin typeface="맑은 고딕" pitchFamily="34" charset="0"/>
                <a:ea typeface="맑은 고딕" pitchFamily="34" charset="-122"/>
                <a:cs typeface="맑은 고딕" pitchFamily="34" charset="-120"/>
              </a:rPr>
              <a:t>주제 분류</a:t>
            </a:r>
            <a:endParaRPr lang="en-US" sz="1000" dirty="0"/>
          </a:p>
        </p:txBody>
      </p:sp>
      <p:sp>
        <p:nvSpPr>
          <p:cNvPr id="24" name="Shape 18"/>
          <p:cNvSpPr/>
          <p:nvPr/>
        </p:nvSpPr>
        <p:spPr>
          <a:xfrm>
            <a:off x="2697480" y="3077012"/>
            <a:ext cx="3383280" cy="725165"/>
          </a:xfrm>
          <a:prstGeom prst="roundRect">
            <a:avLst>
              <a:gd name="adj" fmla="val 9412"/>
            </a:avLst>
          </a:prstGeom>
          <a:solidFill>
            <a:srgbClr val="FFFFFF"/>
          </a:solidFill>
          <a:ln w="9525">
            <a:solidFill>
              <a:srgbClr val="CBD5E1"/>
            </a:solidFill>
            <a:prstDash val="solid"/>
          </a:ln>
        </p:spPr>
        <p:txBody>
          <a:bodyPr/>
          <a:lstStyle/>
          <a:p>
            <a:endParaRPr lang="ko-KR" altLang="en-US"/>
          </a:p>
        </p:txBody>
      </p:sp>
      <p:sp>
        <p:nvSpPr>
          <p:cNvPr id="25" name="Shape 19"/>
          <p:cNvSpPr/>
          <p:nvPr/>
        </p:nvSpPr>
        <p:spPr>
          <a:xfrm>
            <a:off x="2834640" y="3196450"/>
            <a:ext cx="521208" cy="486287"/>
          </a:xfrm>
          <a:prstGeom prst="ellipse">
            <a:avLst/>
          </a:prstGeom>
          <a:solidFill>
            <a:srgbClr val="41659E"/>
          </a:solidFill>
          <a:ln w="12700">
            <a:solidFill>
              <a:srgbClr val="41659E"/>
            </a:solidFill>
            <a:prstDash val="solid"/>
          </a:ln>
        </p:spPr>
        <p:txBody>
          <a:bodyPr/>
          <a:lstStyle/>
          <a:p>
            <a:endParaRPr lang="ko-KR" altLang="en-US"/>
          </a:p>
        </p:txBody>
      </p:sp>
      <p:pic>
        <p:nvPicPr>
          <p:cNvPr id="26" name="Image 3" descr="preencoded.png"/>
          <p:cNvPicPr>
            <a:picLocks noChangeAspect="1"/>
          </p:cNvPicPr>
          <p:nvPr/>
        </p:nvPicPr>
        <p:blipFill>
          <a:blip r:embed="rId6"/>
          <a:stretch>
            <a:fillRect/>
          </a:stretch>
        </p:blipFill>
        <p:spPr>
          <a:xfrm>
            <a:off x="2959730" y="3313159"/>
            <a:ext cx="271028" cy="252869"/>
          </a:xfrm>
          <a:prstGeom prst="rect">
            <a:avLst/>
          </a:prstGeom>
        </p:spPr>
      </p:pic>
      <p:sp>
        <p:nvSpPr>
          <p:cNvPr id="27" name="Text 20"/>
          <p:cNvSpPr txBox="1"/>
          <p:nvPr/>
        </p:nvSpPr>
        <p:spPr>
          <a:xfrm>
            <a:off x="3520440" y="3162325"/>
            <a:ext cx="2468880" cy="298597"/>
          </a:xfrm>
          <a:prstGeom prst="rect">
            <a:avLst/>
          </a:prstGeom>
          <a:noFill/>
          <a:ln/>
        </p:spPr>
        <p:txBody>
          <a:bodyPr wrap="square" lIns="0" tIns="0" rIns="0" bIns="0" rtlCol="0" anchor="ctr"/>
          <a:lstStyle/>
          <a:p>
            <a:pPr marL="0" indent="0">
              <a:buNone/>
            </a:pPr>
            <a:r>
              <a:rPr lang="en-US" sz="1300" b="1" dirty="0">
                <a:solidFill>
                  <a:srgbClr val="1E293B"/>
                </a:solidFill>
                <a:latin typeface="맑은 고딕" pitchFamily="34" charset="0"/>
                <a:ea typeface="맑은 고딕" pitchFamily="34" charset="-122"/>
                <a:cs typeface="맑은 고딕" pitchFamily="34" charset="-120"/>
              </a:rPr>
              <a:t>전문 에이전트</a:t>
            </a:r>
            <a:endParaRPr lang="en-US" sz="1300" dirty="0"/>
          </a:p>
        </p:txBody>
      </p:sp>
      <p:sp>
        <p:nvSpPr>
          <p:cNvPr id="28" name="Text 21"/>
          <p:cNvSpPr txBox="1"/>
          <p:nvPr/>
        </p:nvSpPr>
        <p:spPr>
          <a:xfrm>
            <a:off x="3520440" y="3460922"/>
            <a:ext cx="2468880" cy="255941"/>
          </a:xfrm>
          <a:prstGeom prst="rect">
            <a:avLst/>
          </a:prstGeom>
          <a:noFill/>
          <a:ln/>
        </p:spPr>
        <p:txBody>
          <a:bodyPr wrap="square" lIns="0" tIns="0" rIns="0" bIns="0" rtlCol="0" anchor="ctr"/>
          <a:lstStyle/>
          <a:p>
            <a:pPr marL="0" indent="0">
              <a:buNone/>
            </a:pPr>
            <a:r>
              <a:rPr lang="en-US" sz="1000" dirty="0">
                <a:solidFill>
                  <a:srgbClr val="64748B"/>
                </a:solidFill>
                <a:latin typeface="맑은 고딕" pitchFamily="34" charset="0"/>
                <a:ea typeface="맑은 고딕" pitchFamily="34" charset="-122"/>
                <a:cs typeface="맑은 고딕" pitchFamily="34" charset="-120"/>
              </a:rPr>
              <a:t>조회 → 생성 → 검증</a:t>
            </a:r>
            <a:endParaRPr lang="en-US" sz="1000" dirty="0"/>
          </a:p>
        </p:txBody>
      </p:sp>
      <p:sp>
        <p:nvSpPr>
          <p:cNvPr id="29" name="Shape 22"/>
          <p:cNvSpPr/>
          <p:nvPr/>
        </p:nvSpPr>
        <p:spPr>
          <a:xfrm>
            <a:off x="6327648" y="1541369"/>
            <a:ext cx="256032" cy="238878"/>
          </a:xfrm>
          <a:prstGeom prst="rightArrow">
            <a:avLst/>
          </a:prstGeom>
          <a:solidFill>
            <a:srgbClr val="94A3B8"/>
          </a:solidFill>
          <a:ln w="12700">
            <a:solidFill>
              <a:srgbClr val="94A3B8"/>
            </a:solidFill>
            <a:prstDash val="solid"/>
          </a:ln>
        </p:spPr>
        <p:txBody>
          <a:bodyPr/>
          <a:lstStyle/>
          <a:p>
            <a:endParaRPr lang="ko-KR" altLang="en-US"/>
          </a:p>
        </p:txBody>
      </p:sp>
      <p:sp>
        <p:nvSpPr>
          <p:cNvPr id="30" name="Shape 23"/>
          <p:cNvSpPr/>
          <p:nvPr/>
        </p:nvSpPr>
        <p:spPr>
          <a:xfrm>
            <a:off x="6327648" y="3327400"/>
            <a:ext cx="256032" cy="238878"/>
          </a:xfrm>
          <a:prstGeom prst="rightArrow">
            <a:avLst/>
          </a:prstGeom>
          <a:solidFill>
            <a:srgbClr val="94A3B8"/>
          </a:solidFill>
          <a:ln w="12700">
            <a:solidFill>
              <a:srgbClr val="94A3B8"/>
            </a:solidFill>
            <a:prstDash val="solid"/>
          </a:ln>
        </p:spPr>
        <p:txBody>
          <a:bodyPr/>
          <a:lstStyle/>
          <a:p>
            <a:endParaRPr lang="ko-KR" altLang="en-US"/>
          </a:p>
        </p:txBody>
      </p:sp>
      <p:sp>
        <p:nvSpPr>
          <p:cNvPr id="31" name="Shape 24"/>
          <p:cNvSpPr/>
          <p:nvPr/>
        </p:nvSpPr>
        <p:spPr>
          <a:xfrm>
            <a:off x="6675120" y="858858"/>
            <a:ext cx="2011680" cy="1981200"/>
          </a:xfrm>
          <a:prstGeom prst="roundRect">
            <a:avLst>
              <a:gd name="adj" fmla="val 4571"/>
            </a:avLst>
          </a:prstGeom>
          <a:solidFill>
            <a:srgbClr val="1B2A3A"/>
          </a:solidFill>
          <a:ln w="12700">
            <a:solidFill>
              <a:srgbClr val="1B2A3A"/>
            </a:solidFill>
            <a:prstDash val="solid"/>
          </a:ln>
        </p:spPr>
        <p:txBody>
          <a:bodyPr/>
          <a:lstStyle/>
          <a:p>
            <a:endParaRPr lang="ko-KR" altLang="en-US"/>
          </a:p>
        </p:txBody>
      </p:sp>
      <p:pic>
        <p:nvPicPr>
          <p:cNvPr id="32" name="Image 4" descr="preencoded.png"/>
          <p:cNvPicPr>
            <a:picLocks noChangeAspect="1"/>
          </p:cNvPicPr>
          <p:nvPr/>
        </p:nvPicPr>
        <p:blipFill>
          <a:blip r:embed="rId7"/>
          <a:stretch>
            <a:fillRect/>
          </a:stretch>
        </p:blipFill>
        <p:spPr>
          <a:xfrm>
            <a:off x="6858000" y="986831"/>
            <a:ext cx="411480" cy="383911"/>
          </a:xfrm>
          <a:prstGeom prst="rect">
            <a:avLst/>
          </a:prstGeom>
        </p:spPr>
      </p:pic>
      <p:sp>
        <p:nvSpPr>
          <p:cNvPr id="33" name="Text 25"/>
          <p:cNvSpPr txBox="1"/>
          <p:nvPr/>
        </p:nvSpPr>
        <p:spPr>
          <a:xfrm>
            <a:off x="7315200" y="986831"/>
            <a:ext cx="1325880" cy="383911"/>
          </a:xfrm>
          <a:prstGeom prst="rect">
            <a:avLst/>
          </a:prstGeom>
          <a:noFill/>
          <a:ln/>
        </p:spPr>
        <p:txBody>
          <a:bodyPr wrap="square" lIns="0" tIns="0" rIns="0" bIns="0" rtlCol="0" anchor="ctr"/>
          <a:lstStyle/>
          <a:p>
            <a:pPr marL="0" indent="0">
              <a:buNone/>
            </a:pPr>
            <a:r>
              <a:rPr lang="en-US" sz="1050" b="1" dirty="0" err="1">
                <a:solidFill>
                  <a:srgbClr val="FFFFFF"/>
                </a:solidFill>
                <a:latin typeface="맑은 고딕" pitchFamily="34" charset="0"/>
                <a:ea typeface="맑은 고딕" pitchFamily="34" charset="-122"/>
                <a:cs typeface="맑은 고딕" pitchFamily="34" charset="-120"/>
              </a:rPr>
              <a:t>Ollama</a:t>
            </a:r>
            <a:r>
              <a:rPr lang="en-US" sz="1050" b="1" dirty="0">
                <a:solidFill>
                  <a:srgbClr val="FFFFFF"/>
                </a:solidFill>
                <a:latin typeface="맑은 고딕" pitchFamily="34" charset="0"/>
                <a:ea typeface="맑은 고딕" pitchFamily="34" charset="-122"/>
                <a:cs typeface="맑은 고딕" pitchFamily="34" charset="-120"/>
              </a:rPr>
              <a:t> (</a:t>
            </a:r>
            <a:r>
              <a:rPr lang="ko-KR" altLang="en-US" sz="1050" b="1" dirty="0" err="1">
                <a:solidFill>
                  <a:srgbClr val="FFFFFF"/>
                </a:solidFill>
                <a:latin typeface="맑은 고딕" pitchFamily="34" charset="0"/>
                <a:ea typeface="맑은 고딕" pitchFamily="34" charset="-122"/>
                <a:cs typeface="맑은 고딕" pitchFamily="34" charset="-120"/>
              </a:rPr>
              <a:t>온디바이스</a:t>
            </a:r>
            <a:r>
              <a:rPr lang="en-US" sz="1050" b="1" dirty="0">
                <a:solidFill>
                  <a:srgbClr val="FFFFFF"/>
                </a:solidFill>
                <a:latin typeface="맑은 고딕" pitchFamily="34" charset="0"/>
                <a:ea typeface="맑은 고딕" pitchFamily="34" charset="-122"/>
                <a:cs typeface="맑은 고딕" pitchFamily="34" charset="-120"/>
              </a:rPr>
              <a:t>)</a:t>
            </a:r>
            <a:endParaRPr lang="en-US" sz="1050" dirty="0"/>
          </a:p>
        </p:txBody>
      </p:sp>
      <p:sp>
        <p:nvSpPr>
          <p:cNvPr id="34" name="Text 26"/>
          <p:cNvSpPr txBox="1"/>
          <p:nvPr/>
        </p:nvSpPr>
        <p:spPr>
          <a:xfrm>
            <a:off x="6858000" y="1447800"/>
            <a:ext cx="1803400" cy="1270000"/>
          </a:xfrm>
          <a:prstGeom prst="rect">
            <a:avLst/>
          </a:prstGeom>
          <a:noFill/>
          <a:ln/>
        </p:spPr>
        <p:txBody>
          <a:bodyPr wrap="square" lIns="0" tIns="0" rIns="0" bIns="0" rtlCol="0" anchor="ctr"/>
          <a:lstStyle/>
          <a:p>
            <a:pPr marL="0" indent="0">
              <a:buNone/>
            </a:pPr>
            <a:r>
              <a:rPr lang="ko-KR" sz="1600" b="1" dirty="0">
                <a:solidFill>
                  <a:srgbClr val="F2C94C"/>
                </a:solidFill>
                <a:latin typeface="맑은 고딕" pitchFamily="34" charset="0"/>
                <a:ea typeface="맑은 고딕" pitchFamily="34" charset="-122"/>
                <a:cs typeface="맑은 고딕" pitchFamily="34" charset="-120"/>
              </a:rPr>
              <a:t>모델 4개</a:t>
            </a:r>
          </a:p>
          <a:p>
            <a:pPr marL="0" indent="0">
              <a:spcBef>
                <a:spcPts val="500"/>
              </a:spcBef>
              <a:buNone/>
            </a:pPr>
            <a:r>
              <a:rPr lang="ko-KR" sz="1000" b="1" dirty="0">
                <a:solidFill>
                  <a:srgbClr val="FFFFFF"/>
                </a:solidFill>
                <a:latin typeface="맑은 고딕" pitchFamily="34" charset="0"/>
                <a:ea typeface="맑은 고딕" pitchFamily="34" charset="-122"/>
                <a:cs typeface="맑은 고딕" pitchFamily="34" charset="-120"/>
              </a:rPr>
              <a:t>• 주제 분류 1개 (라우터)</a:t>
            </a:r>
          </a:p>
          <a:p>
            <a:pPr marL="0" indent="0">
              <a:spcBef>
                <a:spcPts val="200"/>
              </a:spcBef>
              <a:buNone/>
            </a:pPr>
            <a:r>
              <a:rPr lang="ko-KR" sz="1000" b="1" dirty="0">
                <a:solidFill>
                  <a:srgbClr val="FFFFFF"/>
                </a:solidFill>
                <a:latin typeface="맑은 고딕" pitchFamily="34" charset="0"/>
                <a:ea typeface="맑은 고딕" pitchFamily="34" charset="-122"/>
                <a:cs typeface="맑은 고딕" pitchFamily="34" charset="-120"/>
              </a:rPr>
              <a:t>• 업무별 파인튜닝 3개</a:t>
            </a:r>
            <a:br>
              <a:rPr lang="en-US" altLang="ko-KR" sz="1000" b="1" dirty="0">
                <a:solidFill>
                  <a:srgbClr val="FFFFFF"/>
                </a:solidFill>
                <a:latin typeface="맑은 고딕" pitchFamily="34" charset="0"/>
                <a:ea typeface="맑은 고딕" pitchFamily="34" charset="-122"/>
                <a:cs typeface="맑은 고딕" pitchFamily="34" charset="-120"/>
              </a:rPr>
            </a:br>
            <a:endParaRPr lang="ko-KR" sz="1000" b="1" dirty="0">
              <a:solidFill>
                <a:srgbClr val="FFFFFF"/>
              </a:solidFill>
              <a:latin typeface="맑은 고딕" pitchFamily="34" charset="0"/>
              <a:ea typeface="맑은 고딕" pitchFamily="34" charset="-122"/>
              <a:cs typeface="맑은 고딕" pitchFamily="34" charset="-120"/>
            </a:endParaRPr>
          </a:p>
          <a:p>
            <a:pPr marL="0" indent="0">
              <a:buNone/>
            </a:pPr>
            <a:r>
              <a:rPr lang="ko-KR" sz="950" dirty="0">
                <a:solidFill>
                  <a:srgbClr val="CBD5E1"/>
                </a:solidFill>
                <a:latin typeface="맑은 고딕" pitchFamily="34" charset="0"/>
                <a:ea typeface="맑은 고딕" pitchFamily="34" charset="-122"/>
                <a:cs typeface="맑은 고딕" pitchFamily="34" charset="-120"/>
              </a:rPr>
              <a:t>   잔액 · 대출 · 이자</a:t>
            </a:r>
          </a:p>
          <a:p>
            <a:pPr marL="0" indent="0">
              <a:spcBef>
                <a:spcPts val="600"/>
              </a:spcBef>
              <a:buNone/>
            </a:pPr>
            <a:r>
              <a:rPr lang="ko-KR" sz="950" dirty="0">
                <a:solidFill>
                  <a:srgbClr val="CBD5E1"/>
                </a:solidFill>
                <a:latin typeface="맑은 고딕" pitchFamily="34" charset="0"/>
                <a:ea typeface="맑은 고딕" pitchFamily="34" charset="-122"/>
                <a:cs typeface="맑은 고딕" pitchFamily="34" charset="-120"/>
              </a:rPr>
              <a:t>입력: 가린 질문 + 빈칸 이름</a:t>
            </a:r>
          </a:p>
          <a:p>
            <a:pPr marL="0" indent="0">
              <a:spcBef>
                <a:spcPts val="100"/>
              </a:spcBef>
              <a:buNone/>
            </a:pPr>
            <a:r>
              <a:rPr lang="ko-KR" sz="950" dirty="0">
                <a:solidFill>
                  <a:srgbClr val="CBD5E1"/>
                </a:solidFill>
                <a:latin typeface="맑은 고딕" pitchFamily="34" charset="0"/>
                <a:ea typeface="맑은 고딕" pitchFamily="34" charset="-122"/>
                <a:cs typeface="맑은 고딕" pitchFamily="34" charset="-120"/>
              </a:rPr>
              <a:t>모든 입력을 로그로 점검</a:t>
            </a:r>
          </a:p>
        </p:txBody>
      </p:sp>
      <p:sp>
        <p:nvSpPr>
          <p:cNvPr id="35" name="Shape 27"/>
          <p:cNvSpPr/>
          <p:nvPr/>
        </p:nvSpPr>
        <p:spPr>
          <a:xfrm>
            <a:off x="6675120" y="2971800"/>
            <a:ext cx="2011680" cy="1092200"/>
          </a:xfrm>
          <a:prstGeom prst="roundRect">
            <a:avLst>
              <a:gd name="adj" fmla="val 4571"/>
            </a:avLst>
          </a:prstGeom>
          <a:solidFill>
            <a:srgbClr val="FDECC8"/>
          </a:solidFill>
          <a:ln w="12700">
            <a:solidFill>
              <a:srgbClr val="FDECC8"/>
            </a:solidFill>
            <a:prstDash val="solid"/>
          </a:ln>
        </p:spPr>
        <p:txBody>
          <a:bodyPr/>
          <a:lstStyle/>
          <a:p>
            <a:endParaRPr lang="ko-KR" altLang="en-US"/>
          </a:p>
        </p:txBody>
      </p:sp>
      <p:pic>
        <p:nvPicPr>
          <p:cNvPr id="36" name="Image 5" descr="preencoded.png"/>
          <p:cNvPicPr>
            <a:picLocks noChangeAspect="1"/>
          </p:cNvPicPr>
          <p:nvPr/>
        </p:nvPicPr>
        <p:blipFill>
          <a:blip r:embed="rId8"/>
          <a:stretch>
            <a:fillRect/>
          </a:stretch>
        </p:blipFill>
        <p:spPr>
          <a:xfrm>
            <a:off x="6858000" y="3098800"/>
            <a:ext cx="411480" cy="383911"/>
          </a:xfrm>
          <a:prstGeom prst="rect">
            <a:avLst/>
          </a:prstGeom>
        </p:spPr>
      </p:pic>
      <p:sp>
        <p:nvSpPr>
          <p:cNvPr id="37" name="Text 28"/>
          <p:cNvSpPr txBox="1"/>
          <p:nvPr/>
        </p:nvSpPr>
        <p:spPr>
          <a:xfrm>
            <a:off x="7315200" y="3098800"/>
            <a:ext cx="1325880" cy="383911"/>
          </a:xfrm>
          <a:prstGeom prst="rect">
            <a:avLst/>
          </a:prstGeom>
          <a:noFill/>
          <a:ln/>
        </p:spPr>
        <p:txBody>
          <a:bodyPr wrap="square" lIns="0" tIns="0" rIns="0" bIns="0" rtlCol="0" anchor="ctr"/>
          <a:lstStyle/>
          <a:p>
            <a:pPr marL="0" indent="0">
              <a:buNone/>
            </a:pPr>
            <a:r>
              <a:rPr lang="en-US" sz="1050" b="1" dirty="0">
                <a:solidFill>
                  <a:srgbClr val="1E293B"/>
                </a:solidFill>
                <a:latin typeface="맑은 고딕" pitchFamily="34" charset="0"/>
                <a:ea typeface="맑은 고딕" pitchFamily="34" charset="-122"/>
                <a:cs typeface="맑은 고딕" pitchFamily="34" charset="-120"/>
              </a:rPr>
              <a:t>금융 데이터</a:t>
            </a:r>
            <a:endParaRPr lang="en-US" sz="1050" dirty="0"/>
          </a:p>
        </p:txBody>
      </p:sp>
      <p:sp>
        <p:nvSpPr>
          <p:cNvPr id="38" name="Text 29"/>
          <p:cNvSpPr txBox="1"/>
          <p:nvPr/>
        </p:nvSpPr>
        <p:spPr>
          <a:xfrm>
            <a:off x="6858000" y="3581400"/>
            <a:ext cx="1737360" cy="355600"/>
          </a:xfrm>
          <a:prstGeom prst="rect">
            <a:avLst/>
          </a:prstGeom>
          <a:noFill/>
          <a:ln/>
        </p:spPr>
        <p:txBody>
          <a:bodyPr wrap="square" lIns="0" tIns="0" rIns="0" bIns="0" rtlCol="0" anchor="ctr"/>
          <a:lstStyle/>
          <a:p>
            <a:pPr marL="0" indent="0">
              <a:buNone/>
            </a:pPr>
            <a:r>
              <a:rPr lang="en-US" sz="1100" b="1" dirty="0">
                <a:solidFill>
                  <a:srgbClr val="B45309"/>
                </a:solidFill>
                <a:latin typeface="맑은 고딕" pitchFamily="34" charset="0"/>
                <a:ea typeface="맑은 고딕" pitchFamily="34" charset="-122"/>
                <a:cs typeface="맑은 고딕" pitchFamily="34" charset="-120"/>
              </a:rPr>
              <a:t>MVP: 가상 데이터</a:t>
            </a:r>
            <a:endParaRPr lang="en-US" sz="1100" dirty="0"/>
          </a:p>
        </p:txBody>
      </p:sp>
      <p:sp>
        <p:nvSpPr>
          <p:cNvPr id="300" name="Answer flow 301"/>
          <p:cNvSpPr/>
          <p:nvPr/>
        </p:nvSpPr>
        <p:spPr>
          <a:xfrm>
            <a:off x="457200" y="4191000"/>
            <a:ext cx="3175000" cy="482600"/>
          </a:xfrm>
          <a:prstGeom prst="roundRect">
            <a:avLst>
              <a:gd name="adj" fmla="val 12000"/>
            </a:avLst>
          </a:prstGeom>
          <a:solidFill>
            <a:srgbClr val="1B2A3A"/>
          </a:solidFill>
          <a:ln>
            <a:noFill/>
          </a:ln>
        </p:spPr>
        <p:txBody>
          <a:bodyPr wrap="square" lIns="127000" tIns="25400" rIns="101600" bIns="25400" anchor="ctr">
            <a:noAutofit/>
          </a:bodyPr>
          <a:lstStyle/>
          <a:p>
            <a:pPr marL="0" indent="0" algn="l">
              <a:buNone/>
            </a:pPr>
            <a:r>
              <a:rPr lang="ko-KR" sz="850" b="1" dirty="0">
                <a:solidFill>
                  <a:srgbClr val="F5D36B"/>
                </a:solidFill>
                <a:latin typeface="맑은 고딕" pitchFamily="34" charset="0"/>
                <a:ea typeface="맑은 고딕" pitchFamily="34" charset="-122"/>
                <a:cs typeface="맑은 고딕" pitchFamily="34" charset="-120"/>
              </a:rPr>
              <a:t>① 모델 답변 · QLoRA로 상담 말투 학습</a:t>
            </a:r>
          </a:p>
          <a:p>
            <a:pPr marL="0" indent="0" algn="l">
              <a:buNone/>
            </a:pPr>
            <a:r>
              <a:rPr lang="ko-KR" sz="1000" dirty="0">
                <a:solidFill>
                  <a:srgbClr val="FFFFFF"/>
                </a:solidFill>
                <a:latin typeface="맑은 고딕" pitchFamily="34" charset="0"/>
                <a:ea typeface="맑은 고딕" pitchFamily="34" charset="-122"/>
                <a:cs typeface="맑은 고딕" pitchFamily="34" charset="-120"/>
              </a:rPr>
              <a:t>“이자 {{이자}}원, {{납부일}}에 납부 예정입니다”</a:t>
            </a:r>
          </a:p>
        </p:txBody>
      </p:sp>
      <p:sp>
        <p:nvSpPr>
          <p:cNvPr id="301" name="Answer flow 302"/>
          <p:cNvSpPr/>
          <p:nvPr/>
        </p:nvSpPr>
        <p:spPr>
          <a:xfrm>
            <a:off x="3632200" y="4191000"/>
            <a:ext cx="203200" cy="482600"/>
          </a:xfrm>
          <a:prstGeom prst="roundRect">
            <a:avLst>
              <a:gd name="adj" fmla="val 12000"/>
            </a:avLst>
          </a:prstGeom>
          <a:noFill/>
          <a:ln>
            <a:noFill/>
          </a:ln>
        </p:spPr>
        <p:txBody>
          <a:bodyPr wrap="square" lIns="127000" tIns="25400" rIns="101600" bIns="25400" anchor="ctr">
            <a:noAutofit/>
          </a:bodyPr>
          <a:lstStyle/>
          <a:p>
            <a:pPr marL="0" indent="0" algn="ctr">
              <a:buNone/>
            </a:pPr>
            <a:r>
              <a:rPr lang="ko-KR" sz="1400" b="1" dirty="0">
                <a:solidFill>
                  <a:srgbClr val="94A3B8"/>
                </a:solidFill>
                <a:latin typeface="맑은 고딕" pitchFamily="34" charset="0"/>
                <a:ea typeface="맑은 고딕" pitchFamily="34" charset="-122"/>
                <a:cs typeface="맑은 고딕" pitchFamily="34" charset="-120"/>
              </a:rPr>
              <a:t>+</a:t>
            </a:r>
          </a:p>
        </p:txBody>
      </p:sp>
      <p:sp>
        <p:nvSpPr>
          <p:cNvPr id="302" name="Answer flow 303"/>
          <p:cNvSpPr/>
          <p:nvPr/>
        </p:nvSpPr>
        <p:spPr>
          <a:xfrm>
            <a:off x="3835400" y="4191000"/>
            <a:ext cx="1651000" cy="482600"/>
          </a:xfrm>
          <a:prstGeom prst="roundRect">
            <a:avLst>
              <a:gd name="adj" fmla="val 12000"/>
            </a:avLst>
          </a:prstGeom>
          <a:solidFill>
            <a:srgbClr val="FDEBC8"/>
          </a:solidFill>
          <a:ln>
            <a:noFill/>
          </a:ln>
        </p:spPr>
        <p:txBody>
          <a:bodyPr wrap="square" lIns="127000" tIns="25400" rIns="101600" bIns="25400" anchor="ctr">
            <a:noAutofit/>
          </a:bodyPr>
          <a:lstStyle/>
          <a:p>
            <a:pPr marL="0" indent="0" algn="l">
              <a:buNone/>
            </a:pPr>
            <a:r>
              <a:rPr lang="ko-KR" sz="850" b="1" dirty="0">
                <a:solidFill>
                  <a:srgbClr val="B45309"/>
                </a:solidFill>
                <a:latin typeface="맑은 고딕" pitchFamily="34" charset="0"/>
                <a:ea typeface="맑은 고딕" pitchFamily="34" charset="-122"/>
                <a:cs typeface="맑은 고딕" pitchFamily="34" charset="-120"/>
              </a:rPr>
              <a:t>② 실제 값 · 기기에서 조회</a:t>
            </a:r>
          </a:p>
          <a:p>
            <a:pPr marL="0" indent="0" algn="l">
              <a:buNone/>
            </a:pPr>
            <a:r>
              <a:rPr lang="ko-KR" sz="1000" dirty="0">
                <a:solidFill>
                  <a:srgbClr val="1B2A3A"/>
                </a:solidFill>
                <a:latin typeface="맑은 고딕" pitchFamily="34" charset="0"/>
                <a:ea typeface="맑은 고딕" pitchFamily="34" charset="-122"/>
                <a:cs typeface="맑은 고딕" pitchFamily="34" charset="-120"/>
              </a:rPr>
              <a:t>이자 58,000 · 15일</a:t>
            </a:r>
          </a:p>
        </p:txBody>
      </p:sp>
      <p:sp>
        <p:nvSpPr>
          <p:cNvPr id="303" name="Answer flow 304"/>
          <p:cNvSpPr/>
          <p:nvPr/>
        </p:nvSpPr>
        <p:spPr>
          <a:xfrm>
            <a:off x="5486400" y="4191000"/>
            <a:ext cx="203200" cy="482600"/>
          </a:xfrm>
          <a:prstGeom prst="roundRect">
            <a:avLst>
              <a:gd name="adj" fmla="val 12000"/>
            </a:avLst>
          </a:prstGeom>
          <a:noFill/>
          <a:ln>
            <a:noFill/>
          </a:ln>
        </p:spPr>
        <p:txBody>
          <a:bodyPr wrap="square" lIns="127000" tIns="25400" rIns="101600" bIns="25400" anchor="ctr">
            <a:noAutofit/>
          </a:bodyPr>
          <a:lstStyle/>
          <a:p>
            <a:pPr marL="0" indent="0" algn="ctr">
              <a:buNone/>
            </a:pPr>
            <a:r>
              <a:rPr lang="ko-KR" sz="1400" b="1" dirty="0">
                <a:solidFill>
                  <a:srgbClr val="94A3B8"/>
                </a:solidFill>
                <a:latin typeface="맑은 고딕" pitchFamily="34" charset="0"/>
                <a:ea typeface="맑은 고딕" pitchFamily="34" charset="-122"/>
                <a:cs typeface="맑은 고딕" pitchFamily="34" charset="-120"/>
              </a:rPr>
              <a:t>→</a:t>
            </a:r>
          </a:p>
        </p:txBody>
      </p:sp>
      <p:sp>
        <p:nvSpPr>
          <p:cNvPr id="304" name="Answer flow 305"/>
          <p:cNvSpPr/>
          <p:nvPr/>
        </p:nvSpPr>
        <p:spPr>
          <a:xfrm>
            <a:off x="5689600" y="4191000"/>
            <a:ext cx="2997200" cy="482600"/>
          </a:xfrm>
          <a:prstGeom prst="roundRect">
            <a:avLst>
              <a:gd name="adj" fmla="val 12000"/>
            </a:avLst>
          </a:prstGeom>
          <a:solidFill>
            <a:srgbClr val="DCE8F6"/>
          </a:solidFill>
          <a:ln>
            <a:noFill/>
          </a:ln>
        </p:spPr>
        <p:txBody>
          <a:bodyPr wrap="square" lIns="127000" tIns="25400" rIns="101600" bIns="25400" anchor="ctr">
            <a:noAutofit/>
          </a:bodyPr>
          <a:lstStyle/>
          <a:p>
            <a:pPr marL="0" indent="0" algn="l">
              <a:buNone/>
            </a:pPr>
            <a:r>
              <a:rPr lang="ko-KR" sz="850" b="1" dirty="0">
                <a:solidFill>
                  <a:srgbClr val="41659E"/>
                </a:solidFill>
                <a:latin typeface="맑은 고딕" pitchFamily="34" charset="0"/>
                <a:ea typeface="맑은 고딕" pitchFamily="34" charset="-122"/>
                <a:cs typeface="맑은 고딕" pitchFamily="34" charset="-120"/>
              </a:rPr>
              <a:t>③ 화면에 보이는 답</a:t>
            </a:r>
          </a:p>
          <a:p>
            <a:pPr marL="0" indent="0" algn="l">
              <a:buNone/>
            </a:pPr>
            <a:r>
              <a:rPr lang="ko-KR" sz="1000" b="1" dirty="0">
                <a:solidFill>
                  <a:srgbClr val="1B2A3A"/>
                </a:solidFill>
                <a:latin typeface="맑은 고딕" pitchFamily="34" charset="0"/>
                <a:ea typeface="맑은 고딕" pitchFamily="34" charset="-122"/>
                <a:cs typeface="맑은 고딕" pitchFamily="34" charset="-120"/>
              </a:rPr>
              <a:t>“이자 58,000원, 15일에 납부 예정입니다”</a:t>
            </a:r>
          </a:p>
        </p:txBody>
      </p:sp>
      <p:sp>
        <p:nvSpPr>
          <p:cNvPr id="305" name="담당 주세환"/>
          <p:cNvSpPr/>
          <p:nvPr/>
        </p:nvSpPr>
        <p:spPr>
          <a:xfrm>
            <a:off x="822960" y="3749039"/>
            <a:ext cx="914400" cy="237744"/>
          </a:xfrm>
          <a:prstGeom prst="roundRect">
            <a:avLst>
              <a:gd name="adj" fmla="val 50000"/>
            </a:avLst>
          </a:prstGeom>
          <a:solidFill>
            <a:srgbClr val="FFFFFF"/>
          </a:solidFill>
          <a:ln w="9525">
            <a:solidFill>
              <a:srgbClr val="41659E"/>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b="1">
                <a:solidFill>
                  <a:srgbClr val="41659E"/>
                </a:solidFill>
                <a:latin typeface="맑은 고딕"/>
                <a:ea typeface="맑은 고딕"/>
              </a:rPr>
              <a:t>주세환</a:t>
            </a:r>
          </a:p>
        </p:txBody>
      </p:sp>
      <p:sp>
        <p:nvSpPr>
          <p:cNvPr id="306" name="담당 심보영"/>
          <p:cNvSpPr/>
          <p:nvPr/>
        </p:nvSpPr>
        <p:spPr>
          <a:xfrm>
            <a:off x="5120640" y="1389888"/>
            <a:ext cx="868680" cy="256032"/>
          </a:xfrm>
          <a:prstGeom prst="roundRect">
            <a:avLst>
              <a:gd name="adj" fmla="val 50000"/>
            </a:avLst>
          </a:prstGeom>
          <a:solidFill>
            <a:srgbClr val="DCE8F6"/>
          </a:solidFill>
          <a:ln w="9525">
            <a:solidFill>
              <a:srgbClr val="41659E"/>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b="1">
                <a:solidFill>
                  <a:srgbClr val="41659E"/>
                </a:solidFill>
                <a:latin typeface="맑은 고딕"/>
                <a:ea typeface="맑은 고딕"/>
              </a:rPr>
              <a:t>심보영</a:t>
            </a:r>
          </a:p>
        </p:txBody>
      </p:sp>
      <p:sp>
        <p:nvSpPr>
          <p:cNvPr id="307" name="담당 심보영"/>
          <p:cNvSpPr/>
          <p:nvPr/>
        </p:nvSpPr>
        <p:spPr>
          <a:xfrm>
            <a:off x="5120640" y="2286000"/>
            <a:ext cx="868680" cy="256032"/>
          </a:xfrm>
          <a:prstGeom prst="roundRect">
            <a:avLst>
              <a:gd name="adj" fmla="val 50000"/>
            </a:avLst>
          </a:prstGeom>
          <a:solidFill>
            <a:srgbClr val="DCE8F6"/>
          </a:solidFill>
          <a:ln w="9525">
            <a:solidFill>
              <a:srgbClr val="41659E"/>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b="1">
                <a:solidFill>
                  <a:srgbClr val="41659E"/>
                </a:solidFill>
                <a:latin typeface="맑은 고딕"/>
                <a:ea typeface="맑은 고딕"/>
              </a:rPr>
              <a:t>심보영</a:t>
            </a:r>
          </a:p>
        </p:txBody>
      </p:sp>
      <p:sp>
        <p:nvSpPr>
          <p:cNvPr id="308" name="담당 주세환 · 차민규 · 오희택"/>
          <p:cNvSpPr/>
          <p:nvPr/>
        </p:nvSpPr>
        <p:spPr>
          <a:xfrm>
            <a:off x="4709160" y="3200400"/>
            <a:ext cx="1325880" cy="237744"/>
          </a:xfrm>
          <a:prstGeom prst="roundRect">
            <a:avLst>
              <a:gd name="adj" fmla="val 50000"/>
            </a:avLst>
          </a:prstGeom>
          <a:solidFill>
            <a:srgbClr val="DCE8F6"/>
          </a:solidFill>
          <a:ln w="9525">
            <a:solidFill>
              <a:srgbClr val="41659E"/>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00" b="1">
                <a:solidFill>
                  <a:srgbClr val="41659E"/>
                </a:solidFill>
                <a:latin typeface="맑은 고딕"/>
                <a:ea typeface="맑은 고딕"/>
              </a:rPr>
              <a:t>주세환 · 차민규 · 오희택</a:t>
            </a:r>
          </a:p>
        </p:txBody>
      </p:sp>
    </p:spTree>
    <p:extLst>
      <p:ext uri="{BB962C8B-B14F-4D97-AF65-F5344CB8AC3E}">
        <p14:creationId xmlns:p14="http://schemas.microsoft.com/office/powerpoint/2010/main" val="4077426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52400"/>
            <a:ext cx="4572000" cy="177800"/>
          </a:xfrm>
          <a:prstGeom prst="rect">
            <a:avLst/>
          </a:prstGeom>
          <a:noFill/>
          <a:ln/>
        </p:spPr>
        <p:txBody>
          <a:bodyPr wrap="square" lIns="0" tIns="0" rIns="0" bIns="0" rtlCol="0" anchor="t"/>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03  아키텍처</a:t>
            </a:r>
            <a:endParaRPr lang="en-US" sz="900" dirty="0"/>
          </a:p>
        </p:txBody>
      </p:sp>
      <p:sp>
        <p:nvSpPr>
          <p:cNvPr id="4" name="Text 2"/>
          <p:cNvSpPr txBox="1"/>
          <p:nvPr/>
        </p:nvSpPr>
        <p:spPr>
          <a:xfrm>
            <a:off x="457200" y="330200"/>
            <a:ext cx="8229600" cy="355600"/>
          </a:xfrm>
          <a:prstGeom prst="rect">
            <a:avLst/>
          </a:prstGeom>
          <a:noFill/>
          <a:ln/>
        </p:spPr>
        <p:txBody>
          <a:bodyPr wrap="square" lIns="0" tIns="0" rIns="0" bIns="0" rtlCol="0" anchor="ctr"/>
          <a:lstStyle/>
          <a:p>
            <a:pPr marL="0" indent="0">
              <a:buNone/>
            </a:pPr>
            <a:r>
              <a:rPr lang="en-US" sz="2000" b="1" dirty="0">
                <a:solidFill>
                  <a:srgbClr val="1B2A3A"/>
                </a:solidFill>
                <a:latin typeface="맑은 고딕" pitchFamily="34" charset="0"/>
                <a:ea typeface="맑은 고딕" pitchFamily="34" charset="-122"/>
                <a:cs typeface="맑은 고딕" pitchFamily="34" charset="-120"/>
              </a:rPr>
              <a:t>라우터와 전문 에이전트</a:t>
            </a:r>
            <a:endParaRPr lang="en-US" sz="2000" dirty="0"/>
          </a:p>
        </p:txBody>
      </p:sp>
      <p:sp>
        <p:nvSpPr>
          <p:cNvPr id="6" name="Text 4"/>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10</a:t>
            </a:r>
            <a:endParaRPr lang="en-US" sz="850" dirty="0"/>
          </a:p>
        </p:txBody>
      </p:sp>
      <p:sp>
        <p:nvSpPr>
          <p:cNvPr id="9" name="Shape 5"/>
          <p:cNvSpPr/>
          <p:nvPr/>
        </p:nvSpPr>
        <p:spPr>
          <a:xfrm>
            <a:off x="457200" y="3024251"/>
            <a:ext cx="914400" cy="347472"/>
          </a:xfrm>
          <a:prstGeom prst="roundRect">
            <a:avLst>
              <a:gd name="adj" fmla="val 21053"/>
            </a:avLst>
          </a:prstGeom>
          <a:solidFill>
            <a:srgbClr val="F1F5F9"/>
          </a:solidFill>
          <a:ln w="12700">
            <a:solidFill>
              <a:srgbClr val="F1F5F9"/>
            </a:solidFill>
            <a:prstDash val="solid"/>
          </a:ln>
        </p:spPr>
        <p:txBody>
          <a:bodyPr/>
          <a:lstStyle/>
          <a:p>
            <a:endParaRPr lang="ko-KR" altLang="en-US"/>
          </a:p>
        </p:txBody>
      </p:sp>
      <p:sp>
        <p:nvSpPr>
          <p:cNvPr id="10" name="Text 6"/>
          <p:cNvSpPr txBox="1"/>
          <p:nvPr/>
        </p:nvSpPr>
        <p:spPr>
          <a:xfrm>
            <a:off x="457200" y="3024251"/>
            <a:ext cx="914400" cy="347472"/>
          </a:xfrm>
          <a:prstGeom prst="rect">
            <a:avLst/>
          </a:prstGeom>
          <a:noFill/>
          <a:ln/>
        </p:spPr>
        <p:txBody>
          <a:bodyPr wrap="square" lIns="0" tIns="0" rIns="0" bIns="0" rtlCol="0" anchor="ctr"/>
          <a:lstStyle/>
          <a:p>
            <a:pPr marL="0" indent="0" algn="ctr">
              <a:buNone/>
            </a:pPr>
            <a:r>
              <a:rPr lang="en-US" sz="900" dirty="0">
                <a:solidFill>
                  <a:srgbClr val="64748B"/>
                </a:solidFill>
                <a:latin typeface="맑은 고딕" pitchFamily="34" charset="0"/>
                <a:ea typeface="맑은 고딕" pitchFamily="34" charset="-122"/>
                <a:cs typeface="맑은 고딕" pitchFamily="34" charset="-120"/>
              </a:rPr>
              <a:t>자동이체</a:t>
            </a:r>
            <a:endParaRPr lang="en-US" sz="900" dirty="0"/>
          </a:p>
        </p:txBody>
      </p:sp>
      <p:sp>
        <p:nvSpPr>
          <p:cNvPr id="11" name="Shape 7"/>
          <p:cNvSpPr/>
          <p:nvPr/>
        </p:nvSpPr>
        <p:spPr>
          <a:xfrm>
            <a:off x="1444752" y="3024251"/>
            <a:ext cx="914400" cy="347472"/>
          </a:xfrm>
          <a:prstGeom prst="roundRect">
            <a:avLst>
              <a:gd name="adj" fmla="val 21053"/>
            </a:avLst>
          </a:prstGeom>
          <a:solidFill>
            <a:srgbClr val="F1F5F9"/>
          </a:solidFill>
          <a:ln w="12700">
            <a:solidFill>
              <a:srgbClr val="F1F5F9"/>
            </a:solidFill>
            <a:prstDash val="solid"/>
          </a:ln>
        </p:spPr>
        <p:txBody>
          <a:bodyPr/>
          <a:lstStyle/>
          <a:p>
            <a:endParaRPr lang="ko-KR" altLang="en-US"/>
          </a:p>
        </p:txBody>
      </p:sp>
      <p:sp>
        <p:nvSpPr>
          <p:cNvPr id="12" name="Text 8"/>
          <p:cNvSpPr txBox="1"/>
          <p:nvPr/>
        </p:nvSpPr>
        <p:spPr>
          <a:xfrm>
            <a:off x="1444752" y="3024251"/>
            <a:ext cx="914400" cy="347472"/>
          </a:xfrm>
          <a:prstGeom prst="rect">
            <a:avLst/>
          </a:prstGeom>
          <a:noFill/>
          <a:ln/>
        </p:spPr>
        <p:txBody>
          <a:bodyPr wrap="square" lIns="0" tIns="0" rIns="0" bIns="0" rtlCol="0" anchor="ctr"/>
          <a:lstStyle/>
          <a:p>
            <a:pPr marL="0" indent="0" algn="ctr">
              <a:buNone/>
            </a:pPr>
            <a:r>
              <a:rPr lang="en-US" sz="900" dirty="0">
                <a:solidFill>
                  <a:srgbClr val="64748B"/>
                </a:solidFill>
                <a:latin typeface="맑은 고딕" pitchFamily="34" charset="0"/>
                <a:ea typeface="맑은 고딕" pitchFamily="34" charset="-122"/>
                <a:cs typeface="맑은 고딕" pitchFamily="34" charset="-120"/>
              </a:rPr>
              <a:t>착오송금</a:t>
            </a:r>
            <a:endParaRPr lang="en-US" sz="900" dirty="0"/>
          </a:p>
        </p:txBody>
      </p:sp>
      <p:sp>
        <p:nvSpPr>
          <p:cNvPr id="13" name="Shape 9"/>
          <p:cNvSpPr/>
          <p:nvPr/>
        </p:nvSpPr>
        <p:spPr>
          <a:xfrm>
            <a:off x="2432304" y="3024251"/>
            <a:ext cx="914400" cy="347472"/>
          </a:xfrm>
          <a:prstGeom prst="roundRect">
            <a:avLst>
              <a:gd name="adj" fmla="val 21053"/>
            </a:avLst>
          </a:prstGeom>
          <a:solidFill>
            <a:srgbClr val="F1F5F9"/>
          </a:solidFill>
          <a:ln w="12700">
            <a:solidFill>
              <a:srgbClr val="F1F5F9"/>
            </a:solidFill>
            <a:prstDash val="solid"/>
          </a:ln>
        </p:spPr>
        <p:txBody>
          <a:bodyPr/>
          <a:lstStyle/>
          <a:p>
            <a:endParaRPr lang="ko-KR" altLang="en-US"/>
          </a:p>
        </p:txBody>
      </p:sp>
      <p:sp>
        <p:nvSpPr>
          <p:cNvPr id="14" name="Text 10"/>
          <p:cNvSpPr txBox="1"/>
          <p:nvPr/>
        </p:nvSpPr>
        <p:spPr>
          <a:xfrm>
            <a:off x="2432304" y="3024251"/>
            <a:ext cx="914400" cy="347472"/>
          </a:xfrm>
          <a:prstGeom prst="rect">
            <a:avLst/>
          </a:prstGeom>
          <a:noFill/>
          <a:ln/>
        </p:spPr>
        <p:txBody>
          <a:bodyPr wrap="square" lIns="0" tIns="0" rIns="0" bIns="0" rtlCol="0" anchor="ctr"/>
          <a:lstStyle/>
          <a:p>
            <a:pPr marL="0" indent="0" algn="ctr">
              <a:buNone/>
            </a:pPr>
            <a:r>
              <a:rPr lang="en-US" sz="900" dirty="0">
                <a:solidFill>
                  <a:srgbClr val="64748B"/>
                </a:solidFill>
                <a:latin typeface="맑은 고딕" pitchFamily="34" charset="0"/>
                <a:ea typeface="맑은 고딕" pitchFamily="34" charset="-122"/>
                <a:cs typeface="맑은 고딕" pitchFamily="34" charset="-120"/>
              </a:rPr>
              <a:t>예금 해지</a:t>
            </a:r>
            <a:endParaRPr lang="en-US" sz="900" dirty="0"/>
          </a:p>
        </p:txBody>
      </p:sp>
      <p:sp>
        <p:nvSpPr>
          <p:cNvPr id="15" name="Shape 11"/>
          <p:cNvSpPr/>
          <p:nvPr/>
        </p:nvSpPr>
        <p:spPr>
          <a:xfrm>
            <a:off x="457200" y="3463163"/>
            <a:ext cx="914400" cy="347472"/>
          </a:xfrm>
          <a:prstGeom prst="roundRect">
            <a:avLst>
              <a:gd name="adj" fmla="val 21053"/>
            </a:avLst>
          </a:prstGeom>
          <a:solidFill>
            <a:srgbClr val="F1F5F9"/>
          </a:solidFill>
          <a:ln w="12700">
            <a:solidFill>
              <a:srgbClr val="F1F5F9"/>
            </a:solidFill>
            <a:prstDash val="solid"/>
          </a:ln>
        </p:spPr>
        <p:txBody>
          <a:bodyPr/>
          <a:lstStyle/>
          <a:p>
            <a:endParaRPr lang="ko-KR" altLang="en-US"/>
          </a:p>
        </p:txBody>
      </p:sp>
      <p:sp>
        <p:nvSpPr>
          <p:cNvPr id="16" name="Text 12"/>
          <p:cNvSpPr txBox="1"/>
          <p:nvPr/>
        </p:nvSpPr>
        <p:spPr>
          <a:xfrm>
            <a:off x="457200" y="3463163"/>
            <a:ext cx="914400" cy="347472"/>
          </a:xfrm>
          <a:prstGeom prst="rect">
            <a:avLst/>
          </a:prstGeom>
          <a:noFill/>
          <a:ln/>
        </p:spPr>
        <p:txBody>
          <a:bodyPr wrap="square" lIns="0" tIns="0" rIns="0" bIns="0" rtlCol="0" anchor="ctr"/>
          <a:lstStyle/>
          <a:p>
            <a:pPr marL="0" indent="0" algn="ctr">
              <a:buNone/>
            </a:pPr>
            <a:r>
              <a:rPr lang="en-US" sz="900" dirty="0">
                <a:solidFill>
                  <a:srgbClr val="64748B"/>
                </a:solidFill>
                <a:latin typeface="맑은 고딕" pitchFamily="34" charset="0"/>
                <a:ea typeface="맑은 고딕" pitchFamily="34" charset="-122"/>
                <a:cs typeface="맑은 고딕" pitchFamily="34" charset="-120"/>
              </a:rPr>
              <a:t>거래 한도</a:t>
            </a:r>
            <a:endParaRPr lang="en-US" sz="900" dirty="0"/>
          </a:p>
        </p:txBody>
      </p:sp>
      <p:sp>
        <p:nvSpPr>
          <p:cNvPr id="17" name="Shape 13"/>
          <p:cNvSpPr/>
          <p:nvPr/>
        </p:nvSpPr>
        <p:spPr>
          <a:xfrm>
            <a:off x="1444752" y="3463163"/>
            <a:ext cx="914400" cy="347472"/>
          </a:xfrm>
          <a:prstGeom prst="roundRect">
            <a:avLst>
              <a:gd name="adj" fmla="val 21053"/>
            </a:avLst>
          </a:prstGeom>
          <a:solidFill>
            <a:srgbClr val="F1F5F9"/>
          </a:solidFill>
          <a:ln w="12700">
            <a:solidFill>
              <a:srgbClr val="F1F5F9"/>
            </a:solidFill>
            <a:prstDash val="solid"/>
          </a:ln>
        </p:spPr>
        <p:txBody>
          <a:bodyPr/>
          <a:lstStyle/>
          <a:p>
            <a:endParaRPr lang="ko-KR" altLang="en-US"/>
          </a:p>
        </p:txBody>
      </p:sp>
      <p:sp>
        <p:nvSpPr>
          <p:cNvPr id="18" name="Text 14"/>
          <p:cNvSpPr txBox="1"/>
          <p:nvPr/>
        </p:nvSpPr>
        <p:spPr>
          <a:xfrm>
            <a:off x="1444752" y="3463163"/>
            <a:ext cx="914400" cy="347472"/>
          </a:xfrm>
          <a:prstGeom prst="rect">
            <a:avLst/>
          </a:prstGeom>
          <a:noFill/>
          <a:ln/>
        </p:spPr>
        <p:txBody>
          <a:bodyPr wrap="square" lIns="0" tIns="0" rIns="0" bIns="0" rtlCol="0" anchor="ctr"/>
          <a:lstStyle/>
          <a:p>
            <a:pPr marL="0" indent="0" algn="ctr">
              <a:buNone/>
            </a:pPr>
            <a:r>
              <a:rPr lang="en-US" sz="900" dirty="0">
                <a:solidFill>
                  <a:srgbClr val="64748B"/>
                </a:solidFill>
                <a:latin typeface="맑은 고딕" pitchFamily="34" charset="0"/>
                <a:ea typeface="맑은 고딕" pitchFamily="34" charset="-122"/>
                <a:cs typeface="맑은 고딕" pitchFamily="34" charset="-120"/>
              </a:rPr>
              <a:t>금리 감면</a:t>
            </a:r>
            <a:endParaRPr lang="en-US" sz="900" dirty="0"/>
          </a:p>
        </p:txBody>
      </p:sp>
      <p:sp>
        <p:nvSpPr>
          <p:cNvPr id="19" name="Shape 15"/>
          <p:cNvSpPr/>
          <p:nvPr/>
        </p:nvSpPr>
        <p:spPr>
          <a:xfrm>
            <a:off x="2432304" y="3463163"/>
            <a:ext cx="914400" cy="347472"/>
          </a:xfrm>
          <a:prstGeom prst="roundRect">
            <a:avLst>
              <a:gd name="adj" fmla="val 21053"/>
            </a:avLst>
          </a:prstGeom>
          <a:solidFill>
            <a:srgbClr val="F1F5F9"/>
          </a:solidFill>
          <a:ln w="12700">
            <a:solidFill>
              <a:srgbClr val="F1F5F9"/>
            </a:solidFill>
            <a:prstDash val="solid"/>
          </a:ln>
        </p:spPr>
        <p:txBody>
          <a:bodyPr/>
          <a:lstStyle/>
          <a:p>
            <a:endParaRPr lang="ko-KR" altLang="en-US"/>
          </a:p>
        </p:txBody>
      </p:sp>
      <p:sp>
        <p:nvSpPr>
          <p:cNvPr id="20" name="Text 16"/>
          <p:cNvSpPr txBox="1"/>
          <p:nvPr/>
        </p:nvSpPr>
        <p:spPr>
          <a:xfrm>
            <a:off x="2432304" y="3463163"/>
            <a:ext cx="914400" cy="347472"/>
          </a:xfrm>
          <a:prstGeom prst="rect">
            <a:avLst/>
          </a:prstGeom>
          <a:noFill/>
          <a:ln/>
        </p:spPr>
        <p:txBody>
          <a:bodyPr wrap="square" lIns="0" tIns="0" rIns="0" bIns="0" rtlCol="0" anchor="ctr"/>
          <a:lstStyle/>
          <a:p>
            <a:pPr marL="0" indent="0" algn="ctr">
              <a:buNone/>
            </a:pPr>
            <a:r>
              <a:rPr lang="en-US" sz="900" dirty="0">
                <a:solidFill>
                  <a:srgbClr val="64748B"/>
                </a:solidFill>
                <a:latin typeface="맑은 고딕" pitchFamily="34" charset="0"/>
                <a:ea typeface="맑은 고딕" pitchFamily="34" charset="-122"/>
                <a:cs typeface="맑은 고딕" pitchFamily="34" charset="-120"/>
              </a:rPr>
              <a:t>환전</a:t>
            </a:r>
            <a:endParaRPr lang="en-US" sz="900" dirty="0"/>
          </a:p>
        </p:txBody>
      </p:sp>
      <p:sp>
        <p:nvSpPr>
          <p:cNvPr id="21" name="Text 17"/>
          <p:cNvSpPr txBox="1"/>
          <p:nvPr/>
        </p:nvSpPr>
        <p:spPr>
          <a:xfrm>
            <a:off x="457200" y="3938651"/>
            <a:ext cx="2926080" cy="320040"/>
          </a:xfrm>
          <a:prstGeom prst="rect">
            <a:avLst/>
          </a:prstGeom>
          <a:noFill/>
          <a:ln/>
        </p:spPr>
        <p:txBody>
          <a:bodyPr wrap="square" lIns="0" tIns="0" rIns="0" bIns="0" rtlCol="0" anchor="ctr"/>
          <a:lstStyle/>
          <a:p>
            <a:pPr marL="0" indent="0">
              <a:buNone/>
            </a:pPr>
            <a:r>
              <a:rPr lang="en-US" sz="1050" b="1" dirty="0">
                <a:solidFill>
                  <a:srgbClr val="64748B"/>
                </a:solidFill>
                <a:latin typeface="맑은 고딕" pitchFamily="34" charset="0"/>
                <a:ea typeface="맑은 고딕" pitchFamily="34" charset="-122"/>
                <a:cs typeface="맑은 고딕" pitchFamily="34" charset="-120"/>
              </a:rPr>
              <a:t>→ 상담원 안내</a:t>
            </a:r>
            <a:endParaRPr lang="en-US" sz="1050" dirty="0"/>
          </a:p>
        </p:txBody>
      </p:sp>
      <p:sp>
        <p:nvSpPr>
          <p:cNvPr id="22" name="Shape 18"/>
          <p:cNvSpPr/>
          <p:nvPr/>
        </p:nvSpPr>
        <p:spPr>
          <a:xfrm>
            <a:off x="3749040" y="1195451"/>
            <a:ext cx="4937760" cy="914400"/>
          </a:xfrm>
          <a:prstGeom prst="roundRect">
            <a:avLst>
              <a:gd name="adj" fmla="val 8000"/>
            </a:avLst>
          </a:prstGeom>
          <a:solidFill>
            <a:srgbClr val="DCE8F6"/>
          </a:solidFill>
          <a:ln w="12700">
            <a:solidFill>
              <a:srgbClr val="DCE8F6"/>
            </a:solidFill>
            <a:prstDash val="solid"/>
          </a:ln>
        </p:spPr>
        <p:txBody>
          <a:bodyPr/>
          <a:lstStyle/>
          <a:p>
            <a:endParaRPr lang="ko-KR" altLang="en-US"/>
          </a:p>
        </p:txBody>
      </p:sp>
      <p:sp>
        <p:nvSpPr>
          <p:cNvPr id="23" name="Shape 19"/>
          <p:cNvSpPr/>
          <p:nvPr/>
        </p:nvSpPr>
        <p:spPr>
          <a:xfrm>
            <a:off x="3886200" y="1350899"/>
            <a:ext cx="603504" cy="603504"/>
          </a:xfrm>
          <a:prstGeom prst="ellipse">
            <a:avLst/>
          </a:prstGeom>
          <a:solidFill>
            <a:srgbClr val="41659E"/>
          </a:solidFill>
          <a:ln w="12700">
            <a:solidFill>
              <a:srgbClr val="41659E"/>
            </a:solidFill>
            <a:prstDash val="solid"/>
          </a:ln>
        </p:spPr>
        <p:txBody>
          <a:bodyPr/>
          <a:lstStyle/>
          <a:p>
            <a:endParaRPr lang="ko-KR" altLang="en-US"/>
          </a:p>
        </p:txBody>
      </p:sp>
      <p:pic>
        <p:nvPicPr>
          <p:cNvPr id="24" name="Image 1" descr="preencoded.png"/>
          <p:cNvPicPr>
            <a:picLocks noChangeAspect="1"/>
          </p:cNvPicPr>
          <p:nvPr/>
        </p:nvPicPr>
        <p:blipFill>
          <a:blip r:embed="rId3"/>
          <a:stretch>
            <a:fillRect/>
          </a:stretch>
        </p:blipFill>
        <p:spPr>
          <a:xfrm>
            <a:off x="4031041" y="1495739"/>
            <a:ext cx="313822" cy="313822"/>
          </a:xfrm>
          <a:prstGeom prst="rect">
            <a:avLst/>
          </a:prstGeom>
        </p:spPr>
      </p:pic>
      <p:sp>
        <p:nvSpPr>
          <p:cNvPr id="25" name="Text 20"/>
          <p:cNvSpPr txBox="1"/>
          <p:nvPr/>
        </p:nvSpPr>
        <p:spPr>
          <a:xfrm>
            <a:off x="4617720" y="1305179"/>
            <a:ext cx="1828800" cy="365760"/>
          </a:xfrm>
          <a:prstGeom prst="rect">
            <a:avLst/>
          </a:prstGeom>
          <a:noFill/>
          <a:ln/>
        </p:spPr>
        <p:txBody>
          <a:bodyPr wrap="square" lIns="0" tIns="0" rIns="0" bIns="0" rtlCol="0" anchor="ctr"/>
          <a:lstStyle/>
          <a:p>
            <a:pPr marL="0" indent="0">
              <a:buNone/>
            </a:pPr>
            <a:r>
              <a:rPr lang="en-US" sz="1400" b="1" dirty="0">
                <a:solidFill>
                  <a:srgbClr val="1E293B"/>
                </a:solidFill>
                <a:latin typeface="맑은 고딕" pitchFamily="34" charset="0"/>
                <a:ea typeface="맑은 고딕" pitchFamily="34" charset="-122"/>
                <a:cs typeface="맑은 고딕" pitchFamily="34" charset="-120"/>
              </a:rPr>
              <a:t>잔액조회</a:t>
            </a:r>
            <a:endParaRPr lang="en-US" sz="1400" dirty="0"/>
          </a:p>
        </p:txBody>
      </p:sp>
      <p:sp>
        <p:nvSpPr>
          <p:cNvPr id="26" name="Text 21"/>
          <p:cNvSpPr txBox="1"/>
          <p:nvPr/>
        </p:nvSpPr>
        <p:spPr>
          <a:xfrm>
            <a:off x="4617720" y="1670939"/>
            <a:ext cx="1828800" cy="274320"/>
          </a:xfrm>
          <a:prstGeom prst="rect">
            <a:avLst/>
          </a:prstGeom>
          <a:noFill/>
          <a:ln/>
        </p:spPr>
        <p:txBody>
          <a:bodyPr wrap="square" lIns="0" tIns="0" rIns="0" bIns="0" rtlCol="0" anchor="ctr"/>
          <a:lstStyle/>
          <a:p>
            <a:pPr marL="0" indent="0">
              <a:buNone/>
            </a:pPr>
            <a:r>
              <a:rPr lang="en-US" sz="1000" dirty="0">
                <a:solidFill>
                  <a:srgbClr val="64748B"/>
                </a:solidFill>
                <a:latin typeface="맑은 고딕" pitchFamily="34" charset="0"/>
                <a:ea typeface="맑은 고딕" pitchFamily="34" charset="-122"/>
                <a:cs typeface="맑은 고딕" pitchFamily="34" charset="-120"/>
              </a:rPr>
              <a:t>cs-balance</a:t>
            </a:r>
            <a:endParaRPr lang="en-US" sz="1000" dirty="0"/>
          </a:p>
        </p:txBody>
      </p:sp>
      <p:sp>
        <p:nvSpPr>
          <p:cNvPr id="27" name="Shape 22"/>
          <p:cNvSpPr/>
          <p:nvPr/>
        </p:nvSpPr>
        <p:spPr>
          <a:xfrm>
            <a:off x="6492240" y="1469771"/>
            <a:ext cx="2057400" cy="365760"/>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28" name="Text 23"/>
          <p:cNvSpPr txBox="1"/>
          <p:nvPr/>
        </p:nvSpPr>
        <p:spPr>
          <a:xfrm>
            <a:off x="6492240" y="1469771"/>
            <a:ext cx="2057400" cy="365760"/>
          </a:xfrm>
          <a:prstGeom prst="rect">
            <a:avLst/>
          </a:prstGeom>
          <a:noFill/>
          <a:ln/>
        </p:spPr>
        <p:txBody>
          <a:bodyPr wrap="square" lIns="0" tIns="0" rIns="0" bIns="0" rtlCol="0" anchor="ctr"/>
          <a:lstStyle/>
          <a:p>
            <a:pPr marL="0" indent="0" algn="ctr">
              <a:buNone/>
            </a:pPr>
            <a:r>
              <a:rPr lang="en-US" sz="950" b="1" dirty="0">
                <a:solidFill>
                  <a:srgbClr val="41659E"/>
                </a:solidFill>
                <a:latin typeface="맑은 고딕" pitchFamily="34" charset="0"/>
                <a:ea typeface="맑은 고딕" pitchFamily="34" charset="-122"/>
                <a:cs typeface="맑은 고딕" pitchFamily="34" charset="-120"/>
              </a:rPr>
              <a:t>{{balance}}</a:t>
            </a:r>
            <a:endParaRPr lang="en-US" sz="950" dirty="0"/>
          </a:p>
        </p:txBody>
      </p:sp>
      <p:sp>
        <p:nvSpPr>
          <p:cNvPr id="29" name="Shape 24"/>
          <p:cNvSpPr/>
          <p:nvPr/>
        </p:nvSpPr>
        <p:spPr>
          <a:xfrm>
            <a:off x="3749040" y="2247011"/>
            <a:ext cx="4937760" cy="914400"/>
          </a:xfrm>
          <a:prstGeom prst="roundRect">
            <a:avLst>
              <a:gd name="adj" fmla="val 8000"/>
            </a:avLst>
          </a:prstGeom>
          <a:solidFill>
            <a:srgbClr val="DCE8F6"/>
          </a:solidFill>
          <a:ln w="12700">
            <a:solidFill>
              <a:srgbClr val="DCE8F6"/>
            </a:solidFill>
            <a:prstDash val="solid"/>
          </a:ln>
        </p:spPr>
        <p:txBody>
          <a:bodyPr/>
          <a:lstStyle/>
          <a:p>
            <a:endParaRPr lang="ko-KR" altLang="en-US"/>
          </a:p>
        </p:txBody>
      </p:sp>
      <p:sp>
        <p:nvSpPr>
          <p:cNvPr id="30" name="Shape 25"/>
          <p:cNvSpPr/>
          <p:nvPr/>
        </p:nvSpPr>
        <p:spPr>
          <a:xfrm>
            <a:off x="3886200" y="2402459"/>
            <a:ext cx="603504" cy="603504"/>
          </a:xfrm>
          <a:prstGeom prst="ellipse">
            <a:avLst/>
          </a:prstGeom>
          <a:solidFill>
            <a:srgbClr val="41659E"/>
          </a:solidFill>
          <a:ln w="12700">
            <a:solidFill>
              <a:srgbClr val="41659E"/>
            </a:solidFill>
            <a:prstDash val="solid"/>
          </a:ln>
        </p:spPr>
        <p:txBody>
          <a:bodyPr/>
          <a:lstStyle/>
          <a:p>
            <a:endParaRPr lang="ko-KR" altLang="en-US"/>
          </a:p>
        </p:txBody>
      </p:sp>
      <p:pic>
        <p:nvPicPr>
          <p:cNvPr id="31" name="Image 2" descr="preencoded.png"/>
          <p:cNvPicPr>
            <a:picLocks noChangeAspect="1"/>
          </p:cNvPicPr>
          <p:nvPr/>
        </p:nvPicPr>
        <p:blipFill>
          <a:blip r:embed="rId4"/>
          <a:stretch>
            <a:fillRect/>
          </a:stretch>
        </p:blipFill>
        <p:spPr>
          <a:xfrm>
            <a:off x="4031041" y="2547299"/>
            <a:ext cx="313822" cy="313822"/>
          </a:xfrm>
          <a:prstGeom prst="rect">
            <a:avLst/>
          </a:prstGeom>
        </p:spPr>
      </p:pic>
      <p:sp>
        <p:nvSpPr>
          <p:cNvPr id="32" name="Text 26"/>
          <p:cNvSpPr txBox="1"/>
          <p:nvPr/>
        </p:nvSpPr>
        <p:spPr>
          <a:xfrm>
            <a:off x="4617720" y="2356739"/>
            <a:ext cx="1828800" cy="365760"/>
          </a:xfrm>
          <a:prstGeom prst="rect">
            <a:avLst/>
          </a:prstGeom>
          <a:noFill/>
          <a:ln/>
        </p:spPr>
        <p:txBody>
          <a:bodyPr wrap="square" lIns="0" tIns="0" rIns="0" bIns="0" rtlCol="0" anchor="ctr"/>
          <a:lstStyle/>
          <a:p>
            <a:pPr marL="0" indent="0">
              <a:buNone/>
            </a:pPr>
            <a:r>
              <a:rPr lang="en-US" sz="1400" b="1" dirty="0">
                <a:solidFill>
                  <a:srgbClr val="1E293B"/>
                </a:solidFill>
                <a:latin typeface="맑은 고딕" pitchFamily="34" charset="0"/>
                <a:ea typeface="맑은 고딕" pitchFamily="34" charset="-122"/>
                <a:cs typeface="맑은 고딕" pitchFamily="34" charset="-120"/>
              </a:rPr>
              <a:t>대출문의</a:t>
            </a:r>
            <a:endParaRPr lang="en-US" sz="1400" dirty="0"/>
          </a:p>
        </p:txBody>
      </p:sp>
      <p:sp>
        <p:nvSpPr>
          <p:cNvPr id="33" name="Text 27"/>
          <p:cNvSpPr txBox="1"/>
          <p:nvPr/>
        </p:nvSpPr>
        <p:spPr>
          <a:xfrm>
            <a:off x="4617720" y="2722499"/>
            <a:ext cx="1828800" cy="274320"/>
          </a:xfrm>
          <a:prstGeom prst="rect">
            <a:avLst/>
          </a:prstGeom>
          <a:noFill/>
          <a:ln/>
        </p:spPr>
        <p:txBody>
          <a:bodyPr wrap="square" lIns="0" tIns="0" rIns="0" bIns="0" rtlCol="0" anchor="ctr"/>
          <a:lstStyle/>
          <a:p>
            <a:pPr marL="0" indent="0">
              <a:buNone/>
            </a:pPr>
            <a:r>
              <a:rPr lang="en-US" sz="1000" dirty="0">
                <a:solidFill>
                  <a:srgbClr val="64748B"/>
                </a:solidFill>
                <a:latin typeface="맑은 고딕" pitchFamily="34" charset="0"/>
                <a:ea typeface="맑은 고딕" pitchFamily="34" charset="-122"/>
                <a:cs typeface="맑은 고딕" pitchFamily="34" charset="-120"/>
              </a:rPr>
              <a:t>cs-loan</a:t>
            </a:r>
            <a:endParaRPr lang="en-US" sz="1000" dirty="0"/>
          </a:p>
        </p:txBody>
      </p:sp>
      <p:sp>
        <p:nvSpPr>
          <p:cNvPr id="34" name="Shape 28"/>
          <p:cNvSpPr/>
          <p:nvPr/>
        </p:nvSpPr>
        <p:spPr>
          <a:xfrm>
            <a:off x="6492240" y="2521331"/>
            <a:ext cx="2057400" cy="365760"/>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35" name="Text 29"/>
          <p:cNvSpPr txBox="1"/>
          <p:nvPr/>
        </p:nvSpPr>
        <p:spPr>
          <a:xfrm>
            <a:off x="6492240" y="2521331"/>
            <a:ext cx="2057400" cy="365760"/>
          </a:xfrm>
          <a:prstGeom prst="rect">
            <a:avLst/>
          </a:prstGeom>
          <a:noFill/>
          <a:ln/>
        </p:spPr>
        <p:txBody>
          <a:bodyPr wrap="square" lIns="0" tIns="0" rIns="0" bIns="0" rtlCol="0" anchor="ctr"/>
          <a:lstStyle/>
          <a:p>
            <a:pPr marL="0" indent="0" algn="ctr">
              <a:buNone/>
            </a:pPr>
            <a:r>
              <a:rPr lang="en-US" sz="950" b="1" dirty="0">
                <a:solidFill>
                  <a:srgbClr val="41659E"/>
                </a:solidFill>
                <a:latin typeface="맑은 고딕" pitchFamily="34" charset="0"/>
                <a:ea typeface="맑은 고딕" pitchFamily="34" charset="-122"/>
                <a:cs typeface="맑은 고딕" pitchFamily="34" charset="-120"/>
              </a:rPr>
              <a:t>{{principal_remaining}}</a:t>
            </a:r>
            <a:endParaRPr lang="en-US" sz="950" dirty="0"/>
          </a:p>
        </p:txBody>
      </p:sp>
      <p:sp>
        <p:nvSpPr>
          <p:cNvPr id="36" name="Shape 30"/>
          <p:cNvSpPr/>
          <p:nvPr/>
        </p:nvSpPr>
        <p:spPr>
          <a:xfrm>
            <a:off x="3749040" y="3298570"/>
            <a:ext cx="4937760" cy="914400"/>
          </a:xfrm>
          <a:prstGeom prst="roundRect">
            <a:avLst>
              <a:gd name="adj" fmla="val 8000"/>
            </a:avLst>
          </a:prstGeom>
          <a:solidFill>
            <a:srgbClr val="DCE8F6"/>
          </a:solidFill>
          <a:ln w="12700">
            <a:solidFill>
              <a:srgbClr val="DCE8F6"/>
            </a:solidFill>
            <a:prstDash val="solid"/>
          </a:ln>
        </p:spPr>
        <p:txBody>
          <a:bodyPr/>
          <a:lstStyle/>
          <a:p>
            <a:endParaRPr lang="ko-KR" altLang="en-US"/>
          </a:p>
        </p:txBody>
      </p:sp>
      <p:sp>
        <p:nvSpPr>
          <p:cNvPr id="37" name="Shape 31"/>
          <p:cNvSpPr/>
          <p:nvPr/>
        </p:nvSpPr>
        <p:spPr>
          <a:xfrm>
            <a:off x="3886200" y="3454019"/>
            <a:ext cx="603504" cy="603504"/>
          </a:xfrm>
          <a:prstGeom prst="ellipse">
            <a:avLst/>
          </a:prstGeom>
          <a:solidFill>
            <a:srgbClr val="41659E"/>
          </a:solidFill>
          <a:ln w="12700">
            <a:solidFill>
              <a:srgbClr val="41659E"/>
            </a:solidFill>
            <a:prstDash val="solid"/>
          </a:ln>
        </p:spPr>
        <p:txBody>
          <a:bodyPr/>
          <a:lstStyle/>
          <a:p>
            <a:endParaRPr lang="ko-KR" altLang="en-US"/>
          </a:p>
        </p:txBody>
      </p:sp>
      <p:pic>
        <p:nvPicPr>
          <p:cNvPr id="38" name="Image 3" descr="preencoded.png"/>
          <p:cNvPicPr>
            <a:picLocks noChangeAspect="1"/>
          </p:cNvPicPr>
          <p:nvPr/>
        </p:nvPicPr>
        <p:blipFill>
          <a:blip r:embed="rId5"/>
          <a:stretch>
            <a:fillRect/>
          </a:stretch>
        </p:blipFill>
        <p:spPr>
          <a:xfrm>
            <a:off x="4031041" y="3598859"/>
            <a:ext cx="313822" cy="313822"/>
          </a:xfrm>
          <a:prstGeom prst="rect">
            <a:avLst/>
          </a:prstGeom>
        </p:spPr>
      </p:pic>
      <p:sp>
        <p:nvSpPr>
          <p:cNvPr id="39" name="Text 32"/>
          <p:cNvSpPr txBox="1"/>
          <p:nvPr/>
        </p:nvSpPr>
        <p:spPr>
          <a:xfrm>
            <a:off x="4617720" y="3408299"/>
            <a:ext cx="1828800" cy="365760"/>
          </a:xfrm>
          <a:prstGeom prst="rect">
            <a:avLst/>
          </a:prstGeom>
          <a:noFill/>
          <a:ln/>
        </p:spPr>
        <p:txBody>
          <a:bodyPr wrap="square" lIns="0" tIns="0" rIns="0" bIns="0" rtlCol="0" anchor="ctr"/>
          <a:lstStyle/>
          <a:p>
            <a:pPr marL="0" indent="0">
              <a:buNone/>
            </a:pPr>
            <a:r>
              <a:rPr lang="en-US" sz="1400" b="1" dirty="0">
                <a:solidFill>
                  <a:srgbClr val="1E293B"/>
                </a:solidFill>
                <a:latin typeface="맑은 고딕" pitchFamily="34" charset="0"/>
                <a:ea typeface="맑은 고딕" pitchFamily="34" charset="-122"/>
                <a:cs typeface="맑은 고딕" pitchFamily="34" charset="-120"/>
              </a:rPr>
              <a:t>이자/연체</a:t>
            </a:r>
            <a:endParaRPr lang="en-US" sz="1400" dirty="0"/>
          </a:p>
        </p:txBody>
      </p:sp>
      <p:sp>
        <p:nvSpPr>
          <p:cNvPr id="40" name="Text 33"/>
          <p:cNvSpPr txBox="1"/>
          <p:nvPr/>
        </p:nvSpPr>
        <p:spPr>
          <a:xfrm>
            <a:off x="4617720" y="3774058"/>
            <a:ext cx="1828800" cy="274320"/>
          </a:xfrm>
          <a:prstGeom prst="rect">
            <a:avLst/>
          </a:prstGeom>
          <a:noFill/>
          <a:ln/>
        </p:spPr>
        <p:txBody>
          <a:bodyPr wrap="square" lIns="0" tIns="0" rIns="0" bIns="0" rtlCol="0" anchor="ctr"/>
          <a:lstStyle/>
          <a:p>
            <a:pPr marL="0" indent="0">
              <a:buNone/>
            </a:pPr>
            <a:r>
              <a:rPr lang="en-US" sz="1000" dirty="0">
                <a:solidFill>
                  <a:srgbClr val="64748B"/>
                </a:solidFill>
                <a:latin typeface="맑은 고딕" pitchFamily="34" charset="0"/>
                <a:ea typeface="맑은 고딕" pitchFamily="34" charset="-122"/>
                <a:cs typeface="맑은 고딕" pitchFamily="34" charset="-120"/>
              </a:rPr>
              <a:t>cs-interest</a:t>
            </a:r>
            <a:endParaRPr lang="en-US" sz="1000" dirty="0"/>
          </a:p>
        </p:txBody>
      </p:sp>
      <p:sp>
        <p:nvSpPr>
          <p:cNvPr id="41" name="Shape 34"/>
          <p:cNvSpPr/>
          <p:nvPr/>
        </p:nvSpPr>
        <p:spPr>
          <a:xfrm>
            <a:off x="6492240" y="3572891"/>
            <a:ext cx="2057400" cy="365760"/>
          </a:xfrm>
          <a:prstGeom prst="roundRect">
            <a:avLst>
              <a:gd name="adj" fmla="val 50000"/>
            </a:avLst>
          </a:prstGeom>
          <a:solidFill>
            <a:srgbClr val="FFFFFF"/>
          </a:solidFill>
          <a:ln w="12700">
            <a:solidFill>
              <a:srgbClr val="FFFFFF"/>
            </a:solidFill>
            <a:prstDash val="solid"/>
          </a:ln>
        </p:spPr>
        <p:txBody>
          <a:bodyPr/>
          <a:lstStyle/>
          <a:p>
            <a:endParaRPr lang="ko-KR" altLang="en-US"/>
          </a:p>
        </p:txBody>
      </p:sp>
      <p:sp>
        <p:nvSpPr>
          <p:cNvPr id="42" name="Text 35"/>
          <p:cNvSpPr txBox="1"/>
          <p:nvPr/>
        </p:nvSpPr>
        <p:spPr>
          <a:xfrm>
            <a:off x="6492240" y="3572891"/>
            <a:ext cx="2057400" cy="365760"/>
          </a:xfrm>
          <a:prstGeom prst="rect">
            <a:avLst/>
          </a:prstGeom>
          <a:noFill/>
          <a:ln/>
        </p:spPr>
        <p:txBody>
          <a:bodyPr wrap="square" lIns="0" tIns="0" rIns="0" bIns="0" rtlCol="0" anchor="ctr"/>
          <a:lstStyle/>
          <a:p>
            <a:pPr marL="0" indent="0" algn="ctr">
              <a:buNone/>
            </a:pPr>
            <a:r>
              <a:rPr lang="en-US" sz="950" b="1" dirty="0">
                <a:solidFill>
                  <a:srgbClr val="41659E"/>
                </a:solidFill>
                <a:latin typeface="맑은 고딕" pitchFamily="34" charset="0"/>
                <a:ea typeface="맑은 고딕" pitchFamily="34" charset="-122"/>
                <a:cs typeface="맑은 고딕" pitchFamily="34" charset="-120"/>
              </a:rPr>
              <a:t>{{overdue_amount}}</a:t>
            </a:r>
            <a:endParaRPr lang="en-US" sz="950" dirty="0"/>
          </a:p>
        </p:txBody>
      </p:sp>
      <p:sp>
        <p:nvSpPr>
          <p:cNvPr id="93" name="Router card"/>
          <p:cNvSpPr/>
          <p:nvPr/>
        </p:nvSpPr>
        <p:spPr>
          <a:xfrm>
            <a:off x="457200" y="1197991"/>
            <a:ext cx="2921000" cy="1651000"/>
          </a:xfrm>
          <a:prstGeom prst="roundRect">
            <a:avLst>
              <a:gd name="adj" fmla="val 8000"/>
            </a:avLst>
          </a:prstGeom>
          <a:solidFill>
            <a:srgbClr val="1B2A3A"/>
          </a:solidFill>
          <a:ln>
            <a:noFill/>
          </a:ln>
        </p:spPr>
        <p:txBody>
          <a:bodyPr wrap="square" lIns="0" tIns="0" rIns="0" bIns="0" anchor="t">
            <a:noAutofit/>
          </a:bodyPr>
          <a:lstStyle/>
          <a:p>
            <a:endParaRPr lang="ko-KR" dirty="0"/>
          </a:p>
        </p:txBody>
      </p:sp>
      <p:sp>
        <p:nvSpPr>
          <p:cNvPr id="94" name="Router icon bg"/>
          <p:cNvSpPr/>
          <p:nvPr/>
        </p:nvSpPr>
        <p:spPr>
          <a:xfrm>
            <a:off x="660400" y="1401191"/>
            <a:ext cx="546100" cy="546100"/>
          </a:xfrm>
          <a:prstGeom prst="ellipse">
            <a:avLst/>
          </a:prstGeom>
          <a:solidFill>
            <a:srgbClr val="41659E"/>
          </a:solidFill>
          <a:ln>
            <a:noFill/>
          </a:ln>
        </p:spPr>
        <p:txBody>
          <a:bodyPr wrap="square" lIns="0" tIns="0" rIns="0" bIns="0" anchor="t">
            <a:noAutofit/>
          </a:bodyPr>
          <a:lstStyle/>
          <a:p>
            <a:endParaRPr lang="ko-KR" dirty="0"/>
          </a:p>
        </p:txBody>
      </p:sp>
      <p:sp>
        <p:nvSpPr>
          <p:cNvPr id="95" name="Router name"/>
          <p:cNvSpPr/>
          <p:nvPr/>
        </p:nvSpPr>
        <p:spPr>
          <a:xfrm>
            <a:off x="1346200" y="1401191"/>
            <a:ext cx="1905000" cy="546100"/>
          </a:xfrm>
          <a:prstGeom prst="rect">
            <a:avLst/>
          </a:prstGeom>
          <a:noFill/>
          <a:ln>
            <a:noFill/>
          </a:ln>
        </p:spPr>
        <p:txBody>
          <a:bodyPr wrap="square" lIns="0" tIns="0" rIns="0" bIns="0" anchor="t">
            <a:noAutofit/>
          </a:bodyPr>
          <a:lstStyle/>
          <a:p>
            <a:pPr marL="0" indent="0">
              <a:buNone/>
            </a:pPr>
            <a:r>
              <a:rPr lang="ko-KR" sz="1400" b="1" dirty="0">
                <a:solidFill>
                  <a:srgbClr val="FFFFFF"/>
                </a:solidFill>
                <a:latin typeface="맑은 고딕" pitchFamily="34" charset="0"/>
                <a:ea typeface="맑은 고딕" pitchFamily="34" charset="-122"/>
                <a:cs typeface="맑은 고딕" pitchFamily="34" charset="-120"/>
              </a:rPr>
              <a:t>라우터</a:t>
            </a:r>
          </a:p>
          <a:p>
            <a:pPr marL="0" indent="0">
              <a:spcBef>
                <a:spcPts val="100"/>
              </a:spcBef>
              <a:buNone/>
            </a:pPr>
            <a:r>
              <a:rPr lang="ko-KR" sz="950" dirty="0">
                <a:solidFill>
                  <a:srgbClr val="94A3B8"/>
                </a:solidFill>
                <a:latin typeface="맑은 고딕" pitchFamily="34" charset="0"/>
                <a:ea typeface="맑은 고딕" pitchFamily="34" charset="-122"/>
                <a:cs typeface="맑은 고딕" pitchFamily="34" charset="-120"/>
              </a:rPr>
              <a:t>cs-router</a:t>
            </a:r>
          </a:p>
        </p:txBody>
      </p:sp>
      <p:sp>
        <p:nvSpPr>
          <p:cNvPr id="96" name="Router desc"/>
          <p:cNvSpPr/>
          <p:nvPr/>
        </p:nvSpPr>
        <p:spPr>
          <a:xfrm>
            <a:off x="660400" y="2099691"/>
            <a:ext cx="2590800" cy="660400"/>
          </a:xfrm>
          <a:prstGeom prst="rect">
            <a:avLst/>
          </a:prstGeom>
          <a:noFill/>
          <a:ln>
            <a:noFill/>
          </a:ln>
        </p:spPr>
        <p:txBody>
          <a:bodyPr wrap="square" lIns="0" tIns="0" rIns="0" bIns="0" anchor="t">
            <a:noAutofit/>
          </a:bodyPr>
          <a:lstStyle/>
          <a:p>
            <a:pPr marL="0" indent="0">
              <a:buNone/>
            </a:pPr>
            <a:r>
              <a:rPr lang="ko-KR" sz="1050" b="1" dirty="0">
                <a:solidFill>
                  <a:srgbClr val="F2C94C"/>
                </a:solidFill>
                <a:latin typeface="맑은 고딕" pitchFamily="34" charset="0"/>
                <a:ea typeface="맑은 고딕" pitchFamily="34" charset="-122"/>
                <a:cs typeface="맑은 고딕" pitchFamily="34" charset="-120"/>
              </a:rPr>
              <a:t>질문 한 문장을 9개 주제로 분류</a:t>
            </a:r>
          </a:p>
          <a:p>
            <a:pPr marL="0" indent="0">
              <a:spcBef>
                <a:spcPts val="300"/>
              </a:spcBef>
              <a:buNone/>
            </a:pPr>
            <a:r>
              <a:rPr lang="ko-KR" sz="1000" dirty="0">
                <a:solidFill>
                  <a:srgbClr val="CBD5E1"/>
                </a:solidFill>
                <a:latin typeface="맑은 고딕" pitchFamily="34" charset="0"/>
                <a:ea typeface="맑은 고딕" pitchFamily="34" charset="-122"/>
                <a:cs typeface="맑은 고딕" pitchFamily="34" charset="-120"/>
              </a:rPr>
              <a:t>지원 주제가 2개 이상이면 되묻는다</a:t>
            </a:r>
          </a:p>
        </p:txBody>
      </p:sp>
      <p:pic>
        <p:nvPicPr>
          <p:cNvPr id="97" name="Copied Picture 97" descr="preencoded.png"/>
          <p:cNvPicPr>
            <a:picLocks noChangeAspect="1"/>
          </p:cNvPicPr>
          <p:nvPr/>
        </p:nvPicPr>
        <p:blipFill>
          <a:blip r:embed="rId6"/>
          <a:stretch>
            <a:fillRect/>
          </a:stretch>
        </p:blipFill>
        <p:spPr>
          <a:xfrm>
            <a:off x="793750" y="1534541"/>
            <a:ext cx="279400" cy="279400"/>
          </a:xfrm>
          <a:prstGeom prst="rect">
            <a:avLst/>
          </a:prstGeom>
        </p:spPr>
      </p:pic>
    </p:spTree>
    <p:extLst>
      <p:ext uri="{BB962C8B-B14F-4D97-AF65-F5344CB8AC3E}">
        <p14:creationId xmlns:p14="http://schemas.microsoft.com/office/powerpoint/2010/main" val="79344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52400"/>
            <a:ext cx="4572000" cy="177800"/>
          </a:xfrm>
          <a:prstGeom prst="rect">
            <a:avLst/>
          </a:prstGeom>
          <a:noFill/>
          <a:ln/>
        </p:spPr>
        <p:txBody>
          <a:bodyPr wrap="square" lIns="0" tIns="0" rIns="0" bIns="0" rtlCol="0" anchor="t"/>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03  아키텍처</a:t>
            </a:r>
            <a:endParaRPr lang="en-US" sz="900" dirty="0"/>
          </a:p>
        </p:txBody>
      </p:sp>
      <p:sp>
        <p:nvSpPr>
          <p:cNvPr id="4" name="Text 2"/>
          <p:cNvSpPr txBox="1"/>
          <p:nvPr/>
        </p:nvSpPr>
        <p:spPr>
          <a:xfrm>
            <a:off x="457200" y="330200"/>
            <a:ext cx="8229600" cy="355600"/>
          </a:xfrm>
          <a:prstGeom prst="rect">
            <a:avLst/>
          </a:prstGeom>
          <a:noFill/>
          <a:ln/>
        </p:spPr>
        <p:txBody>
          <a:bodyPr wrap="square" lIns="0" tIns="0" rIns="0" bIns="0" rtlCol="0" anchor="ctr"/>
          <a:lstStyle/>
          <a:p>
            <a:pPr marL="0" indent="0">
              <a:buNone/>
            </a:pPr>
            <a:r>
              <a:rPr lang="en-US" sz="2000" b="1" dirty="0">
                <a:solidFill>
                  <a:srgbClr val="1B2A3A"/>
                </a:solidFill>
                <a:latin typeface="맑은 고딕" pitchFamily="34" charset="0"/>
                <a:ea typeface="맑은 고딕" pitchFamily="34" charset="-122"/>
                <a:cs typeface="맑은 고딕" pitchFamily="34" charset="-120"/>
              </a:rPr>
              <a:t>개인정보 보호와 안전 설계</a:t>
            </a:r>
            <a:endParaRPr lang="en-US" sz="2000" dirty="0"/>
          </a:p>
        </p:txBody>
      </p:sp>
      <p:sp>
        <p:nvSpPr>
          <p:cNvPr id="6" name="Text 4"/>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11</a:t>
            </a:r>
            <a:endParaRPr lang="en-US" sz="850" dirty="0"/>
          </a:p>
        </p:txBody>
      </p:sp>
      <p:sp>
        <p:nvSpPr>
          <p:cNvPr id="8" name="Shape 5"/>
          <p:cNvSpPr/>
          <p:nvPr/>
        </p:nvSpPr>
        <p:spPr>
          <a:xfrm>
            <a:off x="457200" y="1102360"/>
            <a:ext cx="2606040" cy="3108960"/>
          </a:xfrm>
          <a:prstGeom prst="roundRect">
            <a:avLst>
              <a:gd name="adj" fmla="val 2807"/>
            </a:avLst>
          </a:prstGeom>
          <a:solidFill>
            <a:srgbClr val="F1F5F9"/>
          </a:solidFill>
          <a:ln w="12700">
            <a:solidFill>
              <a:srgbClr val="F1F5F9"/>
            </a:solidFill>
            <a:prstDash val="solid"/>
          </a:ln>
        </p:spPr>
        <p:txBody>
          <a:bodyPr/>
          <a:lstStyle/>
          <a:p>
            <a:endParaRPr lang="ko-KR" altLang="en-US"/>
          </a:p>
        </p:txBody>
      </p:sp>
      <p:sp>
        <p:nvSpPr>
          <p:cNvPr id="9" name="Shape 6"/>
          <p:cNvSpPr/>
          <p:nvPr/>
        </p:nvSpPr>
        <p:spPr>
          <a:xfrm>
            <a:off x="1440180" y="1239520"/>
            <a:ext cx="640080" cy="640080"/>
          </a:xfrm>
          <a:prstGeom prst="ellipse">
            <a:avLst/>
          </a:prstGeom>
          <a:solidFill>
            <a:srgbClr val="41659E"/>
          </a:solidFill>
          <a:ln w="12700">
            <a:solidFill>
              <a:srgbClr val="41659E"/>
            </a:solidFill>
            <a:prstDash val="solid"/>
          </a:ln>
        </p:spPr>
        <p:txBody>
          <a:bodyPr/>
          <a:lstStyle/>
          <a:p>
            <a:endParaRPr lang="ko-KR" altLang="en-US"/>
          </a:p>
        </p:txBody>
      </p:sp>
      <p:pic>
        <p:nvPicPr>
          <p:cNvPr id="10" name="Image 0" descr="preencoded.png"/>
          <p:cNvPicPr>
            <a:picLocks noChangeAspect="1"/>
          </p:cNvPicPr>
          <p:nvPr/>
        </p:nvPicPr>
        <p:blipFill>
          <a:blip r:embed="rId3"/>
          <a:stretch>
            <a:fillRect/>
          </a:stretch>
        </p:blipFill>
        <p:spPr>
          <a:xfrm>
            <a:off x="1593799" y="1393138"/>
            <a:ext cx="332842" cy="332842"/>
          </a:xfrm>
          <a:prstGeom prst="rect">
            <a:avLst/>
          </a:prstGeom>
        </p:spPr>
      </p:pic>
      <p:sp>
        <p:nvSpPr>
          <p:cNvPr id="11" name="Text 7"/>
          <p:cNvSpPr txBox="1"/>
          <p:nvPr/>
        </p:nvSpPr>
        <p:spPr>
          <a:xfrm>
            <a:off x="457200" y="1971039"/>
            <a:ext cx="260604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맑은 고딕" pitchFamily="34" charset="0"/>
                <a:ea typeface="맑은 고딕" pitchFamily="34" charset="-122"/>
                <a:cs typeface="맑은 고딕" pitchFamily="34" charset="-120"/>
              </a:rPr>
              <a:t>입력: 가린다</a:t>
            </a:r>
            <a:endParaRPr lang="en-US" sz="1400" dirty="0"/>
          </a:p>
        </p:txBody>
      </p:sp>
      <p:sp>
        <p:nvSpPr>
          <p:cNvPr id="12" name="Shape 8"/>
          <p:cNvSpPr/>
          <p:nvPr/>
        </p:nvSpPr>
        <p:spPr>
          <a:xfrm>
            <a:off x="685800" y="2428240"/>
            <a:ext cx="2148840" cy="457200"/>
          </a:xfrm>
          <a:prstGeom prst="roundRect">
            <a:avLst>
              <a:gd name="adj" fmla="val 16000"/>
            </a:avLst>
          </a:prstGeom>
          <a:solidFill>
            <a:srgbClr val="FFFFFF"/>
          </a:solidFill>
          <a:ln w="9525">
            <a:solidFill>
              <a:srgbClr val="CBD5E1"/>
            </a:solidFill>
            <a:prstDash val="solid"/>
          </a:ln>
        </p:spPr>
        <p:txBody>
          <a:bodyPr/>
          <a:lstStyle/>
          <a:p>
            <a:endParaRPr lang="ko-KR" altLang="en-US"/>
          </a:p>
        </p:txBody>
      </p:sp>
      <p:sp>
        <p:nvSpPr>
          <p:cNvPr id="13" name="Text 9"/>
          <p:cNvSpPr txBox="1"/>
          <p:nvPr/>
        </p:nvSpPr>
        <p:spPr>
          <a:xfrm>
            <a:off x="685800" y="2428240"/>
            <a:ext cx="2148840" cy="457200"/>
          </a:xfrm>
          <a:prstGeom prst="rect">
            <a:avLst/>
          </a:prstGeom>
          <a:noFill/>
          <a:ln/>
        </p:spPr>
        <p:txBody>
          <a:bodyPr wrap="square" lIns="0" tIns="0" rIns="0" bIns="0" rtlCol="0" anchor="ctr"/>
          <a:lstStyle/>
          <a:p>
            <a:pPr marL="0" indent="0" algn="ctr">
              <a:buNone/>
            </a:pPr>
            <a:r>
              <a:rPr lang="en-US" sz="1100" dirty="0">
                <a:solidFill>
                  <a:srgbClr val="1E293B"/>
                </a:solidFill>
                <a:latin typeface="맑은 고딕" pitchFamily="34" charset="0"/>
                <a:ea typeface="맑은 고딕" pitchFamily="34" charset="-122"/>
                <a:cs typeface="맑은 고딕" pitchFamily="34" charset="-120"/>
              </a:rPr>
              <a:t>110-1234-5678</a:t>
            </a:r>
            <a:endParaRPr lang="en-US" sz="1100" dirty="0"/>
          </a:p>
        </p:txBody>
      </p:sp>
      <p:sp>
        <p:nvSpPr>
          <p:cNvPr id="14" name="Shape 10"/>
          <p:cNvSpPr/>
          <p:nvPr/>
        </p:nvSpPr>
        <p:spPr>
          <a:xfrm>
            <a:off x="1650492" y="2976879"/>
            <a:ext cx="219456" cy="219456"/>
          </a:xfrm>
          <a:prstGeom prst="downArrow">
            <a:avLst/>
          </a:prstGeom>
          <a:solidFill>
            <a:srgbClr val="94A3B8"/>
          </a:solidFill>
          <a:ln w="12700">
            <a:solidFill>
              <a:srgbClr val="94A3B8"/>
            </a:solidFill>
            <a:prstDash val="solid"/>
          </a:ln>
        </p:spPr>
        <p:txBody>
          <a:bodyPr/>
          <a:lstStyle/>
          <a:p>
            <a:endParaRPr lang="ko-KR" altLang="en-US"/>
          </a:p>
        </p:txBody>
      </p:sp>
      <p:sp>
        <p:nvSpPr>
          <p:cNvPr id="15" name="Shape 11"/>
          <p:cNvSpPr/>
          <p:nvPr/>
        </p:nvSpPr>
        <p:spPr>
          <a:xfrm>
            <a:off x="685800" y="3296920"/>
            <a:ext cx="2148840" cy="502920"/>
          </a:xfrm>
          <a:prstGeom prst="roundRect">
            <a:avLst>
              <a:gd name="adj" fmla="val 14545"/>
            </a:avLst>
          </a:prstGeom>
          <a:solidFill>
            <a:srgbClr val="DCE8F6"/>
          </a:solidFill>
          <a:ln w="12700">
            <a:solidFill>
              <a:srgbClr val="DCE8F6"/>
            </a:solidFill>
            <a:prstDash val="solid"/>
          </a:ln>
        </p:spPr>
        <p:txBody>
          <a:bodyPr/>
          <a:lstStyle/>
          <a:p>
            <a:endParaRPr lang="ko-KR" altLang="en-US"/>
          </a:p>
        </p:txBody>
      </p:sp>
      <p:sp>
        <p:nvSpPr>
          <p:cNvPr id="16" name="Text 12"/>
          <p:cNvSpPr txBox="1"/>
          <p:nvPr/>
        </p:nvSpPr>
        <p:spPr>
          <a:xfrm>
            <a:off x="685800" y="3296920"/>
            <a:ext cx="2148840" cy="502920"/>
          </a:xfrm>
          <a:prstGeom prst="rect">
            <a:avLst/>
          </a:prstGeom>
          <a:noFill/>
          <a:ln/>
        </p:spPr>
        <p:txBody>
          <a:bodyPr wrap="square" lIns="0" tIns="0" rIns="0" bIns="0" rtlCol="0" anchor="ctr"/>
          <a:lstStyle/>
          <a:p>
            <a:pPr marL="0" indent="0" algn="ctr">
              <a:buNone/>
            </a:pPr>
            <a:r>
              <a:rPr lang="en-US" sz="1250" b="1" dirty="0">
                <a:solidFill>
                  <a:srgbClr val="41659E"/>
                </a:solidFill>
                <a:latin typeface="맑은 고딕" pitchFamily="34" charset="0"/>
                <a:ea typeface="맑은 고딕" pitchFamily="34" charset="-122"/>
                <a:cs typeface="맑은 고딕" pitchFamily="34" charset="-120"/>
              </a:rPr>
              <a:t>[계좌번호_1]</a:t>
            </a:r>
            <a:endParaRPr lang="en-US" sz="1250" dirty="0"/>
          </a:p>
        </p:txBody>
      </p:sp>
      <p:sp>
        <p:nvSpPr>
          <p:cNvPr id="17" name="Shape 13"/>
          <p:cNvSpPr/>
          <p:nvPr/>
        </p:nvSpPr>
        <p:spPr>
          <a:xfrm>
            <a:off x="3246120" y="1102360"/>
            <a:ext cx="2606040" cy="3108960"/>
          </a:xfrm>
          <a:prstGeom prst="roundRect">
            <a:avLst>
              <a:gd name="adj" fmla="val 2807"/>
            </a:avLst>
          </a:prstGeom>
          <a:solidFill>
            <a:srgbClr val="F1F5F9"/>
          </a:solidFill>
          <a:ln w="12700">
            <a:solidFill>
              <a:srgbClr val="F1F5F9"/>
            </a:solidFill>
            <a:prstDash val="solid"/>
          </a:ln>
        </p:spPr>
        <p:txBody>
          <a:bodyPr/>
          <a:lstStyle/>
          <a:p>
            <a:endParaRPr lang="ko-KR" altLang="en-US"/>
          </a:p>
        </p:txBody>
      </p:sp>
      <p:sp>
        <p:nvSpPr>
          <p:cNvPr id="18" name="Shape 14"/>
          <p:cNvSpPr/>
          <p:nvPr/>
        </p:nvSpPr>
        <p:spPr>
          <a:xfrm>
            <a:off x="4229100" y="1239520"/>
            <a:ext cx="640080" cy="640080"/>
          </a:xfrm>
          <a:prstGeom prst="ellipse">
            <a:avLst/>
          </a:prstGeom>
          <a:solidFill>
            <a:srgbClr val="41659E"/>
          </a:solidFill>
          <a:ln w="12700">
            <a:solidFill>
              <a:srgbClr val="41659E"/>
            </a:solidFill>
            <a:prstDash val="solid"/>
          </a:ln>
        </p:spPr>
        <p:txBody>
          <a:bodyPr/>
          <a:lstStyle/>
          <a:p>
            <a:endParaRPr lang="ko-KR" altLang="en-US"/>
          </a:p>
        </p:txBody>
      </p:sp>
      <p:pic>
        <p:nvPicPr>
          <p:cNvPr id="19" name="Image 1" descr="preencoded.png"/>
          <p:cNvPicPr>
            <a:picLocks noChangeAspect="1"/>
          </p:cNvPicPr>
          <p:nvPr/>
        </p:nvPicPr>
        <p:blipFill>
          <a:blip r:embed="rId4"/>
          <a:stretch>
            <a:fillRect/>
          </a:stretch>
        </p:blipFill>
        <p:spPr>
          <a:xfrm>
            <a:off x="4382719" y="1393138"/>
            <a:ext cx="332842" cy="332842"/>
          </a:xfrm>
          <a:prstGeom prst="rect">
            <a:avLst/>
          </a:prstGeom>
        </p:spPr>
      </p:pic>
      <p:sp>
        <p:nvSpPr>
          <p:cNvPr id="20" name="Text 15"/>
          <p:cNvSpPr txBox="1"/>
          <p:nvPr/>
        </p:nvSpPr>
        <p:spPr>
          <a:xfrm>
            <a:off x="3246120" y="1971039"/>
            <a:ext cx="260604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맑은 고딕" pitchFamily="34" charset="0"/>
                <a:ea typeface="맑은 고딕" pitchFamily="34" charset="-122"/>
                <a:cs typeface="맑은 고딕" pitchFamily="34" charset="-120"/>
              </a:rPr>
              <a:t>출력: 빈칸으로</a:t>
            </a:r>
            <a:endParaRPr lang="en-US" sz="1400" dirty="0"/>
          </a:p>
        </p:txBody>
      </p:sp>
      <p:sp>
        <p:nvSpPr>
          <p:cNvPr id="21" name="Shape 16"/>
          <p:cNvSpPr/>
          <p:nvPr/>
        </p:nvSpPr>
        <p:spPr>
          <a:xfrm>
            <a:off x="3474720" y="2428240"/>
            <a:ext cx="2148840" cy="457200"/>
          </a:xfrm>
          <a:prstGeom prst="roundRect">
            <a:avLst>
              <a:gd name="adj" fmla="val 16000"/>
            </a:avLst>
          </a:prstGeom>
          <a:solidFill>
            <a:srgbClr val="FFFFFF"/>
          </a:solidFill>
          <a:ln w="9525">
            <a:solidFill>
              <a:srgbClr val="CBD5E1"/>
            </a:solidFill>
            <a:prstDash val="solid"/>
          </a:ln>
        </p:spPr>
        <p:txBody>
          <a:bodyPr/>
          <a:lstStyle/>
          <a:p>
            <a:endParaRPr lang="ko-KR" altLang="en-US"/>
          </a:p>
        </p:txBody>
      </p:sp>
      <p:sp>
        <p:nvSpPr>
          <p:cNvPr id="22" name="Text 17"/>
          <p:cNvSpPr txBox="1"/>
          <p:nvPr/>
        </p:nvSpPr>
        <p:spPr>
          <a:xfrm>
            <a:off x="3474720" y="2428240"/>
            <a:ext cx="2148840" cy="457200"/>
          </a:xfrm>
          <a:prstGeom prst="rect">
            <a:avLst/>
          </a:prstGeom>
          <a:noFill/>
          <a:ln/>
        </p:spPr>
        <p:txBody>
          <a:bodyPr wrap="square" lIns="0" tIns="0" rIns="0" bIns="0" rtlCol="0" anchor="ctr"/>
          <a:lstStyle/>
          <a:p>
            <a:pPr marL="0" indent="0" algn="ctr">
              <a:buNone/>
            </a:pPr>
            <a:r>
              <a:rPr lang="en-US" sz="1100" dirty="0">
                <a:solidFill>
                  <a:srgbClr val="1E293B"/>
                </a:solidFill>
                <a:latin typeface="맑은 고딕" pitchFamily="34" charset="0"/>
                <a:ea typeface="맑은 고딕" pitchFamily="34" charset="-122"/>
                <a:cs typeface="맑은 고딕" pitchFamily="34" charset="-120"/>
              </a:rPr>
              <a:t>{{overdue_amount}}</a:t>
            </a:r>
            <a:endParaRPr lang="en-US" sz="1100" dirty="0"/>
          </a:p>
        </p:txBody>
      </p:sp>
      <p:sp>
        <p:nvSpPr>
          <p:cNvPr id="23" name="Shape 18"/>
          <p:cNvSpPr/>
          <p:nvPr/>
        </p:nvSpPr>
        <p:spPr>
          <a:xfrm>
            <a:off x="4439412" y="2976879"/>
            <a:ext cx="219456" cy="219456"/>
          </a:xfrm>
          <a:prstGeom prst="downArrow">
            <a:avLst/>
          </a:prstGeom>
          <a:solidFill>
            <a:srgbClr val="94A3B8"/>
          </a:solidFill>
          <a:ln w="12700">
            <a:solidFill>
              <a:srgbClr val="94A3B8"/>
            </a:solidFill>
            <a:prstDash val="solid"/>
          </a:ln>
        </p:spPr>
        <p:txBody>
          <a:bodyPr/>
          <a:lstStyle/>
          <a:p>
            <a:endParaRPr lang="ko-KR" altLang="en-US"/>
          </a:p>
        </p:txBody>
      </p:sp>
      <p:sp>
        <p:nvSpPr>
          <p:cNvPr id="24" name="Shape 19"/>
          <p:cNvSpPr/>
          <p:nvPr/>
        </p:nvSpPr>
        <p:spPr>
          <a:xfrm>
            <a:off x="3474720" y="3296920"/>
            <a:ext cx="2148840" cy="502920"/>
          </a:xfrm>
          <a:prstGeom prst="roundRect">
            <a:avLst>
              <a:gd name="adj" fmla="val 14545"/>
            </a:avLst>
          </a:prstGeom>
          <a:solidFill>
            <a:srgbClr val="DCE8F6"/>
          </a:solidFill>
          <a:ln w="12700">
            <a:solidFill>
              <a:srgbClr val="DCE8F6"/>
            </a:solidFill>
            <a:prstDash val="solid"/>
          </a:ln>
        </p:spPr>
        <p:txBody>
          <a:bodyPr/>
          <a:lstStyle/>
          <a:p>
            <a:endParaRPr lang="ko-KR" altLang="en-US"/>
          </a:p>
        </p:txBody>
      </p:sp>
      <p:sp>
        <p:nvSpPr>
          <p:cNvPr id="25" name="Text 20"/>
          <p:cNvSpPr txBox="1"/>
          <p:nvPr/>
        </p:nvSpPr>
        <p:spPr>
          <a:xfrm>
            <a:off x="3474720" y="3296920"/>
            <a:ext cx="2148840" cy="502920"/>
          </a:xfrm>
          <a:prstGeom prst="rect">
            <a:avLst/>
          </a:prstGeom>
          <a:noFill/>
          <a:ln/>
        </p:spPr>
        <p:txBody>
          <a:bodyPr wrap="square" lIns="0" tIns="0" rIns="0" bIns="0" rtlCol="0" anchor="ctr"/>
          <a:lstStyle/>
          <a:p>
            <a:pPr marL="0" indent="0" algn="ctr">
              <a:buNone/>
            </a:pPr>
            <a:r>
              <a:rPr lang="en-US" sz="1250" b="1" dirty="0">
                <a:solidFill>
                  <a:srgbClr val="41659E"/>
                </a:solidFill>
                <a:latin typeface="맑은 고딕" pitchFamily="34" charset="0"/>
                <a:ea typeface="맑은 고딕" pitchFamily="34" charset="-122"/>
                <a:cs typeface="맑은 고딕" pitchFamily="34" charset="-120"/>
              </a:rPr>
              <a:t>625,000원</a:t>
            </a:r>
            <a:endParaRPr lang="en-US" sz="1250" dirty="0"/>
          </a:p>
        </p:txBody>
      </p:sp>
      <p:sp>
        <p:nvSpPr>
          <p:cNvPr id="26" name="Shape 21"/>
          <p:cNvSpPr/>
          <p:nvPr/>
        </p:nvSpPr>
        <p:spPr>
          <a:xfrm>
            <a:off x="6035040" y="1102360"/>
            <a:ext cx="2606040" cy="3108960"/>
          </a:xfrm>
          <a:prstGeom prst="roundRect">
            <a:avLst>
              <a:gd name="adj" fmla="val 2807"/>
            </a:avLst>
          </a:prstGeom>
          <a:solidFill>
            <a:srgbClr val="F1F5F9"/>
          </a:solidFill>
          <a:ln w="12700">
            <a:solidFill>
              <a:srgbClr val="F1F5F9"/>
            </a:solidFill>
            <a:prstDash val="solid"/>
          </a:ln>
        </p:spPr>
        <p:txBody>
          <a:bodyPr/>
          <a:lstStyle/>
          <a:p>
            <a:endParaRPr lang="ko-KR" altLang="en-US"/>
          </a:p>
        </p:txBody>
      </p:sp>
      <p:sp>
        <p:nvSpPr>
          <p:cNvPr id="27" name="Shape 22"/>
          <p:cNvSpPr/>
          <p:nvPr/>
        </p:nvSpPr>
        <p:spPr>
          <a:xfrm>
            <a:off x="7018020" y="1239520"/>
            <a:ext cx="640080" cy="640080"/>
          </a:xfrm>
          <a:prstGeom prst="ellipse">
            <a:avLst/>
          </a:prstGeom>
          <a:solidFill>
            <a:srgbClr val="41659E"/>
          </a:solidFill>
          <a:ln w="12700">
            <a:solidFill>
              <a:srgbClr val="41659E"/>
            </a:solidFill>
            <a:prstDash val="solid"/>
          </a:ln>
        </p:spPr>
        <p:txBody>
          <a:bodyPr/>
          <a:lstStyle/>
          <a:p>
            <a:endParaRPr lang="ko-KR" altLang="en-US"/>
          </a:p>
        </p:txBody>
      </p:sp>
      <p:pic>
        <p:nvPicPr>
          <p:cNvPr id="28" name="Image 2" descr="preencoded.png"/>
          <p:cNvPicPr>
            <a:picLocks noChangeAspect="1"/>
          </p:cNvPicPr>
          <p:nvPr/>
        </p:nvPicPr>
        <p:blipFill>
          <a:blip r:embed="rId5"/>
          <a:stretch>
            <a:fillRect/>
          </a:stretch>
        </p:blipFill>
        <p:spPr>
          <a:xfrm>
            <a:off x="7171639" y="1393138"/>
            <a:ext cx="332842" cy="332842"/>
          </a:xfrm>
          <a:prstGeom prst="rect">
            <a:avLst/>
          </a:prstGeom>
        </p:spPr>
      </p:pic>
      <p:sp>
        <p:nvSpPr>
          <p:cNvPr id="29" name="Text 23"/>
          <p:cNvSpPr txBox="1"/>
          <p:nvPr/>
        </p:nvSpPr>
        <p:spPr>
          <a:xfrm>
            <a:off x="6035040" y="1971039"/>
            <a:ext cx="260604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맑은 고딕" pitchFamily="34" charset="0"/>
                <a:ea typeface="맑은 고딕" pitchFamily="34" charset="-122"/>
                <a:cs typeface="맑은 고딕" pitchFamily="34" charset="-120"/>
              </a:rPr>
              <a:t>RAG 미사용</a:t>
            </a:r>
            <a:endParaRPr lang="en-US" sz="1400" dirty="0"/>
          </a:p>
        </p:txBody>
      </p:sp>
      <p:sp>
        <p:nvSpPr>
          <p:cNvPr id="30" name="Shape 24"/>
          <p:cNvSpPr/>
          <p:nvPr/>
        </p:nvSpPr>
        <p:spPr>
          <a:xfrm>
            <a:off x="6263640" y="2428240"/>
            <a:ext cx="2148840" cy="457200"/>
          </a:xfrm>
          <a:prstGeom prst="roundRect">
            <a:avLst>
              <a:gd name="adj" fmla="val 16000"/>
            </a:avLst>
          </a:prstGeom>
          <a:solidFill>
            <a:srgbClr val="FFFFFF"/>
          </a:solidFill>
          <a:ln w="9525">
            <a:solidFill>
              <a:srgbClr val="CBD5E1"/>
            </a:solidFill>
            <a:prstDash val="solid"/>
          </a:ln>
        </p:spPr>
        <p:txBody>
          <a:bodyPr/>
          <a:lstStyle/>
          <a:p>
            <a:endParaRPr lang="ko-KR" altLang="en-US"/>
          </a:p>
        </p:txBody>
      </p:sp>
      <p:sp>
        <p:nvSpPr>
          <p:cNvPr id="31" name="Text 25"/>
          <p:cNvSpPr txBox="1"/>
          <p:nvPr/>
        </p:nvSpPr>
        <p:spPr>
          <a:xfrm>
            <a:off x="6263640" y="2428240"/>
            <a:ext cx="2148840" cy="457200"/>
          </a:xfrm>
          <a:prstGeom prst="rect">
            <a:avLst/>
          </a:prstGeom>
          <a:noFill/>
          <a:ln/>
        </p:spPr>
        <p:txBody>
          <a:bodyPr wrap="square" lIns="0" tIns="0" rIns="0" bIns="0" rtlCol="0" anchor="ctr"/>
          <a:lstStyle/>
          <a:p>
            <a:pPr marL="0" indent="0" algn="ctr">
              <a:buNone/>
            </a:pPr>
            <a:r>
              <a:rPr lang="en-US" sz="1100" dirty="0">
                <a:solidFill>
                  <a:srgbClr val="B91C1C"/>
                </a:solidFill>
                <a:latin typeface="맑은 고딕" pitchFamily="34" charset="0"/>
                <a:ea typeface="맑은 고딕" pitchFamily="34" charset="-122"/>
                <a:cs typeface="맑은 고딕" pitchFamily="34" charset="-120"/>
              </a:rPr>
              <a:t>실제 정보 첨부 (RAG)</a:t>
            </a:r>
            <a:endParaRPr lang="en-US" sz="1100" dirty="0"/>
          </a:p>
        </p:txBody>
      </p:sp>
      <p:sp>
        <p:nvSpPr>
          <p:cNvPr id="32" name="Shape 26"/>
          <p:cNvSpPr/>
          <p:nvPr/>
        </p:nvSpPr>
        <p:spPr>
          <a:xfrm>
            <a:off x="7228332" y="2976879"/>
            <a:ext cx="219456" cy="219456"/>
          </a:xfrm>
          <a:prstGeom prst="downArrow">
            <a:avLst/>
          </a:prstGeom>
          <a:solidFill>
            <a:srgbClr val="94A3B8"/>
          </a:solidFill>
          <a:ln w="12700">
            <a:solidFill>
              <a:srgbClr val="94A3B8"/>
            </a:solidFill>
            <a:prstDash val="solid"/>
          </a:ln>
        </p:spPr>
        <p:txBody>
          <a:bodyPr/>
          <a:lstStyle/>
          <a:p>
            <a:endParaRPr lang="ko-KR" altLang="en-US"/>
          </a:p>
        </p:txBody>
      </p:sp>
      <p:sp>
        <p:nvSpPr>
          <p:cNvPr id="33" name="Shape 27"/>
          <p:cNvSpPr/>
          <p:nvPr/>
        </p:nvSpPr>
        <p:spPr>
          <a:xfrm>
            <a:off x="6263640" y="3296920"/>
            <a:ext cx="2148840" cy="502920"/>
          </a:xfrm>
          <a:prstGeom prst="roundRect">
            <a:avLst>
              <a:gd name="adj" fmla="val 14545"/>
            </a:avLst>
          </a:prstGeom>
          <a:solidFill>
            <a:srgbClr val="DCE8F6"/>
          </a:solidFill>
          <a:ln w="12700">
            <a:solidFill>
              <a:srgbClr val="DCE8F6"/>
            </a:solidFill>
            <a:prstDash val="solid"/>
          </a:ln>
        </p:spPr>
        <p:txBody>
          <a:bodyPr/>
          <a:lstStyle/>
          <a:p>
            <a:endParaRPr lang="ko-KR" altLang="en-US"/>
          </a:p>
        </p:txBody>
      </p:sp>
      <p:sp>
        <p:nvSpPr>
          <p:cNvPr id="34" name="Text 28"/>
          <p:cNvSpPr txBox="1"/>
          <p:nvPr/>
        </p:nvSpPr>
        <p:spPr>
          <a:xfrm>
            <a:off x="6263640" y="3296920"/>
            <a:ext cx="2148840" cy="502920"/>
          </a:xfrm>
          <a:prstGeom prst="rect">
            <a:avLst/>
          </a:prstGeom>
          <a:noFill/>
          <a:ln/>
        </p:spPr>
        <p:txBody>
          <a:bodyPr wrap="square" lIns="0" tIns="0" rIns="0" bIns="0" rtlCol="0" anchor="ctr"/>
          <a:lstStyle/>
          <a:p>
            <a:pPr marL="0" indent="0" algn="ctr">
              <a:buNone/>
            </a:pPr>
            <a:r>
              <a:rPr lang="en-US" sz="1250" b="1" dirty="0">
                <a:solidFill>
                  <a:srgbClr val="41659E"/>
                </a:solidFill>
                <a:latin typeface="맑은 고딕" pitchFamily="34" charset="0"/>
                <a:ea typeface="맑은 고딕" pitchFamily="34" charset="-122"/>
                <a:cs typeface="맑은 고딕" pitchFamily="34" charset="-120"/>
              </a:rPr>
              <a:t>조회는 따로, LLM은 대화만</a:t>
            </a:r>
            <a:endParaRPr lang="en-US" sz="1250" dirty="0"/>
          </a:p>
        </p:txBody>
      </p:sp>
    </p:spTree>
    <p:extLst>
      <p:ext uri="{BB962C8B-B14F-4D97-AF65-F5344CB8AC3E}">
        <p14:creationId xmlns:p14="http://schemas.microsoft.com/office/powerpoint/2010/main" val="1032707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52400"/>
            <a:ext cx="4572000" cy="177800"/>
          </a:xfrm>
          <a:prstGeom prst="rect">
            <a:avLst/>
          </a:prstGeom>
          <a:noFill/>
          <a:ln/>
        </p:spPr>
        <p:txBody>
          <a:bodyPr wrap="square" lIns="0" tIns="0" rIns="0" bIns="0" rtlCol="0" anchor="t"/>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03  아키텍처</a:t>
            </a:r>
            <a:endParaRPr lang="en-US" sz="900" dirty="0"/>
          </a:p>
        </p:txBody>
      </p:sp>
      <p:sp>
        <p:nvSpPr>
          <p:cNvPr id="4" name="Text 2"/>
          <p:cNvSpPr txBox="1"/>
          <p:nvPr/>
        </p:nvSpPr>
        <p:spPr>
          <a:xfrm>
            <a:off x="457200" y="330200"/>
            <a:ext cx="8229600" cy="355600"/>
          </a:xfrm>
          <a:prstGeom prst="rect">
            <a:avLst/>
          </a:prstGeom>
          <a:noFill/>
          <a:ln/>
        </p:spPr>
        <p:txBody>
          <a:bodyPr wrap="square" lIns="0" tIns="0" rIns="0" bIns="0" rtlCol="0" anchor="ctr"/>
          <a:lstStyle/>
          <a:p>
            <a:pPr marL="0" indent="0">
              <a:buNone/>
            </a:pPr>
            <a:r>
              <a:rPr lang="en-US" sz="2000" b="1" dirty="0">
                <a:solidFill>
                  <a:srgbClr val="1B2A3A"/>
                </a:solidFill>
                <a:latin typeface="맑은 고딕" pitchFamily="34" charset="0"/>
                <a:ea typeface="맑은 고딕" pitchFamily="34" charset="-122"/>
                <a:cs typeface="맑은 고딕" pitchFamily="34" charset="-120"/>
              </a:rPr>
              <a:t>기술 스택</a:t>
            </a:r>
            <a:endParaRPr lang="en-US" sz="2000" dirty="0"/>
          </a:p>
        </p:txBody>
      </p:sp>
      <p:sp>
        <p:nvSpPr>
          <p:cNvPr id="5" name="Text 3"/>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12</a:t>
            </a:r>
            <a:endParaRPr lang="en-US" sz="850" dirty="0"/>
          </a:p>
        </p:txBody>
      </p:sp>
      <p:sp>
        <p:nvSpPr>
          <p:cNvPr id="7" name="Shape 4"/>
          <p:cNvSpPr/>
          <p:nvPr/>
        </p:nvSpPr>
        <p:spPr>
          <a:xfrm>
            <a:off x="457200" y="1023111"/>
            <a:ext cx="8229600" cy="566928"/>
          </a:xfrm>
          <a:prstGeom prst="roundRect">
            <a:avLst>
              <a:gd name="adj" fmla="val 12903"/>
            </a:avLst>
          </a:prstGeom>
          <a:solidFill>
            <a:srgbClr val="DCE8F6"/>
          </a:solidFill>
          <a:ln w="12700">
            <a:solidFill>
              <a:srgbClr val="DCE8F6"/>
            </a:solidFill>
            <a:prstDash val="solid"/>
          </a:ln>
        </p:spPr>
        <p:txBody>
          <a:bodyPr/>
          <a:lstStyle/>
          <a:p>
            <a:endParaRPr lang="ko-KR" altLang="en-US"/>
          </a:p>
        </p:txBody>
      </p:sp>
      <p:pic>
        <p:nvPicPr>
          <p:cNvPr id="8" name="Image 0" descr="preencoded.png"/>
          <p:cNvPicPr>
            <a:picLocks noChangeAspect="1"/>
          </p:cNvPicPr>
          <p:nvPr/>
        </p:nvPicPr>
        <p:blipFill>
          <a:blip r:embed="rId3"/>
          <a:stretch>
            <a:fillRect/>
          </a:stretch>
        </p:blipFill>
        <p:spPr>
          <a:xfrm>
            <a:off x="640080" y="1141983"/>
            <a:ext cx="329184" cy="329184"/>
          </a:xfrm>
          <a:prstGeom prst="rect">
            <a:avLst/>
          </a:prstGeom>
          <a:ln/>
        </p:spPr>
      </p:pic>
      <p:sp>
        <p:nvSpPr>
          <p:cNvPr id="9" name="Text 5"/>
          <p:cNvSpPr txBox="1"/>
          <p:nvPr/>
        </p:nvSpPr>
        <p:spPr>
          <a:xfrm>
            <a:off x="1097280" y="1023111"/>
            <a:ext cx="822960" cy="566928"/>
          </a:xfrm>
          <a:prstGeom prst="rect">
            <a:avLst/>
          </a:prstGeom>
          <a:noFill/>
          <a:ln/>
        </p:spPr>
        <p:txBody>
          <a:bodyPr wrap="square" lIns="0" tIns="0" rIns="0" bIns="0" rtlCol="0" anchor="ctr"/>
          <a:lstStyle/>
          <a:p>
            <a:pPr marL="0" indent="0">
              <a:buNone/>
            </a:pPr>
            <a:r>
              <a:rPr lang="en-US" sz="1250" b="1" dirty="0">
                <a:solidFill>
                  <a:srgbClr val="41659E"/>
                </a:solidFill>
                <a:latin typeface="맑은 고딕" pitchFamily="34" charset="0"/>
                <a:ea typeface="맑은 고딕" pitchFamily="34" charset="-122"/>
                <a:cs typeface="맑은 고딕" pitchFamily="34" charset="-120"/>
              </a:rPr>
              <a:t>화면</a:t>
            </a:r>
            <a:endParaRPr lang="en-US" sz="1250" dirty="0"/>
          </a:p>
        </p:txBody>
      </p:sp>
      <p:sp>
        <p:nvSpPr>
          <p:cNvPr id="10" name="Text 6"/>
          <p:cNvSpPr txBox="1"/>
          <p:nvPr/>
        </p:nvSpPr>
        <p:spPr>
          <a:xfrm>
            <a:off x="2011680" y="1023111"/>
            <a:ext cx="6492240" cy="566928"/>
          </a:xfrm>
          <a:prstGeom prst="rect">
            <a:avLst/>
          </a:prstGeom>
          <a:noFill/>
          <a:ln/>
        </p:spPr>
        <p:txBody>
          <a:bodyPr wrap="square" lIns="0" tIns="0" rIns="0" bIns="0" rtlCol="0" anchor="ctr"/>
          <a:lstStyle/>
          <a:p>
            <a:pPr marL="0" indent="0">
              <a:buNone/>
            </a:pPr>
            <a:r>
              <a:rPr lang="en-US" sz="1250" b="1" dirty="0">
                <a:solidFill>
                  <a:srgbClr val="1E293B"/>
                </a:solidFill>
                <a:latin typeface="맑은 고딕" pitchFamily="34" charset="0"/>
                <a:ea typeface="맑은 고딕" pitchFamily="34" charset="-122"/>
                <a:cs typeface="맑은 고딕" pitchFamily="34" charset="-120"/>
              </a:rPr>
              <a:t>Next.js · TypeScript · Tailwind</a:t>
            </a:r>
            <a:endParaRPr lang="en-US" sz="1250" dirty="0"/>
          </a:p>
        </p:txBody>
      </p:sp>
      <p:sp>
        <p:nvSpPr>
          <p:cNvPr id="11" name="Shape 7"/>
          <p:cNvSpPr/>
          <p:nvPr/>
        </p:nvSpPr>
        <p:spPr>
          <a:xfrm>
            <a:off x="594360" y="1708910"/>
            <a:ext cx="7955280" cy="566928"/>
          </a:xfrm>
          <a:prstGeom prst="roundRect">
            <a:avLst>
              <a:gd name="adj" fmla="val 12903"/>
            </a:avLst>
          </a:prstGeom>
          <a:solidFill>
            <a:srgbClr val="F1F5F9"/>
          </a:solidFill>
          <a:ln w="12700">
            <a:solidFill>
              <a:srgbClr val="F1F5F9"/>
            </a:solidFill>
            <a:prstDash val="solid"/>
          </a:ln>
        </p:spPr>
        <p:txBody>
          <a:bodyPr/>
          <a:lstStyle/>
          <a:p>
            <a:endParaRPr lang="ko-KR" altLang="en-US"/>
          </a:p>
        </p:txBody>
      </p:sp>
      <p:pic>
        <p:nvPicPr>
          <p:cNvPr id="12" name="Image 1" descr="preencoded.png"/>
          <p:cNvPicPr>
            <a:picLocks noChangeAspect="1"/>
          </p:cNvPicPr>
          <p:nvPr/>
        </p:nvPicPr>
        <p:blipFill>
          <a:blip r:embed="rId4"/>
          <a:stretch>
            <a:fillRect/>
          </a:stretch>
        </p:blipFill>
        <p:spPr>
          <a:xfrm>
            <a:off x="777240" y="1827783"/>
            <a:ext cx="329184" cy="329184"/>
          </a:xfrm>
          <a:prstGeom prst="rect">
            <a:avLst/>
          </a:prstGeom>
          <a:ln/>
        </p:spPr>
      </p:pic>
      <p:sp>
        <p:nvSpPr>
          <p:cNvPr id="13" name="Text 8"/>
          <p:cNvSpPr txBox="1"/>
          <p:nvPr/>
        </p:nvSpPr>
        <p:spPr>
          <a:xfrm>
            <a:off x="1234440" y="1708910"/>
            <a:ext cx="822960" cy="566928"/>
          </a:xfrm>
          <a:prstGeom prst="rect">
            <a:avLst/>
          </a:prstGeom>
          <a:noFill/>
          <a:ln/>
        </p:spPr>
        <p:txBody>
          <a:bodyPr wrap="square" lIns="0" tIns="0" rIns="0" bIns="0" rtlCol="0" anchor="ctr"/>
          <a:lstStyle/>
          <a:p>
            <a:pPr marL="0" indent="0">
              <a:buNone/>
            </a:pPr>
            <a:r>
              <a:rPr lang="en-US" sz="1250" b="1" dirty="0">
                <a:solidFill>
                  <a:srgbClr val="41659E"/>
                </a:solidFill>
                <a:latin typeface="맑은 고딕" pitchFamily="34" charset="0"/>
                <a:ea typeface="맑은 고딕" pitchFamily="34" charset="-122"/>
                <a:cs typeface="맑은 고딕" pitchFamily="34" charset="-120"/>
              </a:rPr>
              <a:t>서버</a:t>
            </a:r>
            <a:endParaRPr lang="en-US" sz="1250" dirty="0"/>
          </a:p>
        </p:txBody>
      </p:sp>
      <p:sp>
        <p:nvSpPr>
          <p:cNvPr id="14" name="Text 9"/>
          <p:cNvSpPr txBox="1"/>
          <p:nvPr/>
        </p:nvSpPr>
        <p:spPr>
          <a:xfrm>
            <a:off x="2148840" y="1708910"/>
            <a:ext cx="6217920" cy="566928"/>
          </a:xfrm>
          <a:prstGeom prst="rect">
            <a:avLst/>
          </a:prstGeom>
          <a:noFill/>
          <a:ln/>
        </p:spPr>
        <p:txBody>
          <a:bodyPr wrap="square" lIns="0" tIns="0" rIns="0" bIns="0" rtlCol="0" anchor="ctr"/>
          <a:lstStyle/>
          <a:p>
            <a:pPr marL="0" indent="0">
              <a:buNone/>
            </a:pPr>
            <a:r>
              <a:rPr lang="en-US" sz="1250" b="1" dirty="0">
                <a:solidFill>
                  <a:srgbClr val="1E293B"/>
                </a:solidFill>
                <a:latin typeface="맑은 고딕" pitchFamily="34" charset="0"/>
                <a:ea typeface="맑은 고딕" pitchFamily="34" charset="-122"/>
                <a:cs typeface="맑은 고딕" pitchFamily="34" charset="-120"/>
              </a:rPr>
              <a:t>Python · FastAPI</a:t>
            </a:r>
            <a:endParaRPr lang="en-US" sz="1250" dirty="0"/>
          </a:p>
        </p:txBody>
      </p:sp>
      <p:sp>
        <p:nvSpPr>
          <p:cNvPr id="15" name="Shape 10"/>
          <p:cNvSpPr/>
          <p:nvPr/>
        </p:nvSpPr>
        <p:spPr>
          <a:xfrm>
            <a:off x="731520" y="2394711"/>
            <a:ext cx="7680960" cy="566928"/>
          </a:xfrm>
          <a:prstGeom prst="roundRect">
            <a:avLst>
              <a:gd name="adj" fmla="val 12903"/>
            </a:avLst>
          </a:prstGeom>
          <a:solidFill>
            <a:srgbClr val="DCE8F6"/>
          </a:solidFill>
          <a:ln w="12700">
            <a:solidFill>
              <a:srgbClr val="DCE8F6"/>
            </a:solidFill>
            <a:prstDash val="solid"/>
          </a:ln>
        </p:spPr>
        <p:txBody>
          <a:bodyPr/>
          <a:lstStyle/>
          <a:p>
            <a:endParaRPr lang="ko-KR" altLang="en-US"/>
          </a:p>
        </p:txBody>
      </p:sp>
      <p:pic>
        <p:nvPicPr>
          <p:cNvPr id="16" name="Image 2" descr="preencoded.png"/>
          <p:cNvPicPr>
            <a:picLocks noChangeAspect="1"/>
          </p:cNvPicPr>
          <p:nvPr/>
        </p:nvPicPr>
        <p:blipFill>
          <a:blip r:embed="rId5"/>
          <a:stretch>
            <a:fillRect/>
          </a:stretch>
        </p:blipFill>
        <p:spPr>
          <a:xfrm>
            <a:off x="914400" y="2513583"/>
            <a:ext cx="329184" cy="329184"/>
          </a:xfrm>
          <a:prstGeom prst="rect">
            <a:avLst/>
          </a:prstGeom>
          <a:ln/>
        </p:spPr>
      </p:pic>
      <p:sp>
        <p:nvSpPr>
          <p:cNvPr id="17" name="Text 11"/>
          <p:cNvSpPr txBox="1"/>
          <p:nvPr/>
        </p:nvSpPr>
        <p:spPr>
          <a:xfrm>
            <a:off x="1371600" y="2394711"/>
            <a:ext cx="822960" cy="566928"/>
          </a:xfrm>
          <a:prstGeom prst="rect">
            <a:avLst/>
          </a:prstGeom>
          <a:noFill/>
          <a:ln/>
        </p:spPr>
        <p:txBody>
          <a:bodyPr wrap="square" lIns="0" tIns="0" rIns="0" bIns="0" rtlCol="0" anchor="ctr"/>
          <a:lstStyle/>
          <a:p>
            <a:pPr marL="0" indent="0">
              <a:buNone/>
            </a:pPr>
            <a:r>
              <a:rPr lang="en-US" sz="1250" b="1" dirty="0">
                <a:solidFill>
                  <a:srgbClr val="41659E"/>
                </a:solidFill>
                <a:latin typeface="맑은 고딕" pitchFamily="34" charset="0"/>
                <a:ea typeface="맑은 고딕" pitchFamily="34" charset="-122"/>
                <a:cs typeface="맑은 고딕" pitchFamily="34" charset="-120"/>
              </a:rPr>
              <a:t>추론</a:t>
            </a:r>
            <a:endParaRPr lang="en-US" sz="1250" dirty="0"/>
          </a:p>
        </p:txBody>
      </p:sp>
      <p:sp>
        <p:nvSpPr>
          <p:cNvPr id="18" name="Text 12"/>
          <p:cNvSpPr txBox="1"/>
          <p:nvPr/>
        </p:nvSpPr>
        <p:spPr>
          <a:xfrm>
            <a:off x="2286000" y="2394711"/>
            <a:ext cx="5943600" cy="566928"/>
          </a:xfrm>
          <a:prstGeom prst="rect">
            <a:avLst/>
          </a:prstGeom>
          <a:noFill/>
          <a:ln/>
        </p:spPr>
        <p:txBody>
          <a:bodyPr wrap="square" lIns="0" tIns="0" rIns="0" bIns="0" rtlCol="0" anchor="ctr"/>
          <a:lstStyle/>
          <a:p>
            <a:pPr marL="0" indent="0">
              <a:buNone/>
            </a:pPr>
            <a:r>
              <a:rPr lang="en-US" sz="1250" b="1" dirty="0">
                <a:solidFill>
                  <a:srgbClr val="1E293B"/>
                </a:solidFill>
                <a:latin typeface="맑은 고딕" pitchFamily="34" charset="0"/>
                <a:ea typeface="맑은 고딕" pitchFamily="34" charset="-122"/>
                <a:cs typeface="맑은 고딕" pitchFamily="34" charset="-120"/>
              </a:rPr>
              <a:t>Ollama · GGUF (Q4_K_M)</a:t>
            </a:r>
            <a:endParaRPr lang="en-US" sz="1250" dirty="0"/>
          </a:p>
        </p:txBody>
      </p:sp>
      <p:sp>
        <p:nvSpPr>
          <p:cNvPr id="19" name="Shape 13"/>
          <p:cNvSpPr/>
          <p:nvPr/>
        </p:nvSpPr>
        <p:spPr>
          <a:xfrm>
            <a:off x="868680" y="3080511"/>
            <a:ext cx="7406640" cy="566928"/>
          </a:xfrm>
          <a:prstGeom prst="roundRect">
            <a:avLst>
              <a:gd name="adj" fmla="val 12903"/>
            </a:avLst>
          </a:prstGeom>
          <a:solidFill>
            <a:srgbClr val="F1F5F9"/>
          </a:solidFill>
          <a:ln w="12700">
            <a:solidFill>
              <a:srgbClr val="F1F5F9"/>
            </a:solidFill>
            <a:prstDash val="solid"/>
          </a:ln>
        </p:spPr>
        <p:txBody>
          <a:bodyPr/>
          <a:lstStyle/>
          <a:p>
            <a:endParaRPr lang="ko-KR" altLang="en-US"/>
          </a:p>
        </p:txBody>
      </p:sp>
      <p:pic>
        <p:nvPicPr>
          <p:cNvPr id="20" name="Image 3" descr="preencoded.png"/>
          <p:cNvPicPr>
            <a:picLocks noChangeAspect="1"/>
          </p:cNvPicPr>
          <p:nvPr/>
        </p:nvPicPr>
        <p:blipFill>
          <a:blip r:embed="rId6"/>
          <a:stretch>
            <a:fillRect/>
          </a:stretch>
        </p:blipFill>
        <p:spPr>
          <a:xfrm>
            <a:off x="1051560" y="3199383"/>
            <a:ext cx="329184" cy="329184"/>
          </a:xfrm>
          <a:prstGeom prst="rect">
            <a:avLst/>
          </a:prstGeom>
          <a:ln/>
        </p:spPr>
      </p:pic>
      <p:sp>
        <p:nvSpPr>
          <p:cNvPr id="21" name="Text 14"/>
          <p:cNvSpPr txBox="1"/>
          <p:nvPr/>
        </p:nvSpPr>
        <p:spPr>
          <a:xfrm>
            <a:off x="1508760" y="3080511"/>
            <a:ext cx="822960" cy="566928"/>
          </a:xfrm>
          <a:prstGeom prst="rect">
            <a:avLst/>
          </a:prstGeom>
          <a:noFill/>
          <a:ln/>
        </p:spPr>
        <p:txBody>
          <a:bodyPr wrap="square" lIns="0" tIns="0" rIns="0" bIns="0" rtlCol="0" anchor="ctr"/>
          <a:lstStyle/>
          <a:p>
            <a:pPr marL="0" indent="0">
              <a:buNone/>
            </a:pPr>
            <a:r>
              <a:rPr lang="en-US" sz="1250" b="1" dirty="0">
                <a:solidFill>
                  <a:srgbClr val="41659E"/>
                </a:solidFill>
                <a:latin typeface="맑은 고딕" pitchFamily="34" charset="0"/>
                <a:ea typeface="맑은 고딕" pitchFamily="34" charset="-122"/>
                <a:cs typeface="맑은 고딕" pitchFamily="34" charset="-120"/>
              </a:rPr>
              <a:t>모델</a:t>
            </a:r>
            <a:endParaRPr lang="en-US" sz="1250" dirty="0"/>
          </a:p>
        </p:txBody>
      </p:sp>
      <p:sp>
        <p:nvSpPr>
          <p:cNvPr id="22" name="Text 15"/>
          <p:cNvSpPr txBox="1"/>
          <p:nvPr/>
        </p:nvSpPr>
        <p:spPr>
          <a:xfrm>
            <a:off x="2423160" y="3080511"/>
            <a:ext cx="5669280" cy="566928"/>
          </a:xfrm>
          <a:prstGeom prst="rect">
            <a:avLst/>
          </a:prstGeom>
          <a:noFill/>
          <a:ln/>
        </p:spPr>
        <p:txBody>
          <a:bodyPr wrap="square" lIns="0" tIns="0" rIns="0" bIns="0" rtlCol="0" anchor="ctr"/>
          <a:lstStyle/>
          <a:p>
            <a:pPr marL="0" indent="0">
              <a:buNone/>
            </a:pPr>
            <a:r>
              <a:rPr lang="en-US" sz="1250" b="1" dirty="0">
                <a:solidFill>
                  <a:srgbClr val="1E293B"/>
                </a:solidFill>
                <a:latin typeface="맑은 고딕" pitchFamily="34" charset="0"/>
                <a:ea typeface="맑은 고딕" pitchFamily="34" charset="-122"/>
                <a:cs typeface="맑은 고딕" pitchFamily="34" charset="-120"/>
              </a:rPr>
              <a:t>Qwen3-1.7B, Qwen3-4B-Instruct · QLoRA (PEFT · TRL · MLX)</a:t>
            </a:r>
            <a:endParaRPr lang="en-US" sz="1250" dirty="0"/>
          </a:p>
        </p:txBody>
      </p:sp>
      <p:sp>
        <p:nvSpPr>
          <p:cNvPr id="23" name="Shape 16"/>
          <p:cNvSpPr/>
          <p:nvPr/>
        </p:nvSpPr>
        <p:spPr>
          <a:xfrm>
            <a:off x="1005840" y="3766311"/>
            <a:ext cx="7132320" cy="566928"/>
          </a:xfrm>
          <a:prstGeom prst="roundRect">
            <a:avLst>
              <a:gd name="adj" fmla="val 12903"/>
            </a:avLst>
          </a:prstGeom>
          <a:solidFill>
            <a:srgbClr val="DCE8F6"/>
          </a:solidFill>
          <a:ln w="12700">
            <a:solidFill>
              <a:srgbClr val="DCE8F6"/>
            </a:solidFill>
            <a:prstDash val="solid"/>
          </a:ln>
        </p:spPr>
        <p:txBody>
          <a:bodyPr/>
          <a:lstStyle/>
          <a:p>
            <a:endParaRPr lang="ko-KR" altLang="en-US"/>
          </a:p>
        </p:txBody>
      </p:sp>
      <p:pic>
        <p:nvPicPr>
          <p:cNvPr id="24" name="Image 4" descr="preencoded.png"/>
          <p:cNvPicPr>
            <a:picLocks noChangeAspect="1"/>
          </p:cNvPicPr>
          <p:nvPr/>
        </p:nvPicPr>
        <p:blipFill>
          <a:blip r:embed="rId7"/>
          <a:stretch>
            <a:fillRect/>
          </a:stretch>
        </p:blipFill>
        <p:spPr>
          <a:xfrm>
            <a:off x="1188720" y="3885183"/>
            <a:ext cx="329184" cy="329184"/>
          </a:xfrm>
          <a:prstGeom prst="rect">
            <a:avLst/>
          </a:prstGeom>
          <a:ln/>
        </p:spPr>
      </p:pic>
      <p:sp>
        <p:nvSpPr>
          <p:cNvPr id="25" name="Text 17"/>
          <p:cNvSpPr txBox="1"/>
          <p:nvPr/>
        </p:nvSpPr>
        <p:spPr>
          <a:xfrm>
            <a:off x="1645920" y="3766311"/>
            <a:ext cx="822960" cy="566928"/>
          </a:xfrm>
          <a:prstGeom prst="rect">
            <a:avLst/>
          </a:prstGeom>
          <a:noFill/>
          <a:ln/>
        </p:spPr>
        <p:txBody>
          <a:bodyPr wrap="square" lIns="0" tIns="0" rIns="0" bIns="0" rtlCol="0" anchor="ctr"/>
          <a:lstStyle/>
          <a:p>
            <a:pPr marL="0" indent="0">
              <a:buNone/>
            </a:pPr>
            <a:r>
              <a:rPr lang="en-US" sz="1250" b="1" dirty="0">
                <a:solidFill>
                  <a:srgbClr val="41659E"/>
                </a:solidFill>
                <a:latin typeface="맑은 고딕" pitchFamily="34" charset="0"/>
                <a:ea typeface="맑은 고딕" pitchFamily="34" charset="-122"/>
                <a:cs typeface="맑은 고딕" pitchFamily="34" charset="-120"/>
              </a:rPr>
              <a:t>장비</a:t>
            </a:r>
            <a:endParaRPr lang="en-US" sz="1250" dirty="0"/>
          </a:p>
        </p:txBody>
      </p:sp>
      <p:sp>
        <p:nvSpPr>
          <p:cNvPr id="26" name="Text 18"/>
          <p:cNvSpPr txBox="1"/>
          <p:nvPr/>
        </p:nvSpPr>
        <p:spPr>
          <a:xfrm>
            <a:off x="2560320" y="3766311"/>
            <a:ext cx="5394960" cy="566928"/>
          </a:xfrm>
          <a:prstGeom prst="rect">
            <a:avLst/>
          </a:prstGeom>
          <a:noFill/>
          <a:ln/>
        </p:spPr>
        <p:txBody>
          <a:bodyPr wrap="square" lIns="0" tIns="0" rIns="0" bIns="0" rtlCol="0" anchor="ctr"/>
          <a:lstStyle/>
          <a:p>
            <a:pPr marL="0" indent="0">
              <a:buNone/>
            </a:pPr>
            <a:r>
              <a:rPr lang="en-US" sz="1250" b="1" dirty="0">
                <a:solidFill>
                  <a:srgbClr val="1E293B"/>
                </a:solidFill>
                <a:latin typeface="맑은 고딕" pitchFamily="34" charset="0"/>
                <a:ea typeface="맑은 고딕" pitchFamily="34" charset="-122"/>
                <a:cs typeface="맑은 고딕" pitchFamily="34" charset="-120"/>
              </a:rPr>
              <a:t>RTX 4060 노트북 8GB </a:t>
            </a:r>
            <a:endParaRPr lang="en-US" sz="1250" dirty="0"/>
          </a:p>
        </p:txBody>
      </p:sp>
    </p:spTree>
    <p:extLst>
      <p:ext uri="{BB962C8B-B14F-4D97-AF65-F5344CB8AC3E}">
        <p14:creationId xmlns:p14="http://schemas.microsoft.com/office/powerpoint/2010/main" val="874655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52400"/>
            <a:ext cx="4572000" cy="177800"/>
          </a:xfrm>
          <a:prstGeom prst="rect">
            <a:avLst/>
          </a:prstGeom>
          <a:noFill/>
          <a:ln/>
        </p:spPr>
        <p:txBody>
          <a:bodyPr wrap="square" lIns="0" tIns="0" rIns="0" bIns="0" rtlCol="0" anchor="t"/>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04  평가 기준</a:t>
            </a:r>
            <a:endParaRPr lang="en-US" sz="900" dirty="0"/>
          </a:p>
        </p:txBody>
      </p:sp>
      <p:sp>
        <p:nvSpPr>
          <p:cNvPr id="4" name="Text 2"/>
          <p:cNvSpPr txBox="1"/>
          <p:nvPr/>
        </p:nvSpPr>
        <p:spPr>
          <a:xfrm>
            <a:off x="457200" y="330200"/>
            <a:ext cx="8229600" cy="355600"/>
          </a:xfrm>
          <a:prstGeom prst="rect">
            <a:avLst/>
          </a:prstGeom>
          <a:noFill/>
          <a:ln/>
        </p:spPr>
        <p:txBody>
          <a:bodyPr wrap="square" lIns="0" tIns="0" rIns="0" bIns="0" rtlCol="0" anchor="ctr"/>
          <a:lstStyle/>
          <a:p>
            <a:pPr marL="0" indent="0">
              <a:buNone/>
            </a:pPr>
            <a:r>
              <a:rPr lang="en-US" sz="2000" b="1" dirty="0">
                <a:solidFill>
                  <a:srgbClr val="1B2A3A"/>
                </a:solidFill>
                <a:latin typeface="맑은 고딕" pitchFamily="34" charset="0"/>
                <a:ea typeface="맑은 고딕" pitchFamily="34" charset="-122"/>
                <a:cs typeface="맑은 고딕" pitchFamily="34" charset="-120"/>
              </a:rPr>
              <a:t>개발·평가 방법</a:t>
            </a:r>
            <a:endParaRPr lang="en-US" sz="2000" dirty="0"/>
          </a:p>
        </p:txBody>
      </p:sp>
      <p:sp>
        <p:nvSpPr>
          <p:cNvPr id="6" name="Text 4"/>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13</a:t>
            </a:r>
            <a:endParaRPr lang="en-US" sz="850" dirty="0"/>
          </a:p>
        </p:txBody>
      </p:sp>
      <p:sp>
        <p:nvSpPr>
          <p:cNvPr id="8" name="Shape 5"/>
          <p:cNvSpPr/>
          <p:nvPr/>
        </p:nvSpPr>
        <p:spPr>
          <a:xfrm>
            <a:off x="457200" y="1102360"/>
            <a:ext cx="2606040" cy="3108960"/>
          </a:xfrm>
          <a:prstGeom prst="roundRect">
            <a:avLst>
              <a:gd name="adj" fmla="val 2807"/>
            </a:avLst>
          </a:prstGeom>
          <a:solidFill>
            <a:srgbClr val="F1F5F9"/>
          </a:solidFill>
          <a:ln w="12700">
            <a:solidFill>
              <a:srgbClr val="F1F5F9"/>
            </a:solidFill>
            <a:prstDash val="solid"/>
          </a:ln>
        </p:spPr>
        <p:txBody>
          <a:bodyPr/>
          <a:lstStyle/>
          <a:p>
            <a:endParaRPr lang="ko-KR" altLang="en-US"/>
          </a:p>
        </p:txBody>
      </p:sp>
      <p:sp>
        <p:nvSpPr>
          <p:cNvPr id="9" name="Shape 6"/>
          <p:cNvSpPr/>
          <p:nvPr/>
        </p:nvSpPr>
        <p:spPr>
          <a:xfrm>
            <a:off x="640080" y="1239520"/>
            <a:ext cx="548640" cy="548640"/>
          </a:xfrm>
          <a:prstGeom prst="ellipse">
            <a:avLst/>
          </a:prstGeom>
          <a:solidFill>
            <a:srgbClr val="41659E"/>
          </a:solidFill>
          <a:ln w="12700">
            <a:solidFill>
              <a:srgbClr val="41659E"/>
            </a:solidFill>
            <a:prstDash val="solid"/>
          </a:ln>
        </p:spPr>
        <p:txBody>
          <a:bodyPr/>
          <a:lstStyle/>
          <a:p>
            <a:endParaRPr lang="ko-KR" altLang="en-US"/>
          </a:p>
        </p:txBody>
      </p:sp>
      <p:pic>
        <p:nvPicPr>
          <p:cNvPr id="10" name="Image 0" descr="preencoded.png"/>
          <p:cNvPicPr>
            <a:picLocks noChangeAspect="1"/>
          </p:cNvPicPr>
          <p:nvPr/>
        </p:nvPicPr>
        <p:blipFill>
          <a:blip r:embed="rId3"/>
          <a:stretch>
            <a:fillRect/>
          </a:stretch>
        </p:blipFill>
        <p:spPr>
          <a:xfrm>
            <a:off x="771754" y="1371194"/>
            <a:ext cx="285293" cy="285293"/>
          </a:xfrm>
          <a:prstGeom prst="rect">
            <a:avLst/>
          </a:prstGeom>
          <a:ln/>
        </p:spPr>
      </p:pic>
      <p:sp>
        <p:nvSpPr>
          <p:cNvPr id="11" name="Text 7"/>
          <p:cNvSpPr txBox="1"/>
          <p:nvPr/>
        </p:nvSpPr>
        <p:spPr>
          <a:xfrm>
            <a:off x="1280160" y="1239520"/>
            <a:ext cx="1737360" cy="548640"/>
          </a:xfrm>
          <a:prstGeom prst="rect">
            <a:avLst/>
          </a:prstGeom>
          <a:noFill/>
          <a:ln/>
        </p:spPr>
        <p:txBody>
          <a:bodyPr wrap="square" lIns="0" tIns="0" rIns="0" bIns="0" rtlCol="0" anchor="ctr"/>
          <a:lstStyle/>
          <a:p>
            <a:pPr marL="0" indent="0">
              <a:buNone/>
            </a:pPr>
            <a:r>
              <a:rPr lang="en-US" sz="1400" b="1" dirty="0">
                <a:solidFill>
                  <a:srgbClr val="1E293B"/>
                </a:solidFill>
                <a:latin typeface="맑은 고딕" pitchFamily="34" charset="0"/>
                <a:ea typeface="맑은 고딕" pitchFamily="34" charset="-122"/>
                <a:cs typeface="맑은 고딕" pitchFamily="34" charset="-120"/>
              </a:rPr>
              <a:t>바로 처리</a:t>
            </a:r>
            <a:endParaRPr lang="en-US" sz="1400" dirty="0"/>
          </a:p>
        </p:txBody>
      </p:sp>
      <p:sp>
        <p:nvSpPr>
          <p:cNvPr id="12" name="Shape 8"/>
          <p:cNvSpPr/>
          <p:nvPr/>
        </p:nvSpPr>
        <p:spPr>
          <a:xfrm>
            <a:off x="640080" y="1971039"/>
            <a:ext cx="2240280" cy="420624"/>
          </a:xfrm>
          <a:prstGeom prst="roundRect">
            <a:avLst>
              <a:gd name="adj" fmla="val 17391"/>
            </a:avLst>
          </a:prstGeom>
          <a:solidFill>
            <a:srgbClr val="FFFFFF"/>
          </a:solidFill>
          <a:ln w="12700">
            <a:solidFill>
              <a:srgbClr val="FFFFFF"/>
            </a:solidFill>
            <a:prstDash val="solid"/>
          </a:ln>
        </p:spPr>
        <p:txBody>
          <a:bodyPr/>
          <a:lstStyle/>
          <a:p>
            <a:endParaRPr lang="ko-KR" altLang="en-US"/>
          </a:p>
        </p:txBody>
      </p:sp>
      <p:sp>
        <p:nvSpPr>
          <p:cNvPr id="13" name="Text 9"/>
          <p:cNvSpPr txBox="1"/>
          <p:nvPr/>
        </p:nvSpPr>
        <p:spPr>
          <a:xfrm>
            <a:off x="731520" y="1971039"/>
            <a:ext cx="274320" cy="420624"/>
          </a:xfrm>
          <a:prstGeom prst="rect">
            <a:avLst/>
          </a:prstGeom>
          <a:noFill/>
          <a:ln/>
        </p:spPr>
        <p:txBody>
          <a:bodyPr wrap="square" lIns="0" tIns="0" rIns="0" bIns="0" rtlCol="0" anchor="ctr"/>
          <a:lstStyle/>
          <a:p>
            <a:pPr marL="0" indent="0">
              <a:buNone/>
            </a:pPr>
            <a:r>
              <a:rPr lang="en-US" sz="1200" b="1" dirty="0">
                <a:solidFill>
                  <a:srgbClr val="41659E"/>
                </a:solidFill>
                <a:latin typeface="맑은 고딕" pitchFamily="34" charset="0"/>
                <a:ea typeface="맑은 고딕" pitchFamily="34" charset="-122"/>
                <a:cs typeface="맑은 고딕" pitchFamily="34" charset="-120"/>
              </a:rPr>
              <a:t>1</a:t>
            </a:r>
            <a:endParaRPr lang="en-US" sz="1200" dirty="0"/>
          </a:p>
        </p:txBody>
      </p:sp>
      <p:sp>
        <p:nvSpPr>
          <p:cNvPr id="14" name="Text 10"/>
          <p:cNvSpPr txBox="1"/>
          <p:nvPr/>
        </p:nvSpPr>
        <p:spPr>
          <a:xfrm>
            <a:off x="1051560" y="1971039"/>
            <a:ext cx="1783080" cy="420624"/>
          </a:xfrm>
          <a:prstGeom prst="rect">
            <a:avLst/>
          </a:prstGeom>
          <a:noFill/>
          <a:ln/>
        </p:spPr>
        <p:txBody>
          <a:bodyPr wrap="square" lIns="0" tIns="0" rIns="0" bIns="0" rtlCol="0" anchor="ctr"/>
          <a:lstStyle/>
          <a:p>
            <a:pPr marL="0" indent="0">
              <a:buNone/>
            </a:pPr>
            <a:r>
              <a:rPr lang="en-US" sz="1150" b="1" dirty="0">
                <a:solidFill>
                  <a:srgbClr val="1E293B"/>
                </a:solidFill>
                <a:latin typeface="맑은 고딕" pitchFamily="34" charset="0"/>
                <a:ea typeface="맑은 고딕" pitchFamily="34" charset="-122"/>
                <a:cs typeface="맑은 고딕" pitchFamily="34" charset="-120"/>
              </a:rPr>
              <a:t>라우팅 90%</a:t>
            </a:r>
            <a:endParaRPr lang="en-US" sz="1150" dirty="0"/>
          </a:p>
        </p:txBody>
      </p:sp>
      <p:sp>
        <p:nvSpPr>
          <p:cNvPr id="15" name="Shape 11"/>
          <p:cNvSpPr/>
          <p:nvPr/>
        </p:nvSpPr>
        <p:spPr>
          <a:xfrm>
            <a:off x="640080" y="2501392"/>
            <a:ext cx="2240280" cy="420624"/>
          </a:xfrm>
          <a:prstGeom prst="roundRect">
            <a:avLst>
              <a:gd name="adj" fmla="val 17391"/>
            </a:avLst>
          </a:prstGeom>
          <a:solidFill>
            <a:srgbClr val="FFFFFF"/>
          </a:solidFill>
          <a:ln w="12700">
            <a:solidFill>
              <a:srgbClr val="FFFFFF"/>
            </a:solidFill>
            <a:prstDash val="solid"/>
          </a:ln>
        </p:spPr>
        <p:txBody>
          <a:bodyPr/>
          <a:lstStyle/>
          <a:p>
            <a:endParaRPr lang="ko-KR" altLang="en-US"/>
          </a:p>
        </p:txBody>
      </p:sp>
      <p:sp>
        <p:nvSpPr>
          <p:cNvPr id="16" name="Text 12"/>
          <p:cNvSpPr txBox="1"/>
          <p:nvPr/>
        </p:nvSpPr>
        <p:spPr>
          <a:xfrm>
            <a:off x="731520" y="2501392"/>
            <a:ext cx="274320" cy="420624"/>
          </a:xfrm>
          <a:prstGeom prst="rect">
            <a:avLst/>
          </a:prstGeom>
          <a:noFill/>
          <a:ln/>
        </p:spPr>
        <p:txBody>
          <a:bodyPr wrap="square" lIns="0" tIns="0" rIns="0" bIns="0" rtlCol="0" anchor="ctr"/>
          <a:lstStyle/>
          <a:p>
            <a:pPr marL="0" indent="0">
              <a:buNone/>
            </a:pPr>
            <a:r>
              <a:rPr lang="en-US" sz="1200" b="1" dirty="0">
                <a:solidFill>
                  <a:srgbClr val="41659E"/>
                </a:solidFill>
                <a:latin typeface="맑은 고딕" pitchFamily="34" charset="0"/>
                <a:ea typeface="맑은 고딕" pitchFamily="34" charset="-122"/>
                <a:cs typeface="맑은 고딕" pitchFamily="34" charset="-120"/>
              </a:rPr>
              <a:t>2</a:t>
            </a:r>
            <a:endParaRPr lang="en-US" sz="1200" dirty="0"/>
          </a:p>
        </p:txBody>
      </p:sp>
      <p:sp>
        <p:nvSpPr>
          <p:cNvPr id="17" name="Text 13"/>
          <p:cNvSpPr txBox="1"/>
          <p:nvPr/>
        </p:nvSpPr>
        <p:spPr>
          <a:xfrm>
            <a:off x="1051560" y="2501392"/>
            <a:ext cx="1783080" cy="420624"/>
          </a:xfrm>
          <a:prstGeom prst="rect">
            <a:avLst/>
          </a:prstGeom>
          <a:noFill/>
          <a:ln/>
        </p:spPr>
        <p:txBody>
          <a:bodyPr wrap="square" lIns="0" tIns="0" rIns="0" bIns="0" rtlCol="0" anchor="ctr"/>
          <a:lstStyle/>
          <a:p>
            <a:pPr marL="0" indent="0">
              <a:buNone/>
            </a:pPr>
            <a:r>
              <a:rPr lang="en-US" sz="1150" b="1" dirty="0">
                <a:solidFill>
                  <a:srgbClr val="1E293B"/>
                </a:solidFill>
                <a:latin typeface="맑은 고딕" pitchFamily="34" charset="0"/>
                <a:ea typeface="맑은 고딕" pitchFamily="34" charset="-122"/>
                <a:cs typeface="맑은 고딕" pitchFamily="34" charset="-120"/>
              </a:rPr>
              <a:t>복합 문의 되묻기</a:t>
            </a:r>
            <a:endParaRPr lang="en-US" sz="1150" dirty="0"/>
          </a:p>
        </p:txBody>
      </p:sp>
      <p:sp>
        <p:nvSpPr>
          <p:cNvPr id="18" name="Shape 14"/>
          <p:cNvSpPr/>
          <p:nvPr/>
        </p:nvSpPr>
        <p:spPr>
          <a:xfrm>
            <a:off x="640080" y="3031744"/>
            <a:ext cx="2240280" cy="420624"/>
          </a:xfrm>
          <a:prstGeom prst="roundRect">
            <a:avLst>
              <a:gd name="adj" fmla="val 17391"/>
            </a:avLst>
          </a:prstGeom>
          <a:solidFill>
            <a:srgbClr val="FFFFFF"/>
          </a:solidFill>
          <a:ln w="12700">
            <a:solidFill>
              <a:srgbClr val="FFFFFF"/>
            </a:solidFill>
            <a:prstDash val="solid"/>
          </a:ln>
        </p:spPr>
        <p:txBody>
          <a:bodyPr/>
          <a:lstStyle/>
          <a:p>
            <a:endParaRPr lang="ko-KR" altLang="en-US"/>
          </a:p>
        </p:txBody>
      </p:sp>
      <p:sp>
        <p:nvSpPr>
          <p:cNvPr id="19" name="Text 15"/>
          <p:cNvSpPr txBox="1"/>
          <p:nvPr/>
        </p:nvSpPr>
        <p:spPr>
          <a:xfrm>
            <a:off x="731520" y="3031744"/>
            <a:ext cx="274320" cy="420624"/>
          </a:xfrm>
          <a:prstGeom prst="rect">
            <a:avLst/>
          </a:prstGeom>
          <a:noFill/>
          <a:ln/>
        </p:spPr>
        <p:txBody>
          <a:bodyPr wrap="square" lIns="0" tIns="0" rIns="0" bIns="0" rtlCol="0" anchor="ctr"/>
          <a:lstStyle/>
          <a:p>
            <a:pPr marL="0" indent="0">
              <a:buNone/>
            </a:pPr>
            <a:r>
              <a:rPr lang="en-US" sz="1200" b="1" dirty="0">
                <a:solidFill>
                  <a:srgbClr val="41659E"/>
                </a:solidFill>
                <a:latin typeface="맑은 고딕" pitchFamily="34" charset="0"/>
                <a:ea typeface="맑은 고딕" pitchFamily="34" charset="-122"/>
                <a:cs typeface="맑은 고딕" pitchFamily="34" charset="-120"/>
              </a:rPr>
              <a:t>3</a:t>
            </a:r>
            <a:endParaRPr lang="en-US" sz="1200" dirty="0"/>
          </a:p>
        </p:txBody>
      </p:sp>
      <p:sp>
        <p:nvSpPr>
          <p:cNvPr id="20" name="Text 16"/>
          <p:cNvSpPr txBox="1"/>
          <p:nvPr/>
        </p:nvSpPr>
        <p:spPr>
          <a:xfrm>
            <a:off x="1051560" y="3031744"/>
            <a:ext cx="1783080" cy="420624"/>
          </a:xfrm>
          <a:prstGeom prst="rect">
            <a:avLst/>
          </a:prstGeom>
          <a:noFill/>
          <a:ln/>
        </p:spPr>
        <p:txBody>
          <a:bodyPr wrap="square" lIns="0" tIns="0" rIns="0" bIns="0" rtlCol="0" anchor="ctr"/>
          <a:lstStyle/>
          <a:p>
            <a:pPr marL="0" indent="0">
              <a:buNone/>
            </a:pPr>
            <a:r>
              <a:rPr lang="en-US" sz="1150" b="1" dirty="0">
                <a:solidFill>
                  <a:srgbClr val="1E293B"/>
                </a:solidFill>
                <a:latin typeface="맑은 고딕" pitchFamily="34" charset="0"/>
                <a:ea typeface="맑은 고딕" pitchFamily="34" charset="-122"/>
                <a:cs typeface="맑은 고딕" pitchFamily="34" charset="-120"/>
              </a:rPr>
              <a:t>답변 27/30</a:t>
            </a:r>
            <a:endParaRPr lang="en-US" sz="1150" dirty="0"/>
          </a:p>
        </p:txBody>
      </p:sp>
      <p:sp>
        <p:nvSpPr>
          <p:cNvPr id="21" name="Shape 17"/>
          <p:cNvSpPr/>
          <p:nvPr/>
        </p:nvSpPr>
        <p:spPr>
          <a:xfrm>
            <a:off x="640080" y="3562096"/>
            <a:ext cx="2240280" cy="420624"/>
          </a:xfrm>
          <a:prstGeom prst="roundRect">
            <a:avLst>
              <a:gd name="adj" fmla="val 17391"/>
            </a:avLst>
          </a:prstGeom>
          <a:solidFill>
            <a:srgbClr val="FFFFFF"/>
          </a:solidFill>
          <a:ln w="12700">
            <a:solidFill>
              <a:srgbClr val="FFFFFF"/>
            </a:solidFill>
            <a:prstDash val="solid"/>
          </a:ln>
        </p:spPr>
        <p:txBody>
          <a:bodyPr/>
          <a:lstStyle/>
          <a:p>
            <a:endParaRPr lang="ko-KR" altLang="en-US"/>
          </a:p>
        </p:txBody>
      </p:sp>
      <p:sp>
        <p:nvSpPr>
          <p:cNvPr id="22" name="Text 18"/>
          <p:cNvSpPr txBox="1"/>
          <p:nvPr/>
        </p:nvSpPr>
        <p:spPr>
          <a:xfrm>
            <a:off x="731520" y="3562096"/>
            <a:ext cx="274320" cy="420624"/>
          </a:xfrm>
          <a:prstGeom prst="rect">
            <a:avLst/>
          </a:prstGeom>
          <a:noFill/>
          <a:ln/>
        </p:spPr>
        <p:txBody>
          <a:bodyPr wrap="square" lIns="0" tIns="0" rIns="0" bIns="0" rtlCol="0" anchor="ctr"/>
          <a:lstStyle/>
          <a:p>
            <a:pPr marL="0" indent="0">
              <a:buNone/>
            </a:pPr>
            <a:r>
              <a:rPr lang="en-US" sz="1200" b="1" dirty="0">
                <a:solidFill>
                  <a:srgbClr val="41659E"/>
                </a:solidFill>
                <a:latin typeface="맑은 고딕" pitchFamily="34" charset="0"/>
                <a:ea typeface="맑은 고딕" pitchFamily="34" charset="-122"/>
                <a:cs typeface="맑은 고딕" pitchFamily="34" charset="-120"/>
              </a:rPr>
              <a:t>4</a:t>
            </a:r>
            <a:endParaRPr lang="en-US" sz="1200" dirty="0"/>
          </a:p>
        </p:txBody>
      </p:sp>
      <p:sp>
        <p:nvSpPr>
          <p:cNvPr id="23" name="Text 19"/>
          <p:cNvSpPr txBox="1"/>
          <p:nvPr/>
        </p:nvSpPr>
        <p:spPr>
          <a:xfrm>
            <a:off x="1051560" y="3562096"/>
            <a:ext cx="1783080" cy="420624"/>
          </a:xfrm>
          <a:prstGeom prst="rect">
            <a:avLst/>
          </a:prstGeom>
          <a:noFill/>
          <a:ln/>
        </p:spPr>
        <p:txBody>
          <a:bodyPr wrap="square" lIns="0" tIns="0" rIns="0" bIns="0" rtlCol="0" anchor="ctr"/>
          <a:lstStyle/>
          <a:p>
            <a:pPr marL="0" indent="0">
              <a:buNone/>
            </a:pPr>
            <a:r>
              <a:rPr lang="en-US" sz="1150" b="1" dirty="0">
                <a:solidFill>
                  <a:srgbClr val="1E293B"/>
                </a:solidFill>
                <a:latin typeface="맑은 고딕" pitchFamily="34" charset="0"/>
                <a:ea typeface="맑은 고딕" pitchFamily="34" charset="-122"/>
                <a:cs typeface="맑은 고딕" pitchFamily="34" charset="-120"/>
              </a:rPr>
              <a:t>응답 10초</a:t>
            </a:r>
            <a:endParaRPr lang="en-US" sz="1150" dirty="0"/>
          </a:p>
        </p:txBody>
      </p:sp>
      <p:sp>
        <p:nvSpPr>
          <p:cNvPr id="24" name="Shape 20"/>
          <p:cNvSpPr/>
          <p:nvPr/>
        </p:nvSpPr>
        <p:spPr>
          <a:xfrm>
            <a:off x="3246120" y="1102360"/>
            <a:ext cx="2606040" cy="3108960"/>
          </a:xfrm>
          <a:prstGeom prst="roundRect">
            <a:avLst>
              <a:gd name="adj" fmla="val 2807"/>
            </a:avLst>
          </a:prstGeom>
          <a:solidFill>
            <a:srgbClr val="F1F5F9"/>
          </a:solidFill>
          <a:ln w="12700">
            <a:solidFill>
              <a:srgbClr val="F1F5F9"/>
            </a:solidFill>
            <a:prstDash val="solid"/>
          </a:ln>
        </p:spPr>
        <p:txBody>
          <a:bodyPr/>
          <a:lstStyle/>
          <a:p>
            <a:endParaRPr lang="ko-KR" altLang="en-US"/>
          </a:p>
        </p:txBody>
      </p:sp>
      <p:sp>
        <p:nvSpPr>
          <p:cNvPr id="25" name="Shape 21"/>
          <p:cNvSpPr/>
          <p:nvPr/>
        </p:nvSpPr>
        <p:spPr>
          <a:xfrm>
            <a:off x="3429000" y="1239520"/>
            <a:ext cx="548640" cy="548640"/>
          </a:xfrm>
          <a:prstGeom prst="ellipse">
            <a:avLst/>
          </a:prstGeom>
          <a:solidFill>
            <a:srgbClr val="41659E"/>
          </a:solidFill>
          <a:ln w="12700">
            <a:solidFill>
              <a:srgbClr val="41659E"/>
            </a:solidFill>
            <a:prstDash val="solid"/>
          </a:ln>
        </p:spPr>
        <p:txBody>
          <a:bodyPr/>
          <a:lstStyle/>
          <a:p>
            <a:endParaRPr lang="ko-KR" altLang="en-US"/>
          </a:p>
        </p:txBody>
      </p:sp>
      <p:pic>
        <p:nvPicPr>
          <p:cNvPr id="26" name="Image 1" descr="preencoded.png"/>
          <p:cNvPicPr>
            <a:picLocks noChangeAspect="1"/>
          </p:cNvPicPr>
          <p:nvPr/>
        </p:nvPicPr>
        <p:blipFill>
          <a:blip r:embed="rId4"/>
          <a:stretch>
            <a:fillRect/>
          </a:stretch>
        </p:blipFill>
        <p:spPr>
          <a:xfrm>
            <a:off x="3560674" y="1371194"/>
            <a:ext cx="285293" cy="285293"/>
          </a:xfrm>
          <a:prstGeom prst="rect">
            <a:avLst/>
          </a:prstGeom>
          <a:ln/>
        </p:spPr>
      </p:pic>
      <p:sp>
        <p:nvSpPr>
          <p:cNvPr id="27" name="Text 22"/>
          <p:cNvSpPr txBox="1"/>
          <p:nvPr/>
        </p:nvSpPr>
        <p:spPr>
          <a:xfrm>
            <a:off x="4069080" y="1239520"/>
            <a:ext cx="1737360" cy="548640"/>
          </a:xfrm>
          <a:prstGeom prst="rect">
            <a:avLst/>
          </a:prstGeom>
          <a:noFill/>
          <a:ln/>
        </p:spPr>
        <p:txBody>
          <a:bodyPr wrap="square" lIns="0" tIns="0" rIns="0" bIns="0" rtlCol="0" anchor="ctr"/>
          <a:lstStyle/>
          <a:p>
            <a:pPr marL="0" indent="0">
              <a:buNone/>
            </a:pPr>
            <a:r>
              <a:rPr lang="en-US" sz="1400" b="1" dirty="0">
                <a:solidFill>
                  <a:srgbClr val="1E293B"/>
                </a:solidFill>
                <a:latin typeface="맑은 고딕" pitchFamily="34" charset="0"/>
                <a:ea typeface="맑은 고딕" pitchFamily="34" charset="-122"/>
                <a:cs typeface="맑은 고딕" pitchFamily="34" charset="-120"/>
              </a:rPr>
              <a:t>개인정보 보호</a:t>
            </a:r>
            <a:endParaRPr lang="en-US" sz="1400" dirty="0"/>
          </a:p>
        </p:txBody>
      </p:sp>
      <p:sp>
        <p:nvSpPr>
          <p:cNvPr id="28" name="Shape 23"/>
          <p:cNvSpPr/>
          <p:nvPr/>
        </p:nvSpPr>
        <p:spPr>
          <a:xfrm>
            <a:off x="3429000" y="1971039"/>
            <a:ext cx="2240280" cy="420624"/>
          </a:xfrm>
          <a:prstGeom prst="roundRect">
            <a:avLst>
              <a:gd name="adj" fmla="val 17391"/>
            </a:avLst>
          </a:prstGeom>
          <a:solidFill>
            <a:srgbClr val="FFFFFF"/>
          </a:solidFill>
          <a:ln w="12700">
            <a:solidFill>
              <a:srgbClr val="FFFFFF"/>
            </a:solidFill>
            <a:prstDash val="solid"/>
          </a:ln>
        </p:spPr>
        <p:txBody>
          <a:bodyPr/>
          <a:lstStyle/>
          <a:p>
            <a:endParaRPr lang="ko-KR" altLang="en-US"/>
          </a:p>
        </p:txBody>
      </p:sp>
      <p:sp>
        <p:nvSpPr>
          <p:cNvPr id="29" name="Text 24"/>
          <p:cNvSpPr txBox="1"/>
          <p:nvPr/>
        </p:nvSpPr>
        <p:spPr>
          <a:xfrm>
            <a:off x="3520440" y="1971039"/>
            <a:ext cx="274320" cy="420624"/>
          </a:xfrm>
          <a:prstGeom prst="rect">
            <a:avLst/>
          </a:prstGeom>
          <a:noFill/>
          <a:ln/>
        </p:spPr>
        <p:txBody>
          <a:bodyPr wrap="square" lIns="0" tIns="0" rIns="0" bIns="0" rtlCol="0" anchor="ctr"/>
          <a:lstStyle/>
          <a:p>
            <a:pPr marL="0" indent="0">
              <a:buNone/>
            </a:pPr>
            <a:r>
              <a:rPr lang="en-US" sz="1200" b="1" dirty="0">
                <a:solidFill>
                  <a:srgbClr val="41659E"/>
                </a:solidFill>
                <a:latin typeface="맑은 고딕" pitchFamily="34" charset="0"/>
                <a:ea typeface="맑은 고딕" pitchFamily="34" charset="-122"/>
                <a:cs typeface="맑은 고딕" pitchFamily="34" charset="-120"/>
              </a:rPr>
              <a:t>5</a:t>
            </a:r>
            <a:endParaRPr lang="en-US" sz="1200" dirty="0"/>
          </a:p>
        </p:txBody>
      </p:sp>
      <p:sp>
        <p:nvSpPr>
          <p:cNvPr id="30" name="Text 25"/>
          <p:cNvSpPr txBox="1"/>
          <p:nvPr/>
        </p:nvSpPr>
        <p:spPr>
          <a:xfrm>
            <a:off x="3840480" y="1971039"/>
            <a:ext cx="1783080" cy="420624"/>
          </a:xfrm>
          <a:prstGeom prst="rect">
            <a:avLst/>
          </a:prstGeom>
          <a:noFill/>
          <a:ln/>
        </p:spPr>
        <p:txBody>
          <a:bodyPr wrap="square" lIns="0" tIns="0" rIns="0" bIns="0" rtlCol="0" anchor="ctr"/>
          <a:lstStyle/>
          <a:p>
            <a:pPr marL="0" indent="0">
              <a:buNone/>
            </a:pPr>
            <a:r>
              <a:rPr lang="en-US" sz="1150" b="1" dirty="0">
                <a:solidFill>
                  <a:srgbClr val="1E293B"/>
                </a:solidFill>
                <a:latin typeface="맑은 고딕" pitchFamily="34" charset="0"/>
                <a:ea typeface="맑은 고딕" pitchFamily="34" charset="-122"/>
                <a:cs typeface="맑은 고딕" pitchFamily="34" charset="-120"/>
              </a:rPr>
              <a:t>원본 노출 0건</a:t>
            </a:r>
            <a:endParaRPr lang="en-US" sz="1150" dirty="0"/>
          </a:p>
        </p:txBody>
      </p:sp>
      <p:sp>
        <p:nvSpPr>
          <p:cNvPr id="31" name="Shape 26"/>
          <p:cNvSpPr/>
          <p:nvPr/>
        </p:nvSpPr>
        <p:spPr>
          <a:xfrm>
            <a:off x="3429000" y="2501392"/>
            <a:ext cx="2240280" cy="420624"/>
          </a:xfrm>
          <a:prstGeom prst="roundRect">
            <a:avLst>
              <a:gd name="adj" fmla="val 17391"/>
            </a:avLst>
          </a:prstGeom>
          <a:solidFill>
            <a:srgbClr val="FFFFFF"/>
          </a:solidFill>
          <a:ln w="12700">
            <a:solidFill>
              <a:srgbClr val="FFFFFF"/>
            </a:solidFill>
            <a:prstDash val="solid"/>
          </a:ln>
        </p:spPr>
        <p:txBody>
          <a:bodyPr/>
          <a:lstStyle/>
          <a:p>
            <a:endParaRPr lang="ko-KR" altLang="en-US"/>
          </a:p>
        </p:txBody>
      </p:sp>
      <p:sp>
        <p:nvSpPr>
          <p:cNvPr id="32" name="Text 27"/>
          <p:cNvSpPr txBox="1"/>
          <p:nvPr/>
        </p:nvSpPr>
        <p:spPr>
          <a:xfrm>
            <a:off x="3520440" y="2501392"/>
            <a:ext cx="274320" cy="420624"/>
          </a:xfrm>
          <a:prstGeom prst="rect">
            <a:avLst/>
          </a:prstGeom>
          <a:noFill/>
          <a:ln/>
        </p:spPr>
        <p:txBody>
          <a:bodyPr wrap="square" lIns="0" tIns="0" rIns="0" bIns="0" rtlCol="0" anchor="ctr"/>
          <a:lstStyle/>
          <a:p>
            <a:pPr marL="0" indent="0">
              <a:buNone/>
            </a:pPr>
            <a:r>
              <a:rPr lang="en-US" sz="1200" b="1" dirty="0">
                <a:solidFill>
                  <a:srgbClr val="41659E"/>
                </a:solidFill>
                <a:latin typeface="맑은 고딕" pitchFamily="34" charset="0"/>
                <a:ea typeface="맑은 고딕" pitchFamily="34" charset="-122"/>
                <a:cs typeface="맑은 고딕" pitchFamily="34" charset="-120"/>
              </a:rPr>
              <a:t>6</a:t>
            </a:r>
            <a:endParaRPr lang="en-US" sz="1200" dirty="0"/>
          </a:p>
        </p:txBody>
      </p:sp>
      <p:sp>
        <p:nvSpPr>
          <p:cNvPr id="33" name="Text 28"/>
          <p:cNvSpPr txBox="1"/>
          <p:nvPr/>
        </p:nvSpPr>
        <p:spPr>
          <a:xfrm>
            <a:off x="3840480" y="2501392"/>
            <a:ext cx="1783080" cy="420624"/>
          </a:xfrm>
          <a:prstGeom prst="rect">
            <a:avLst/>
          </a:prstGeom>
          <a:noFill/>
          <a:ln/>
        </p:spPr>
        <p:txBody>
          <a:bodyPr wrap="square" lIns="0" tIns="0" rIns="0" bIns="0" rtlCol="0" anchor="ctr"/>
          <a:lstStyle/>
          <a:p>
            <a:pPr marL="0" indent="0">
              <a:buNone/>
            </a:pPr>
            <a:r>
              <a:rPr lang="en-US" sz="1150" b="1" dirty="0">
                <a:solidFill>
                  <a:srgbClr val="1E293B"/>
                </a:solidFill>
                <a:latin typeface="맑은 고딕" pitchFamily="34" charset="0"/>
                <a:ea typeface="맑은 고딕" pitchFamily="34" charset="-122"/>
                <a:cs typeface="맑은 고딕" pitchFamily="34" charset="-120"/>
              </a:rPr>
              <a:t>금액은 화면에서</a:t>
            </a:r>
            <a:endParaRPr lang="en-US" sz="1150" dirty="0"/>
          </a:p>
        </p:txBody>
      </p:sp>
      <p:sp>
        <p:nvSpPr>
          <p:cNvPr id="34" name="Shape 29"/>
          <p:cNvSpPr/>
          <p:nvPr/>
        </p:nvSpPr>
        <p:spPr>
          <a:xfrm>
            <a:off x="3429000" y="3031744"/>
            <a:ext cx="2240280" cy="420624"/>
          </a:xfrm>
          <a:prstGeom prst="roundRect">
            <a:avLst>
              <a:gd name="adj" fmla="val 17391"/>
            </a:avLst>
          </a:prstGeom>
          <a:solidFill>
            <a:srgbClr val="FFFFFF"/>
          </a:solidFill>
          <a:ln w="12700">
            <a:solidFill>
              <a:srgbClr val="FFFFFF"/>
            </a:solidFill>
            <a:prstDash val="solid"/>
          </a:ln>
        </p:spPr>
        <p:txBody>
          <a:bodyPr/>
          <a:lstStyle/>
          <a:p>
            <a:endParaRPr lang="ko-KR" altLang="en-US"/>
          </a:p>
        </p:txBody>
      </p:sp>
      <p:sp>
        <p:nvSpPr>
          <p:cNvPr id="35" name="Text 30"/>
          <p:cNvSpPr txBox="1"/>
          <p:nvPr/>
        </p:nvSpPr>
        <p:spPr>
          <a:xfrm>
            <a:off x="3520440" y="3031744"/>
            <a:ext cx="274320" cy="420624"/>
          </a:xfrm>
          <a:prstGeom prst="rect">
            <a:avLst/>
          </a:prstGeom>
          <a:noFill/>
          <a:ln/>
        </p:spPr>
        <p:txBody>
          <a:bodyPr wrap="square" lIns="0" tIns="0" rIns="0" bIns="0" rtlCol="0" anchor="ctr"/>
          <a:lstStyle/>
          <a:p>
            <a:pPr marL="0" indent="0">
              <a:buNone/>
            </a:pPr>
            <a:r>
              <a:rPr lang="en-US" sz="1200" b="1" dirty="0">
                <a:solidFill>
                  <a:srgbClr val="41659E"/>
                </a:solidFill>
                <a:latin typeface="맑은 고딕" pitchFamily="34" charset="0"/>
                <a:ea typeface="맑은 고딕" pitchFamily="34" charset="-122"/>
                <a:cs typeface="맑은 고딕" pitchFamily="34" charset="-120"/>
              </a:rPr>
              <a:t>7</a:t>
            </a:r>
            <a:endParaRPr lang="en-US" sz="1200" dirty="0"/>
          </a:p>
        </p:txBody>
      </p:sp>
      <p:sp>
        <p:nvSpPr>
          <p:cNvPr id="36" name="Text 31"/>
          <p:cNvSpPr txBox="1"/>
          <p:nvPr/>
        </p:nvSpPr>
        <p:spPr>
          <a:xfrm>
            <a:off x="3840480" y="3031744"/>
            <a:ext cx="1783080" cy="420624"/>
          </a:xfrm>
          <a:prstGeom prst="rect">
            <a:avLst/>
          </a:prstGeom>
          <a:noFill/>
          <a:ln/>
        </p:spPr>
        <p:txBody>
          <a:bodyPr wrap="square" lIns="0" tIns="0" rIns="0" bIns="0" rtlCol="0" anchor="ctr"/>
          <a:lstStyle/>
          <a:p>
            <a:pPr marL="0" indent="0">
              <a:buNone/>
            </a:pPr>
            <a:r>
              <a:rPr lang="en-US" sz="1150" b="1" dirty="0">
                <a:solidFill>
                  <a:srgbClr val="1E293B"/>
                </a:solidFill>
                <a:latin typeface="맑은 고딕" pitchFamily="34" charset="0"/>
                <a:ea typeface="맑은 고딕" pitchFamily="34" charset="-122"/>
                <a:cs typeface="맑은 고딕" pitchFamily="34" charset="-120"/>
              </a:rPr>
              <a:t>Win · Mac 로컬</a:t>
            </a:r>
            <a:endParaRPr lang="en-US" sz="1150" dirty="0"/>
          </a:p>
        </p:txBody>
      </p:sp>
      <p:sp>
        <p:nvSpPr>
          <p:cNvPr id="37" name="Shape 32"/>
          <p:cNvSpPr/>
          <p:nvPr/>
        </p:nvSpPr>
        <p:spPr>
          <a:xfrm>
            <a:off x="6035040" y="1102360"/>
            <a:ext cx="2606040" cy="3108960"/>
          </a:xfrm>
          <a:prstGeom prst="roundRect">
            <a:avLst>
              <a:gd name="adj" fmla="val 2807"/>
            </a:avLst>
          </a:prstGeom>
          <a:solidFill>
            <a:srgbClr val="F1F5F9"/>
          </a:solidFill>
          <a:ln w="12700">
            <a:solidFill>
              <a:srgbClr val="F1F5F9"/>
            </a:solidFill>
            <a:prstDash val="solid"/>
          </a:ln>
        </p:spPr>
        <p:txBody>
          <a:bodyPr/>
          <a:lstStyle/>
          <a:p>
            <a:endParaRPr lang="ko-KR" altLang="en-US"/>
          </a:p>
        </p:txBody>
      </p:sp>
      <p:sp>
        <p:nvSpPr>
          <p:cNvPr id="38" name="Shape 33"/>
          <p:cNvSpPr/>
          <p:nvPr/>
        </p:nvSpPr>
        <p:spPr>
          <a:xfrm>
            <a:off x="6217920" y="1239520"/>
            <a:ext cx="548640" cy="548640"/>
          </a:xfrm>
          <a:prstGeom prst="ellipse">
            <a:avLst/>
          </a:prstGeom>
          <a:solidFill>
            <a:srgbClr val="41659E"/>
          </a:solidFill>
          <a:ln w="12700">
            <a:solidFill>
              <a:srgbClr val="41659E"/>
            </a:solidFill>
            <a:prstDash val="solid"/>
          </a:ln>
        </p:spPr>
        <p:txBody>
          <a:bodyPr/>
          <a:lstStyle/>
          <a:p>
            <a:endParaRPr lang="ko-KR" altLang="en-US"/>
          </a:p>
        </p:txBody>
      </p:sp>
      <p:pic>
        <p:nvPicPr>
          <p:cNvPr id="39" name="Image 2" descr="preencoded.png"/>
          <p:cNvPicPr>
            <a:picLocks noChangeAspect="1"/>
          </p:cNvPicPr>
          <p:nvPr/>
        </p:nvPicPr>
        <p:blipFill>
          <a:blip r:embed="rId5"/>
          <a:stretch>
            <a:fillRect/>
          </a:stretch>
        </p:blipFill>
        <p:spPr>
          <a:xfrm>
            <a:off x="6349594" y="1371194"/>
            <a:ext cx="285293" cy="285293"/>
          </a:xfrm>
          <a:prstGeom prst="rect">
            <a:avLst/>
          </a:prstGeom>
          <a:ln/>
        </p:spPr>
      </p:pic>
      <p:sp>
        <p:nvSpPr>
          <p:cNvPr id="40" name="Text 34"/>
          <p:cNvSpPr txBox="1"/>
          <p:nvPr/>
        </p:nvSpPr>
        <p:spPr>
          <a:xfrm>
            <a:off x="6858000" y="1239520"/>
            <a:ext cx="1737360" cy="548640"/>
          </a:xfrm>
          <a:prstGeom prst="rect">
            <a:avLst/>
          </a:prstGeom>
          <a:noFill/>
          <a:ln/>
        </p:spPr>
        <p:txBody>
          <a:bodyPr wrap="square" lIns="0" tIns="0" rIns="0" bIns="0" rtlCol="0" anchor="ctr"/>
          <a:lstStyle/>
          <a:p>
            <a:pPr marL="0" indent="0">
              <a:buNone/>
            </a:pPr>
            <a:r>
              <a:rPr lang="en-US" sz="1400" b="1" dirty="0">
                <a:solidFill>
                  <a:srgbClr val="1E293B"/>
                </a:solidFill>
                <a:latin typeface="맑은 고딕" pitchFamily="34" charset="0"/>
                <a:ea typeface="맑은 고딕" pitchFamily="34" charset="-122"/>
                <a:cs typeface="맑은 고딕" pitchFamily="34" charset="-120"/>
              </a:rPr>
              <a:t>지어내지 않음</a:t>
            </a:r>
            <a:endParaRPr lang="en-US" sz="1400" dirty="0"/>
          </a:p>
        </p:txBody>
      </p:sp>
      <p:sp>
        <p:nvSpPr>
          <p:cNvPr id="41" name="Shape 35"/>
          <p:cNvSpPr/>
          <p:nvPr/>
        </p:nvSpPr>
        <p:spPr>
          <a:xfrm>
            <a:off x="6217920" y="1971039"/>
            <a:ext cx="2240280" cy="420624"/>
          </a:xfrm>
          <a:prstGeom prst="roundRect">
            <a:avLst>
              <a:gd name="adj" fmla="val 17391"/>
            </a:avLst>
          </a:prstGeom>
          <a:solidFill>
            <a:srgbClr val="FFFFFF"/>
          </a:solidFill>
          <a:ln w="12700">
            <a:solidFill>
              <a:srgbClr val="FFFFFF"/>
            </a:solidFill>
            <a:prstDash val="solid"/>
          </a:ln>
        </p:spPr>
        <p:txBody>
          <a:bodyPr/>
          <a:lstStyle/>
          <a:p>
            <a:endParaRPr lang="ko-KR" altLang="en-US"/>
          </a:p>
        </p:txBody>
      </p:sp>
      <p:sp>
        <p:nvSpPr>
          <p:cNvPr id="42" name="Text 36"/>
          <p:cNvSpPr txBox="1"/>
          <p:nvPr/>
        </p:nvSpPr>
        <p:spPr>
          <a:xfrm>
            <a:off x="6309360" y="1971039"/>
            <a:ext cx="274320" cy="420624"/>
          </a:xfrm>
          <a:prstGeom prst="rect">
            <a:avLst/>
          </a:prstGeom>
          <a:noFill/>
          <a:ln/>
        </p:spPr>
        <p:txBody>
          <a:bodyPr wrap="square" lIns="0" tIns="0" rIns="0" bIns="0" rtlCol="0" anchor="ctr"/>
          <a:lstStyle/>
          <a:p>
            <a:pPr marL="0" indent="0">
              <a:buNone/>
            </a:pPr>
            <a:r>
              <a:rPr lang="en-US" sz="1200" b="1" dirty="0">
                <a:solidFill>
                  <a:srgbClr val="41659E"/>
                </a:solidFill>
                <a:latin typeface="맑은 고딕" pitchFamily="34" charset="0"/>
                <a:ea typeface="맑은 고딕" pitchFamily="34" charset="-122"/>
                <a:cs typeface="맑은 고딕" pitchFamily="34" charset="-120"/>
              </a:rPr>
              <a:t>8</a:t>
            </a:r>
            <a:endParaRPr lang="en-US" sz="1200" dirty="0"/>
          </a:p>
        </p:txBody>
      </p:sp>
      <p:sp>
        <p:nvSpPr>
          <p:cNvPr id="43" name="Text 37"/>
          <p:cNvSpPr txBox="1"/>
          <p:nvPr/>
        </p:nvSpPr>
        <p:spPr>
          <a:xfrm>
            <a:off x="6629400" y="1971039"/>
            <a:ext cx="1783080" cy="420624"/>
          </a:xfrm>
          <a:prstGeom prst="rect">
            <a:avLst/>
          </a:prstGeom>
          <a:noFill/>
          <a:ln/>
        </p:spPr>
        <p:txBody>
          <a:bodyPr wrap="square" lIns="0" tIns="0" rIns="0" bIns="0" rtlCol="0" anchor="ctr"/>
          <a:lstStyle/>
          <a:p>
            <a:pPr marL="0" indent="0">
              <a:buNone/>
            </a:pPr>
            <a:r>
              <a:rPr lang="en-US" sz="1150" b="1" dirty="0">
                <a:solidFill>
                  <a:srgbClr val="1E293B"/>
                </a:solidFill>
                <a:latin typeface="맑은 고딕" pitchFamily="34" charset="0"/>
                <a:ea typeface="맑은 고딕" pitchFamily="34" charset="-122"/>
                <a:cs typeface="맑은 고딕" pitchFamily="34" charset="-120"/>
              </a:rPr>
              <a:t>지어낸 사실 0건</a:t>
            </a:r>
            <a:endParaRPr lang="en-US" sz="1150" dirty="0"/>
          </a:p>
        </p:txBody>
      </p:sp>
      <p:sp>
        <p:nvSpPr>
          <p:cNvPr id="92" name="Criteria note"/>
          <p:cNvSpPr txBox="1"/>
          <p:nvPr/>
        </p:nvSpPr>
        <p:spPr>
          <a:xfrm>
            <a:off x="6223000" y="2863596"/>
            <a:ext cx="2235200" cy="1397000"/>
          </a:xfrm>
          <a:prstGeom prst="rect">
            <a:avLst/>
          </a:prstGeom>
          <a:noFill/>
          <a:ln/>
        </p:spPr>
        <p:txBody>
          <a:bodyPr wrap="square" lIns="101600" tIns="0" rIns="50800" bIns="0" anchor="t">
            <a:noAutofit/>
          </a:bodyPr>
          <a:lstStyle/>
          <a:p>
            <a:pPr marL="0" indent="0">
              <a:spcBef>
                <a:spcPts val="900"/>
              </a:spcBef>
              <a:buNone/>
            </a:pPr>
            <a:r>
              <a:rPr lang="ko-KR" sz="1000" b="1" dirty="0">
                <a:solidFill>
                  <a:srgbClr val="41659E"/>
                </a:solidFill>
                <a:latin typeface="맑은 고딕" pitchFamily="34" charset="0"/>
                <a:ea typeface="맑은 고딕" pitchFamily="34" charset="-122"/>
                <a:cs typeface="맑은 고딕" pitchFamily="34" charset="-120"/>
              </a:rPr>
              <a:t>판정</a:t>
            </a:r>
          </a:p>
          <a:p>
            <a:pPr marL="0" indent="0">
              <a:spcBef>
                <a:spcPts val="200"/>
              </a:spcBef>
              <a:buNone/>
            </a:pPr>
            <a:r>
              <a:rPr lang="ko-KR" sz="1000" dirty="0">
                <a:solidFill>
                  <a:srgbClr val="475569"/>
                </a:solidFill>
                <a:latin typeface="맑은 고딕" pitchFamily="34" charset="0"/>
                <a:ea typeface="맑은 고딕" pitchFamily="34" charset="-122"/>
                <a:cs typeface="맑은 고딕" pitchFamily="34" charset="-120"/>
              </a:rPr>
              <a:t>금리·서류를 지어내면 즉시 불합격</a:t>
            </a:r>
          </a:p>
          <a:p>
            <a:pPr marL="0" indent="0">
              <a:spcBef>
                <a:spcPts val="900"/>
              </a:spcBef>
              <a:buNone/>
            </a:pPr>
            <a:r>
              <a:rPr lang="ko-KR" sz="1000" b="1" dirty="0">
                <a:solidFill>
                  <a:srgbClr val="41659E"/>
                </a:solidFill>
                <a:latin typeface="맑은 고딕" pitchFamily="34" charset="0"/>
                <a:ea typeface="맑은 고딕" pitchFamily="34" charset="-122"/>
                <a:cs typeface="맑은 고딕" pitchFamily="34" charset="-120"/>
              </a:rPr>
              <a:t>대응</a:t>
            </a:r>
          </a:p>
          <a:p>
            <a:pPr marL="0" indent="0">
              <a:spcBef>
                <a:spcPts val="200"/>
              </a:spcBef>
              <a:buNone/>
            </a:pPr>
            <a:r>
              <a:rPr lang="ko-KR" sz="1000" dirty="0">
                <a:solidFill>
                  <a:srgbClr val="475569"/>
                </a:solidFill>
                <a:latin typeface="맑은 고딕" pitchFamily="34" charset="0"/>
                <a:ea typeface="맑은 고딕" pitchFamily="34" charset="-122"/>
                <a:cs typeface="맑은 고딕" pitchFamily="34" charset="-120"/>
              </a:rPr>
              <a:t>검증 실패 시 기본 문장으로 대체</a:t>
            </a:r>
          </a:p>
        </p:txBody>
      </p:sp>
    </p:spTree>
    <p:extLst>
      <p:ext uri="{BB962C8B-B14F-4D97-AF65-F5344CB8AC3E}">
        <p14:creationId xmlns:p14="http://schemas.microsoft.com/office/powerpoint/2010/main" val="1951159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52400"/>
            <a:ext cx="4572000" cy="177800"/>
          </a:xfrm>
          <a:prstGeom prst="rect">
            <a:avLst/>
          </a:prstGeom>
          <a:noFill/>
          <a:ln/>
        </p:spPr>
        <p:txBody>
          <a:bodyPr wrap="square" lIns="0" tIns="0" rIns="0" bIns="0" rtlCol="0" anchor="t"/>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05  모델 학습</a:t>
            </a:r>
            <a:endParaRPr lang="en-US" sz="900" dirty="0"/>
          </a:p>
        </p:txBody>
      </p:sp>
      <p:sp>
        <p:nvSpPr>
          <p:cNvPr id="4" name="Text 2"/>
          <p:cNvSpPr txBox="1"/>
          <p:nvPr/>
        </p:nvSpPr>
        <p:spPr>
          <a:xfrm>
            <a:off x="457200" y="330200"/>
            <a:ext cx="8229600" cy="355600"/>
          </a:xfrm>
          <a:prstGeom prst="rect">
            <a:avLst/>
          </a:prstGeom>
          <a:noFill/>
          <a:ln/>
        </p:spPr>
        <p:txBody>
          <a:bodyPr wrap="square" lIns="0" tIns="0" rIns="0" bIns="0" rtlCol="0" anchor="ctr"/>
          <a:lstStyle/>
          <a:p>
            <a:pPr marL="0" indent="0">
              <a:buNone/>
            </a:pPr>
            <a:r>
              <a:rPr lang="en-US" sz="2000" b="1" dirty="0">
                <a:solidFill>
                  <a:srgbClr val="1B2A3A"/>
                </a:solidFill>
                <a:latin typeface="맑은 고딕" pitchFamily="34" charset="0"/>
                <a:ea typeface="맑은 고딕" pitchFamily="34" charset="-122"/>
                <a:cs typeface="맑은 고딕" pitchFamily="34" charset="-120"/>
              </a:rPr>
              <a:t>학습 데이터 구성과 전처리</a:t>
            </a:r>
            <a:endParaRPr lang="en-US" sz="2000" dirty="0"/>
          </a:p>
        </p:txBody>
      </p:sp>
      <p:sp>
        <p:nvSpPr>
          <p:cNvPr id="6" name="Text 4"/>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14</a:t>
            </a:r>
            <a:endParaRPr lang="en-US" sz="850" dirty="0"/>
          </a:p>
        </p:txBody>
      </p:sp>
      <p:sp>
        <p:nvSpPr>
          <p:cNvPr id="8" name="Shape 5"/>
          <p:cNvSpPr/>
          <p:nvPr/>
        </p:nvSpPr>
        <p:spPr>
          <a:xfrm>
            <a:off x="640080" y="1056640"/>
            <a:ext cx="7863840" cy="694944"/>
          </a:xfrm>
          <a:prstGeom prst="roundRect">
            <a:avLst>
              <a:gd name="adj" fmla="val 10526"/>
            </a:avLst>
          </a:prstGeom>
          <a:solidFill>
            <a:srgbClr val="F1F5F9"/>
          </a:solidFill>
          <a:ln w="12700">
            <a:solidFill>
              <a:srgbClr val="F1F5F9"/>
            </a:solidFill>
            <a:prstDash val="solid"/>
          </a:ln>
        </p:spPr>
        <p:txBody>
          <a:bodyPr/>
          <a:lstStyle/>
          <a:p>
            <a:endParaRPr lang="ko-KR" altLang="en-US"/>
          </a:p>
        </p:txBody>
      </p:sp>
      <p:pic>
        <p:nvPicPr>
          <p:cNvPr id="9" name="Image 0" descr="preencoded.png"/>
          <p:cNvPicPr>
            <a:picLocks noChangeAspect="1"/>
          </p:cNvPicPr>
          <p:nvPr/>
        </p:nvPicPr>
        <p:blipFill>
          <a:blip r:embed="rId3"/>
          <a:stretch>
            <a:fillRect/>
          </a:stretch>
        </p:blipFill>
        <p:spPr>
          <a:xfrm>
            <a:off x="868680" y="1221232"/>
            <a:ext cx="365760" cy="365760"/>
          </a:xfrm>
          <a:prstGeom prst="rect">
            <a:avLst/>
          </a:prstGeom>
          <a:ln/>
        </p:spPr>
      </p:pic>
      <p:sp>
        <p:nvSpPr>
          <p:cNvPr id="10" name="Text 6"/>
          <p:cNvSpPr txBox="1"/>
          <p:nvPr/>
        </p:nvSpPr>
        <p:spPr>
          <a:xfrm>
            <a:off x="1371600" y="1056640"/>
            <a:ext cx="2159000" cy="694944"/>
          </a:xfrm>
          <a:prstGeom prst="rect">
            <a:avLst/>
          </a:prstGeom>
          <a:noFill/>
          <a:ln/>
        </p:spPr>
        <p:txBody>
          <a:bodyPr wrap="square" lIns="0" tIns="0" rIns="0" bIns="0" rtlCol="0" anchor="ctr"/>
          <a:lstStyle/>
          <a:p>
            <a:pPr marL="0" indent="0">
              <a:buNone/>
            </a:pPr>
            <a:r>
              <a:rPr lang="en-US" sz="1700" b="1" dirty="0">
                <a:solidFill>
                  <a:srgbClr val="1B2A3A"/>
                </a:solidFill>
                <a:latin typeface="맑은 고딕" pitchFamily="34" charset="0"/>
                <a:ea typeface="맑은 고딕" pitchFamily="34" charset="-122"/>
                <a:cs typeface="맑은 고딕" pitchFamily="34" charset="-120"/>
              </a:rPr>
              <a:t>45,000</a:t>
            </a:r>
            <a:endParaRPr lang="en-US" sz="1700" dirty="0"/>
          </a:p>
        </p:txBody>
      </p:sp>
      <p:sp>
        <p:nvSpPr>
          <p:cNvPr id="11" name="Text 7"/>
          <p:cNvSpPr txBox="1"/>
          <p:nvPr/>
        </p:nvSpPr>
        <p:spPr>
          <a:xfrm>
            <a:off x="3606800" y="1056640"/>
            <a:ext cx="4714240" cy="694944"/>
          </a:xfrm>
          <a:prstGeom prst="rect">
            <a:avLst/>
          </a:prstGeom>
          <a:noFill/>
          <a:ln/>
        </p:spPr>
        <p:txBody>
          <a:bodyPr wrap="square" lIns="0" tIns="0" rIns="0" bIns="0" rtlCol="0" anchor="ctr"/>
          <a:lstStyle/>
          <a:p>
            <a:pPr marL="0" indent="0" algn="r">
              <a:buNone/>
            </a:pPr>
            <a:r>
              <a:rPr lang="en-US" sz="1150" dirty="0">
                <a:solidFill>
                  <a:srgbClr val="2C3E50"/>
                </a:solidFill>
                <a:latin typeface="맑은 고딕" pitchFamily="34" charset="0"/>
                <a:ea typeface="맑은 고딕" pitchFamily="34" charset="-122"/>
                <a:cs typeface="맑은 고딕" pitchFamily="34" charset="-120"/>
              </a:rPr>
              <a:t>은행 상담 QA</a:t>
            </a:r>
            <a:endParaRPr lang="en-US" sz="1150" dirty="0"/>
          </a:p>
        </p:txBody>
      </p:sp>
      <p:sp>
        <p:nvSpPr>
          <p:cNvPr id="12" name="Shape 8"/>
          <p:cNvSpPr/>
          <p:nvPr/>
        </p:nvSpPr>
        <p:spPr>
          <a:xfrm>
            <a:off x="1234440" y="1861312"/>
            <a:ext cx="6675120" cy="694944"/>
          </a:xfrm>
          <a:prstGeom prst="roundRect">
            <a:avLst>
              <a:gd name="adj" fmla="val 10526"/>
            </a:avLst>
          </a:prstGeom>
          <a:solidFill>
            <a:srgbClr val="F1F5F9"/>
          </a:solidFill>
          <a:ln w="12700">
            <a:solidFill>
              <a:srgbClr val="F1F5F9"/>
            </a:solidFill>
            <a:prstDash val="solid"/>
          </a:ln>
        </p:spPr>
        <p:txBody>
          <a:bodyPr/>
          <a:lstStyle/>
          <a:p>
            <a:endParaRPr lang="ko-KR" altLang="en-US"/>
          </a:p>
        </p:txBody>
      </p:sp>
      <p:pic>
        <p:nvPicPr>
          <p:cNvPr id="13" name="Image 1" descr="preencoded.png"/>
          <p:cNvPicPr>
            <a:picLocks noChangeAspect="1"/>
          </p:cNvPicPr>
          <p:nvPr/>
        </p:nvPicPr>
        <p:blipFill>
          <a:blip r:embed="rId4"/>
          <a:stretch>
            <a:fillRect/>
          </a:stretch>
        </p:blipFill>
        <p:spPr>
          <a:xfrm>
            <a:off x="1463040" y="2025904"/>
            <a:ext cx="365760" cy="365760"/>
          </a:xfrm>
          <a:prstGeom prst="rect">
            <a:avLst/>
          </a:prstGeom>
          <a:ln/>
        </p:spPr>
      </p:pic>
      <p:sp>
        <p:nvSpPr>
          <p:cNvPr id="14" name="Text 9"/>
          <p:cNvSpPr txBox="1"/>
          <p:nvPr/>
        </p:nvSpPr>
        <p:spPr>
          <a:xfrm>
            <a:off x="1965960" y="1861312"/>
            <a:ext cx="2159000" cy="694944"/>
          </a:xfrm>
          <a:prstGeom prst="rect">
            <a:avLst/>
          </a:prstGeom>
          <a:noFill/>
          <a:ln/>
        </p:spPr>
        <p:txBody>
          <a:bodyPr wrap="square" lIns="0" tIns="0" rIns="0" bIns="0" rtlCol="0" anchor="ctr"/>
          <a:lstStyle/>
          <a:p>
            <a:pPr marL="0" indent="0">
              <a:buNone/>
            </a:pPr>
            <a:r>
              <a:rPr lang="en-US" sz="1700" b="1" dirty="0">
                <a:solidFill>
                  <a:srgbClr val="1B2A3A"/>
                </a:solidFill>
                <a:latin typeface="맑은 고딕" pitchFamily="34" charset="0"/>
                <a:ea typeface="맑은 고딕" pitchFamily="34" charset="-122"/>
                <a:cs typeface="맑은 고딕" pitchFamily="34" charset="-120"/>
              </a:rPr>
              <a:t>상담 단위 분할</a:t>
            </a:r>
            <a:endParaRPr lang="en-US" sz="1700" dirty="0"/>
          </a:p>
        </p:txBody>
      </p:sp>
      <p:sp>
        <p:nvSpPr>
          <p:cNvPr id="15" name="Text 10"/>
          <p:cNvSpPr txBox="1"/>
          <p:nvPr/>
        </p:nvSpPr>
        <p:spPr>
          <a:xfrm>
            <a:off x="4201160" y="1861312"/>
            <a:ext cx="3525520" cy="694944"/>
          </a:xfrm>
          <a:prstGeom prst="rect">
            <a:avLst/>
          </a:prstGeom>
          <a:noFill/>
          <a:ln/>
        </p:spPr>
        <p:txBody>
          <a:bodyPr wrap="square" lIns="0" tIns="0" rIns="0" bIns="0" rtlCol="0" anchor="ctr"/>
          <a:lstStyle/>
          <a:p>
            <a:pPr marL="0" indent="0" algn="r">
              <a:buNone/>
            </a:pPr>
            <a:r>
              <a:rPr lang="en-US" sz="1150" dirty="0">
                <a:solidFill>
                  <a:srgbClr val="2C3E50"/>
                </a:solidFill>
                <a:latin typeface="맑은 고딕" pitchFamily="34" charset="0"/>
                <a:ea typeface="맑은 고딕" pitchFamily="34" charset="-122"/>
                <a:cs typeface="맑은 고딕" pitchFamily="34" charset="-120"/>
              </a:rPr>
              <a:t>학습 · 검증 · 시험</a:t>
            </a:r>
            <a:endParaRPr lang="en-US" sz="1150" dirty="0"/>
          </a:p>
        </p:txBody>
      </p:sp>
      <p:sp>
        <p:nvSpPr>
          <p:cNvPr id="16" name="Shape 11"/>
          <p:cNvSpPr/>
          <p:nvPr/>
        </p:nvSpPr>
        <p:spPr>
          <a:xfrm>
            <a:off x="1828800" y="2665984"/>
            <a:ext cx="5486400" cy="694944"/>
          </a:xfrm>
          <a:prstGeom prst="roundRect">
            <a:avLst>
              <a:gd name="adj" fmla="val 10526"/>
            </a:avLst>
          </a:prstGeom>
          <a:solidFill>
            <a:srgbClr val="FDE2E2"/>
          </a:solidFill>
          <a:ln w="12700">
            <a:solidFill>
              <a:srgbClr val="FDE2E2"/>
            </a:solidFill>
            <a:prstDash val="solid"/>
          </a:ln>
        </p:spPr>
        <p:txBody>
          <a:bodyPr/>
          <a:lstStyle/>
          <a:p>
            <a:endParaRPr lang="ko-KR" altLang="en-US"/>
          </a:p>
        </p:txBody>
      </p:sp>
      <p:pic>
        <p:nvPicPr>
          <p:cNvPr id="17" name="Image 2" descr="preencoded.png"/>
          <p:cNvPicPr>
            <a:picLocks noChangeAspect="1"/>
          </p:cNvPicPr>
          <p:nvPr/>
        </p:nvPicPr>
        <p:blipFill>
          <a:blip r:embed="rId5"/>
          <a:stretch>
            <a:fillRect/>
          </a:stretch>
        </p:blipFill>
        <p:spPr>
          <a:xfrm>
            <a:off x="2057400" y="2830576"/>
            <a:ext cx="365760" cy="365760"/>
          </a:xfrm>
          <a:prstGeom prst="rect">
            <a:avLst/>
          </a:prstGeom>
          <a:ln/>
        </p:spPr>
      </p:pic>
      <p:sp>
        <p:nvSpPr>
          <p:cNvPr id="18" name="Text 12"/>
          <p:cNvSpPr txBox="1"/>
          <p:nvPr/>
        </p:nvSpPr>
        <p:spPr>
          <a:xfrm>
            <a:off x="2560320" y="2665984"/>
            <a:ext cx="2159000" cy="694944"/>
          </a:xfrm>
          <a:prstGeom prst="rect">
            <a:avLst/>
          </a:prstGeom>
          <a:noFill/>
          <a:ln/>
        </p:spPr>
        <p:txBody>
          <a:bodyPr wrap="square" lIns="0" tIns="0" rIns="0" bIns="0" rtlCol="0" anchor="ctr"/>
          <a:lstStyle/>
          <a:p>
            <a:pPr marL="0" indent="0">
              <a:buNone/>
            </a:pPr>
            <a:r>
              <a:rPr lang="en-US" sz="1700" b="1" dirty="0">
                <a:solidFill>
                  <a:srgbClr val="B91C1C"/>
                </a:solidFill>
                <a:latin typeface="맑은 고딕" pitchFamily="34" charset="0"/>
                <a:ea typeface="맑은 고딕" pitchFamily="34" charset="-122"/>
                <a:cs typeface="맑은 고딕" pitchFamily="34" charset="-120"/>
              </a:rPr>
              <a:t>151 / 1,104</a:t>
            </a:r>
            <a:endParaRPr lang="en-US" sz="1700" dirty="0"/>
          </a:p>
        </p:txBody>
      </p:sp>
      <p:sp>
        <p:nvSpPr>
          <p:cNvPr id="19" name="Text 13"/>
          <p:cNvSpPr txBox="1"/>
          <p:nvPr/>
        </p:nvSpPr>
        <p:spPr>
          <a:xfrm>
            <a:off x="4795520" y="2665984"/>
            <a:ext cx="2336799" cy="694944"/>
          </a:xfrm>
          <a:prstGeom prst="rect">
            <a:avLst/>
          </a:prstGeom>
          <a:noFill/>
          <a:ln/>
        </p:spPr>
        <p:txBody>
          <a:bodyPr wrap="square" lIns="0" tIns="0" rIns="0" bIns="0" rtlCol="0" anchor="ctr"/>
          <a:lstStyle/>
          <a:p>
            <a:pPr marL="0" indent="0" algn="r">
              <a:buNone/>
            </a:pPr>
            <a:r>
              <a:rPr lang="en-US" sz="1150" dirty="0">
                <a:solidFill>
                  <a:srgbClr val="2C3E50"/>
                </a:solidFill>
                <a:latin typeface="맑은 고딕" pitchFamily="34" charset="0"/>
                <a:ea typeface="맑은 고딕" pitchFamily="34" charset="-122"/>
                <a:cs typeface="맑은 고딕" pitchFamily="34" charset="-120"/>
              </a:rPr>
              <a:t>규칙을 통과한 상담원 답</a:t>
            </a:r>
            <a:endParaRPr lang="en-US" sz="1150" dirty="0"/>
          </a:p>
        </p:txBody>
      </p:sp>
      <p:sp>
        <p:nvSpPr>
          <p:cNvPr id="20" name="Shape 14"/>
          <p:cNvSpPr/>
          <p:nvPr/>
        </p:nvSpPr>
        <p:spPr>
          <a:xfrm>
            <a:off x="2423160" y="3470655"/>
            <a:ext cx="4297680" cy="694944"/>
          </a:xfrm>
          <a:prstGeom prst="roundRect">
            <a:avLst>
              <a:gd name="adj" fmla="val 10526"/>
            </a:avLst>
          </a:prstGeom>
          <a:solidFill>
            <a:srgbClr val="DCE8F6"/>
          </a:solidFill>
          <a:ln w="12700">
            <a:solidFill>
              <a:srgbClr val="DCE8F6"/>
            </a:solidFill>
            <a:prstDash val="solid"/>
          </a:ln>
        </p:spPr>
        <p:txBody>
          <a:bodyPr/>
          <a:lstStyle/>
          <a:p>
            <a:endParaRPr lang="ko-KR" altLang="en-US"/>
          </a:p>
        </p:txBody>
      </p:sp>
      <p:pic>
        <p:nvPicPr>
          <p:cNvPr id="21" name="Image 3" descr="preencoded.png"/>
          <p:cNvPicPr>
            <a:picLocks noChangeAspect="1"/>
          </p:cNvPicPr>
          <p:nvPr/>
        </p:nvPicPr>
        <p:blipFill>
          <a:blip r:embed="rId6"/>
          <a:stretch>
            <a:fillRect/>
          </a:stretch>
        </p:blipFill>
        <p:spPr>
          <a:xfrm>
            <a:off x="2651760" y="3635248"/>
            <a:ext cx="365760" cy="365760"/>
          </a:xfrm>
          <a:prstGeom prst="rect">
            <a:avLst/>
          </a:prstGeom>
          <a:ln/>
        </p:spPr>
      </p:pic>
      <p:sp>
        <p:nvSpPr>
          <p:cNvPr id="22" name="Text 15"/>
          <p:cNvSpPr txBox="1"/>
          <p:nvPr/>
        </p:nvSpPr>
        <p:spPr>
          <a:xfrm>
            <a:off x="3154680" y="3470655"/>
            <a:ext cx="2159000" cy="694944"/>
          </a:xfrm>
          <a:prstGeom prst="rect">
            <a:avLst/>
          </a:prstGeom>
          <a:noFill/>
          <a:ln/>
        </p:spPr>
        <p:txBody>
          <a:bodyPr wrap="square" lIns="0" tIns="0" rIns="0" bIns="0" rtlCol="0" anchor="ctr"/>
          <a:lstStyle/>
          <a:p>
            <a:pPr marL="0" indent="0">
              <a:buNone/>
            </a:pPr>
            <a:r>
              <a:rPr lang="en-US" sz="1700" b="1" dirty="0">
                <a:solidFill>
                  <a:srgbClr val="41659E"/>
                </a:solidFill>
                <a:latin typeface="맑은 고딕" pitchFamily="34" charset="0"/>
                <a:ea typeface="맑은 고딕" pitchFamily="34" charset="-122"/>
                <a:cs typeface="맑은 고딕" pitchFamily="34" charset="-120"/>
              </a:rPr>
              <a:t>우리가 만든 정답</a:t>
            </a:r>
            <a:endParaRPr lang="en-US" sz="1700" dirty="0"/>
          </a:p>
        </p:txBody>
      </p:sp>
      <p:sp>
        <p:nvSpPr>
          <p:cNvPr id="23" name="Text 16"/>
          <p:cNvSpPr txBox="1"/>
          <p:nvPr/>
        </p:nvSpPr>
        <p:spPr>
          <a:xfrm>
            <a:off x="5389880" y="3470655"/>
            <a:ext cx="1148079" cy="694944"/>
          </a:xfrm>
          <a:prstGeom prst="rect">
            <a:avLst/>
          </a:prstGeom>
          <a:noFill/>
          <a:ln/>
        </p:spPr>
        <p:txBody>
          <a:bodyPr wrap="square" lIns="0" tIns="0" rIns="0" bIns="0" rtlCol="0" anchor="ctr"/>
          <a:lstStyle/>
          <a:p>
            <a:pPr marL="0" indent="0" algn="r">
              <a:buNone/>
            </a:pPr>
            <a:r>
              <a:rPr lang="en-US" sz="1150" dirty="0">
                <a:solidFill>
                  <a:srgbClr val="2C3E50"/>
                </a:solidFill>
                <a:latin typeface="맑은 고딕" pitchFamily="34" charset="0"/>
                <a:ea typeface="맑은 고딕" pitchFamily="34" charset="-122"/>
                <a:cs typeface="맑은 고딕" pitchFamily="34" charset="-120"/>
              </a:rPr>
              <a:t>합성 · 수동 답</a:t>
            </a:r>
            <a:endParaRPr lang="en-US" sz="1150" dirty="0"/>
          </a:p>
        </p:txBody>
      </p:sp>
    </p:spTree>
    <p:extLst>
      <p:ext uri="{BB962C8B-B14F-4D97-AF65-F5344CB8AC3E}">
        <p14:creationId xmlns:p14="http://schemas.microsoft.com/office/powerpoint/2010/main" val="3582927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155448"/>
            <a:ext cx="5486400" cy="173736"/>
          </a:xfrm>
          <a:prstGeom prst="rect">
            <a:avLst/>
          </a:prstGeom>
          <a:noFill/>
          <a:ln/>
        </p:spPr>
        <p:txBody>
          <a:bodyPr wrap="square" lIns="0" tIns="0" rIns="0" bIns="0" rtlCol="0" anchor="ctr"/>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05  모델 학습  ·  cs-loan</a:t>
            </a:r>
            <a:endParaRPr lang="en-US" sz="1000" dirty="0"/>
          </a:p>
        </p:txBody>
      </p:sp>
      <p:sp>
        <p:nvSpPr>
          <p:cNvPr id="4" name="Text 2"/>
          <p:cNvSpPr txBox="1"/>
          <p:nvPr/>
        </p:nvSpPr>
        <p:spPr>
          <a:xfrm>
            <a:off x="457200" y="329184"/>
            <a:ext cx="8229600" cy="356616"/>
          </a:xfrm>
          <a:prstGeom prst="rect">
            <a:avLst/>
          </a:prstGeom>
          <a:noFill/>
          <a:ln/>
        </p:spPr>
        <p:txBody>
          <a:bodyPr wrap="square" lIns="0" tIns="0" rIns="0" bIns="0" rtlCol="0" anchor="ctr"/>
          <a:lstStyle/>
          <a:p>
            <a:pPr marL="0" indent="0">
              <a:buNone/>
            </a:pPr>
            <a:r>
              <a:rPr lang="en-US" sz="2000" b="1" dirty="0" err="1">
                <a:solidFill>
                  <a:srgbClr val="1B2A3A"/>
                </a:solidFill>
                <a:latin typeface="맑은 고딕" pitchFamily="34" charset="0"/>
                <a:ea typeface="맑은 고딕" pitchFamily="34" charset="-122"/>
                <a:cs typeface="맑은 고딕" pitchFamily="34" charset="-120"/>
              </a:rPr>
              <a:t>파인튜닝</a:t>
            </a:r>
            <a:endParaRPr lang="en-US" sz="2200" dirty="0"/>
          </a:p>
        </p:txBody>
      </p:sp>
      <p:sp>
        <p:nvSpPr>
          <p:cNvPr id="6" name="Shape 4"/>
          <p:cNvSpPr/>
          <p:nvPr/>
        </p:nvSpPr>
        <p:spPr>
          <a:xfrm>
            <a:off x="457200" y="1051560"/>
            <a:ext cx="1014984" cy="777240"/>
          </a:xfrm>
          <a:prstGeom prst="roundRect">
            <a:avLst>
              <a:gd name="adj" fmla="val 9412"/>
            </a:avLst>
          </a:prstGeom>
          <a:solidFill>
            <a:srgbClr val="94A3B8"/>
          </a:solidFill>
          <a:ln w="12700">
            <a:solidFill>
              <a:srgbClr val="94A3B8"/>
            </a:solidFill>
            <a:prstDash val="solid"/>
          </a:ln>
        </p:spPr>
        <p:txBody>
          <a:bodyPr/>
          <a:lstStyle/>
          <a:p>
            <a:endParaRPr/>
          </a:p>
        </p:txBody>
      </p:sp>
      <p:sp>
        <p:nvSpPr>
          <p:cNvPr id="7" name="Text 5"/>
          <p:cNvSpPr txBox="1"/>
          <p:nvPr/>
        </p:nvSpPr>
        <p:spPr>
          <a:xfrm>
            <a:off x="457200" y="1051560"/>
            <a:ext cx="1014984" cy="777240"/>
          </a:xfrm>
          <a:prstGeom prst="rect">
            <a:avLst/>
          </a:prstGeom>
          <a:noFill/>
          <a:ln/>
        </p:spPr>
        <p:txBody>
          <a:bodyPr wrap="square" lIns="381" tIns="381" rIns="381" bIns="381"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AI Hub 질문만</a:t>
            </a:r>
            <a:endParaRPr lang="en-US" sz="1000" dirty="0"/>
          </a:p>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(마스킹·분할)</a:t>
            </a:r>
            <a:endParaRPr lang="en-US" sz="1000" dirty="0"/>
          </a:p>
        </p:txBody>
      </p:sp>
      <p:sp>
        <p:nvSpPr>
          <p:cNvPr id="8" name="Text 6"/>
          <p:cNvSpPr txBox="1"/>
          <p:nvPr/>
        </p:nvSpPr>
        <p:spPr>
          <a:xfrm>
            <a:off x="1472184" y="1051560"/>
            <a:ext cx="187452" cy="777240"/>
          </a:xfrm>
          <a:prstGeom prst="rect">
            <a:avLst/>
          </a:prstGeom>
          <a:noFill/>
          <a:ln/>
        </p:spPr>
        <p:txBody>
          <a:bodyPr wrap="square" lIns="0" tIns="0" rIns="0" bIns="0" rtlCol="0" anchor="ctr"/>
          <a:lstStyle/>
          <a:p>
            <a:pPr marL="0" indent="0" algn="ctr">
              <a:buNone/>
            </a:pPr>
            <a:r>
              <a:rPr lang="en-US" sz="900" dirty="0">
                <a:solidFill>
                  <a:srgbClr val="64748B"/>
                </a:solidFill>
                <a:latin typeface="맑은 고딕" pitchFamily="34" charset="0"/>
                <a:ea typeface="맑은 고딕" pitchFamily="34" charset="-122"/>
                <a:cs typeface="맑은 고딕" pitchFamily="34" charset="-120"/>
              </a:rPr>
              <a:t>▶</a:t>
            </a:r>
            <a:endParaRPr lang="en-US" sz="900" dirty="0"/>
          </a:p>
        </p:txBody>
      </p:sp>
      <p:sp>
        <p:nvSpPr>
          <p:cNvPr id="9" name="Shape 7"/>
          <p:cNvSpPr/>
          <p:nvPr/>
        </p:nvSpPr>
        <p:spPr>
          <a:xfrm>
            <a:off x="1659636" y="1051560"/>
            <a:ext cx="1014984" cy="777240"/>
          </a:xfrm>
          <a:prstGeom prst="roundRect">
            <a:avLst>
              <a:gd name="adj" fmla="val 9412"/>
            </a:avLst>
          </a:prstGeom>
          <a:solidFill>
            <a:srgbClr val="41659E"/>
          </a:solidFill>
          <a:ln w="12700">
            <a:solidFill>
              <a:srgbClr val="41659E"/>
            </a:solidFill>
            <a:prstDash val="solid"/>
          </a:ln>
        </p:spPr>
        <p:txBody>
          <a:bodyPr/>
          <a:lstStyle/>
          <a:p>
            <a:endParaRPr/>
          </a:p>
        </p:txBody>
      </p:sp>
      <p:sp>
        <p:nvSpPr>
          <p:cNvPr id="10" name="Text 8"/>
          <p:cNvSpPr txBox="1"/>
          <p:nvPr/>
        </p:nvSpPr>
        <p:spPr>
          <a:xfrm>
            <a:off x="1659636" y="1051560"/>
            <a:ext cx="1014984" cy="777240"/>
          </a:xfrm>
          <a:prstGeom prst="rect">
            <a:avLst/>
          </a:prstGeom>
          <a:noFill/>
          <a:ln/>
        </p:spPr>
        <p:txBody>
          <a:bodyPr wrap="square" lIns="381" tIns="381" rIns="381" bIns="381"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정답 시드</a:t>
            </a:r>
            <a:endParaRPr lang="en-US" sz="1000" dirty="0"/>
          </a:p>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직접 작성</a:t>
            </a:r>
            <a:endParaRPr lang="en-US" sz="1000" dirty="0"/>
          </a:p>
        </p:txBody>
      </p:sp>
      <p:sp>
        <p:nvSpPr>
          <p:cNvPr id="11" name="Text 9"/>
          <p:cNvSpPr txBox="1"/>
          <p:nvPr/>
        </p:nvSpPr>
        <p:spPr>
          <a:xfrm>
            <a:off x="2674620" y="1051560"/>
            <a:ext cx="187452" cy="777240"/>
          </a:xfrm>
          <a:prstGeom prst="rect">
            <a:avLst/>
          </a:prstGeom>
          <a:noFill/>
          <a:ln/>
        </p:spPr>
        <p:txBody>
          <a:bodyPr wrap="square" lIns="0" tIns="0" rIns="0" bIns="0" rtlCol="0" anchor="ctr"/>
          <a:lstStyle/>
          <a:p>
            <a:pPr marL="0" indent="0" algn="ctr">
              <a:buNone/>
            </a:pPr>
            <a:r>
              <a:rPr lang="en-US" sz="900" dirty="0">
                <a:solidFill>
                  <a:srgbClr val="64748B"/>
                </a:solidFill>
                <a:latin typeface="맑은 고딕" pitchFamily="34" charset="0"/>
                <a:ea typeface="맑은 고딕" pitchFamily="34" charset="-122"/>
                <a:cs typeface="맑은 고딕" pitchFamily="34" charset="-120"/>
              </a:rPr>
              <a:t>▶</a:t>
            </a:r>
            <a:endParaRPr lang="en-US" sz="900" dirty="0"/>
          </a:p>
        </p:txBody>
      </p:sp>
      <p:sp>
        <p:nvSpPr>
          <p:cNvPr id="12" name="Shape 10"/>
          <p:cNvSpPr/>
          <p:nvPr/>
        </p:nvSpPr>
        <p:spPr>
          <a:xfrm>
            <a:off x="2862072" y="1051560"/>
            <a:ext cx="1014984" cy="777240"/>
          </a:xfrm>
          <a:prstGeom prst="roundRect">
            <a:avLst>
              <a:gd name="adj" fmla="val 9412"/>
            </a:avLst>
          </a:prstGeom>
          <a:solidFill>
            <a:srgbClr val="1B2A3A"/>
          </a:solidFill>
          <a:ln w="12700">
            <a:solidFill>
              <a:srgbClr val="1B2A3A"/>
            </a:solidFill>
            <a:prstDash val="solid"/>
          </a:ln>
        </p:spPr>
        <p:txBody>
          <a:bodyPr/>
          <a:lstStyle/>
          <a:p>
            <a:endParaRPr/>
          </a:p>
        </p:txBody>
      </p:sp>
      <p:sp>
        <p:nvSpPr>
          <p:cNvPr id="13" name="Text 11"/>
          <p:cNvSpPr txBox="1"/>
          <p:nvPr/>
        </p:nvSpPr>
        <p:spPr>
          <a:xfrm>
            <a:off x="2862072" y="1051560"/>
            <a:ext cx="1014984" cy="777240"/>
          </a:xfrm>
          <a:prstGeom prst="rect">
            <a:avLst/>
          </a:prstGeom>
          <a:noFill/>
          <a:ln/>
        </p:spPr>
        <p:txBody>
          <a:bodyPr wrap="square" lIns="381" tIns="381" rIns="381" bIns="381"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QLoRA 학습</a:t>
            </a:r>
            <a:endParaRPr lang="en-US" sz="1000" dirty="0"/>
          </a:p>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r16 · 3 epoch</a:t>
            </a:r>
            <a:endParaRPr lang="en-US" sz="1000" dirty="0"/>
          </a:p>
        </p:txBody>
      </p:sp>
      <p:sp>
        <p:nvSpPr>
          <p:cNvPr id="14" name="Text 12"/>
          <p:cNvSpPr txBox="1"/>
          <p:nvPr/>
        </p:nvSpPr>
        <p:spPr>
          <a:xfrm>
            <a:off x="3877056" y="1051560"/>
            <a:ext cx="187452" cy="777240"/>
          </a:xfrm>
          <a:prstGeom prst="rect">
            <a:avLst/>
          </a:prstGeom>
          <a:noFill/>
          <a:ln/>
        </p:spPr>
        <p:txBody>
          <a:bodyPr wrap="square" lIns="0" tIns="0" rIns="0" bIns="0" rtlCol="0" anchor="ctr"/>
          <a:lstStyle/>
          <a:p>
            <a:pPr marL="0" indent="0" algn="ctr">
              <a:buNone/>
            </a:pPr>
            <a:r>
              <a:rPr lang="en-US" sz="900" dirty="0">
                <a:solidFill>
                  <a:srgbClr val="64748B"/>
                </a:solidFill>
                <a:latin typeface="맑은 고딕" pitchFamily="34" charset="0"/>
                <a:ea typeface="맑은 고딕" pitchFamily="34" charset="-122"/>
                <a:cs typeface="맑은 고딕" pitchFamily="34" charset="-120"/>
              </a:rPr>
              <a:t>▶</a:t>
            </a:r>
            <a:endParaRPr lang="en-US" sz="900" dirty="0"/>
          </a:p>
        </p:txBody>
      </p:sp>
      <p:sp>
        <p:nvSpPr>
          <p:cNvPr id="15" name="Shape 13"/>
          <p:cNvSpPr/>
          <p:nvPr/>
        </p:nvSpPr>
        <p:spPr>
          <a:xfrm>
            <a:off x="4064508" y="1051560"/>
            <a:ext cx="1014984" cy="777240"/>
          </a:xfrm>
          <a:prstGeom prst="roundRect">
            <a:avLst>
              <a:gd name="adj" fmla="val 9412"/>
            </a:avLst>
          </a:prstGeom>
          <a:solidFill>
            <a:srgbClr val="1B2A3A"/>
          </a:solidFill>
          <a:ln w="12700">
            <a:solidFill>
              <a:srgbClr val="1B2A3A"/>
            </a:solidFill>
            <a:prstDash val="solid"/>
          </a:ln>
        </p:spPr>
        <p:txBody>
          <a:bodyPr/>
          <a:lstStyle/>
          <a:p>
            <a:endParaRPr/>
          </a:p>
        </p:txBody>
      </p:sp>
      <p:sp>
        <p:nvSpPr>
          <p:cNvPr id="16" name="Text 14"/>
          <p:cNvSpPr txBox="1"/>
          <p:nvPr/>
        </p:nvSpPr>
        <p:spPr>
          <a:xfrm>
            <a:off x="4064508" y="1051560"/>
            <a:ext cx="1014984" cy="777240"/>
          </a:xfrm>
          <a:prstGeom prst="rect">
            <a:avLst/>
          </a:prstGeom>
          <a:noFill/>
          <a:ln/>
        </p:spPr>
        <p:txBody>
          <a:bodyPr wrap="square" lIns="381" tIns="381" rIns="381" bIns="381"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LoRA 병합</a:t>
            </a:r>
            <a:endParaRPr lang="en-US" sz="1000" dirty="0"/>
          </a:p>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(16bit)</a:t>
            </a:r>
            <a:endParaRPr lang="en-US" sz="1000" dirty="0"/>
          </a:p>
        </p:txBody>
      </p:sp>
      <p:sp>
        <p:nvSpPr>
          <p:cNvPr id="17" name="Text 15"/>
          <p:cNvSpPr txBox="1"/>
          <p:nvPr/>
        </p:nvSpPr>
        <p:spPr>
          <a:xfrm>
            <a:off x="5079492" y="1051560"/>
            <a:ext cx="187452" cy="777240"/>
          </a:xfrm>
          <a:prstGeom prst="rect">
            <a:avLst/>
          </a:prstGeom>
          <a:noFill/>
          <a:ln/>
        </p:spPr>
        <p:txBody>
          <a:bodyPr wrap="square" lIns="0" tIns="0" rIns="0" bIns="0" rtlCol="0" anchor="ctr"/>
          <a:lstStyle/>
          <a:p>
            <a:pPr marL="0" indent="0" algn="ctr">
              <a:buNone/>
            </a:pPr>
            <a:r>
              <a:rPr lang="en-US" sz="900" dirty="0">
                <a:solidFill>
                  <a:srgbClr val="64748B"/>
                </a:solidFill>
                <a:latin typeface="맑은 고딕" pitchFamily="34" charset="0"/>
                <a:ea typeface="맑은 고딕" pitchFamily="34" charset="-122"/>
                <a:cs typeface="맑은 고딕" pitchFamily="34" charset="-120"/>
              </a:rPr>
              <a:t>▶</a:t>
            </a:r>
            <a:endParaRPr lang="en-US" sz="900" dirty="0"/>
          </a:p>
        </p:txBody>
      </p:sp>
      <p:sp>
        <p:nvSpPr>
          <p:cNvPr id="18" name="Shape 16"/>
          <p:cNvSpPr/>
          <p:nvPr/>
        </p:nvSpPr>
        <p:spPr>
          <a:xfrm>
            <a:off x="5266944" y="1051560"/>
            <a:ext cx="1014984" cy="777240"/>
          </a:xfrm>
          <a:prstGeom prst="roundRect">
            <a:avLst>
              <a:gd name="adj" fmla="val 9412"/>
            </a:avLst>
          </a:prstGeom>
          <a:solidFill>
            <a:srgbClr val="1B2A3A"/>
          </a:solidFill>
          <a:ln w="12700">
            <a:solidFill>
              <a:srgbClr val="1B2A3A"/>
            </a:solidFill>
            <a:prstDash val="solid"/>
          </a:ln>
        </p:spPr>
        <p:txBody>
          <a:bodyPr/>
          <a:lstStyle/>
          <a:p>
            <a:endParaRPr/>
          </a:p>
        </p:txBody>
      </p:sp>
      <p:sp>
        <p:nvSpPr>
          <p:cNvPr id="19" name="Text 17"/>
          <p:cNvSpPr txBox="1"/>
          <p:nvPr/>
        </p:nvSpPr>
        <p:spPr>
          <a:xfrm>
            <a:off x="5266944" y="1051560"/>
            <a:ext cx="1014984" cy="777240"/>
          </a:xfrm>
          <a:prstGeom prst="rect">
            <a:avLst/>
          </a:prstGeom>
          <a:noFill/>
          <a:ln/>
        </p:spPr>
        <p:txBody>
          <a:bodyPr wrap="square" lIns="381" tIns="381" rIns="381" bIns="381"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GGUF 변환</a:t>
            </a:r>
            <a:endParaRPr lang="en-US" sz="1000" dirty="0"/>
          </a:p>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Q4_K_M 2.5GB</a:t>
            </a:r>
            <a:endParaRPr lang="en-US" sz="1000" dirty="0"/>
          </a:p>
        </p:txBody>
      </p:sp>
      <p:sp>
        <p:nvSpPr>
          <p:cNvPr id="20" name="Text 18"/>
          <p:cNvSpPr txBox="1"/>
          <p:nvPr/>
        </p:nvSpPr>
        <p:spPr>
          <a:xfrm>
            <a:off x="6281928" y="1051560"/>
            <a:ext cx="187452" cy="777240"/>
          </a:xfrm>
          <a:prstGeom prst="rect">
            <a:avLst/>
          </a:prstGeom>
          <a:noFill/>
          <a:ln/>
        </p:spPr>
        <p:txBody>
          <a:bodyPr wrap="square" lIns="0" tIns="0" rIns="0" bIns="0" rtlCol="0" anchor="ctr"/>
          <a:lstStyle/>
          <a:p>
            <a:pPr marL="0" indent="0" algn="ctr">
              <a:buNone/>
            </a:pPr>
            <a:r>
              <a:rPr lang="en-US" sz="900" dirty="0">
                <a:solidFill>
                  <a:srgbClr val="64748B"/>
                </a:solidFill>
                <a:latin typeface="맑은 고딕" pitchFamily="34" charset="0"/>
                <a:ea typeface="맑은 고딕" pitchFamily="34" charset="-122"/>
                <a:cs typeface="맑은 고딕" pitchFamily="34" charset="-120"/>
              </a:rPr>
              <a:t>▶</a:t>
            </a:r>
            <a:endParaRPr lang="en-US" sz="900" dirty="0"/>
          </a:p>
        </p:txBody>
      </p:sp>
      <p:sp>
        <p:nvSpPr>
          <p:cNvPr id="21" name="Shape 19"/>
          <p:cNvSpPr/>
          <p:nvPr/>
        </p:nvSpPr>
        <p:spPr>
          <a:xfrm>
            <a:off x="6469380" y="1051560"/>
            <a:ext cx="1014984" cy="777240"/>
          </a:xfrm>
          <a:prstGeom prst="roundRect">
            <a:avLst>
              <a:gd name="adj" fmla="val 9412"/>
            </a:avLst>
          </a:prstGeom>
          <a:solidFill>
            <a:srgbClr val="1B2A3A"/>
          </a:solidFill>
          <a:ln w="12700">
            <a:solidFill>
              <a:srgbClr val="1B2A3A"/>
            </a:solidFill>
            <a:prstDash val="solid"/>
          </a:ln>
        </p:spPr>
        <p:txBody>
          <a:bodyPr/>
          <a:lstStyle/>
          <a:p>
            <a:endParaRPr/>
          </a:p>
        </p:txBody>
      </p:sp>
      <p:sp>
        <p:nvSpPr>
          <p:cNvPr id="22" name="Text 20"/>
          <p:cNvSpPr txBox="1"/>
          <p:nvPr/>
        </p:nvSpPr>
        <p:spPr>
          <a:xfrm>
            <a:off x="6469380" y="1051560"/>
            <a:ext cx="1014984" cy="777240"/>
          </a:xfrm>
          <a:prstGeom prst="rect">
            <a:avLst/>
          </a:prstGeom>
          <a:noFill/>
          <a:ln/>
        </p:spPr>
        <p:txBody>
          <a:bodyPr wrap="square" lIns="381" tIns="381" rIns="381" bIns="381"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Ollama 등록</a:t>
            </a:r>
            <a:endParaRPr lang="en-US" sz="1000" dirty="0"/>
          </a:p>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cs-loan</a:t>
            </a:r>
            <a:endParaRPr lang="en-US" sz="1000" dirty="0"/>
          </a:p>
        </p:txBody>
      </p:sp>
      <p:sp>
        <p:nvSpPr>
          <p:cNvPr id="23" name="Text 21"/>
          <p:cNvSpPr txBox="1"/>
          <p:nvPr/>
        </p:nvSpPr>
        <p:spPr>
          <a:xfrm>
            <a:off x="7484364" y="1051560"/>
            <a:ext cx="187452" cy="777240"/>
          </a:xfrm>
          <a:prstGeom prst="rect">
            <a:avLst/>
          </a:prstGeom>
          <a:noFill/>
          <a:ln/>
        </p:spPr>
        <p:txBody>
          <a:bodyPr wrap="square" lIns="0" tIns="0" rIns="0" bIns="0" rtlCol="0" anchor="ctr"/>
          <a:lstStyle/>
          <a:p>
            <a:pPr marL="0" indent="0" algn="ctr">
              <a:buNone/>
            </a:pPr>
            <a:r>
              <a:rPr lang="en-US" sz="900" dirty="0">
                <a:solidFill>
                  <a:srgbClr val="64748B"/>
                </a:solidFill>
                <a:latin typeface="맑은 고딕" pitchFamily="34" charset="0"/>
                <a:ea typeface="맑은 고딕" pitchFamily="34" charset="-122"/>
                <a:cs typeface="맑은 고딕" pitchFamily="34" charset="-120"/>
              </a:rPr>
              <a:t>▶</a:t>
            </a:r>
            <a:endParaRPr lang="en-US" sz="900" dirty="0"/>
          </a:p>
        </p:txBody>
      </p:sp>
      <p:sp>
        <p:nvSpPr>
          <p:cNvPr id="24" name="Shape 22"/>
          <p:cNvSpPr/>
          <p:nvPr/>
        </p:nvSpPr>
        <p:spPr>
          <a:xfrm>
            <a:off x="7671816" y="1051560"/>
            <a:ext cx="1014984" cy="777240"/>
          </a:xfrm>
          <a:prstGeom prst="roundRect">
            <a:avLst>
              <a:gd name="adj" fmla="val 9412"/>
            </a:avLst>
          </a:prstGeom>
          <a:solidFill>
            <a:srgbClr val="41659E"/>
          </a:solidFill>
          <a:ln w="12700">
            <a:solidFill>
              <a:srgbClr val="41659E"/>
            </a:solidFill>
            <a:prstDash val="solid"/>
          </a:ln>
        </p:spPr>
        <p:txBody>
          <a:bodyPr/>
          <a:lstStyle/>
          <a:p>
            <a:endParaRPr/>
          </a:p>
        </p:txBody>
      </p:sp>
      <p:sp>
        <p:nvSpPr>
          <p:cNvPr id="25" name="Text 23"/>
          <p:cNvSpPr txBox="1"/>
          <p:nvPr/>
        </p:nvSpPr>
        <p:spPr>
          <a:xfrm>
            <a:off x="7671816" y="1051560"/>
            <a:ext cx="1014984" cy="777240"/>
          </a:xfrm>
          <a:prstGeom prst="rect">
            <a:avLst/>
          </a:prstGeom>
          <a:noFill/>
          <a:ln/>
        </p:spPr>
        <p:txBody>
          <a:bodyPr wrap="square" lIns="381" tIns="381" rIns="381" bIns="381"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출력 검증기</a:t>
            </a:r>
            <a:endParaRPr lang="en-US" sz="1000" dirty="0"/>
          </a:p>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 슬롯 치환</a:t>
            </a:r>
            <a:endParaRPr lang="en-US" sz="1000" dirty="0"/>
          </a:p>
        </p:txBody>
      </p:sp>
      <p:sp>
        <p:nvSpPr>
          <p:cNvPr id="26" name="Text 24"/>
          <p:cNvSpPr txBox="1"/>
          <p:nvPr/>
        </p:nvSpPr>
        <p:spPr>
          <a:xfrm>
            <a:off x="457200" y="1965960"/>
            <a:ext cx="8229600" cy="274320"/>
          </a:xfrm>
          <a:prstGeom prst="rect">
            <a:avLst/>
          </a:prstGeom>
          <a:noFill/>
          <a:ln/>
        </p:spPr>
        <p:txBody>
          <a:bodyPr wrap="square" lIns="0" tIns="0" rIns="0" bIns="0" rtlCol="0" anchor="t"/>
          <a:lstStyle/>
          <a:p>
            <a:pPr marL="0" indent="0">
              <a:buNone/>
            </a:pPr>
            <a:r>
              <a:rPr lang="en-US" sz="1100" dirty="0">
                <a:solidFill>
                  <a:srgbClr val="1E293B"/>
                </a:solidFill>
                <a:latin typeface="맑은 고딕" pitchFamily="34" charset="0"/>
                <a:ea typeface="맑은 고딕" pitchFamily="34" charset="-122"/>
                <a:cs typeface="맑은 고딕" pitchFamily="34" charset="-120"/>
              </a:rPr>
              <a:t>베이스 Qwen3-4B (4bit) · LoRA r16/alpha32 · lr 2e-4 · 3 epoch · RTX 4060 Laptop 8GB · 학습 46분(v4)</a:t>
            </a:r>
            <a:endParaRPr lang="en-US" sz="1100" dirty="0"/>
          </a:p>
        </p:txBody>
      </p:sp>
      <p:sp>
        <p:nvSpPr>
          <p:cNvPr id="27" name="Text 25"/>
          <p:cNvSpPr txBox="1"/>
          <p:nvPr/>
        </p:nvSpPr>
        <p:spPr>
          <a:xfrm>
            <a:off x="457200" y="2377440"/>
            <a:ext cx="8229600" cy="274320"/>
          </a:xfrm>
          <a:prstGeom prst="rect">
            <a:avLst/>
          </a:prstGeom>
          <a:noFill/>
          <a:ln/>
        </p:spPr>
        <p:txBody>
          <a:bodyPr wrap="square" lIns="0" tIns="0" rIns="0" bIns="0" rtlCol="0" anchor="t"/>
          <a:lstStyle/>
          <a:p>
            <a:pPr marL="0" indent="0">
              <a:buNone/>
            </a:pPr>
            <a:r>
              <a:rPr lang="en-US" sz="1200" b="1" dirty="0">
                <a:solidFill>
                  <a:srgbClr val="41659E"/>
                </a:solidFill>
                <a:latin typeface="맑은 고딕" pitchFamily="34" charset="0"/>
                <a:ea typeface="맑은 고딕" pitchFamily="34" charset="-122"/>
                <a:cs typeface="맑은 고딕" pitchFamily="34" charset="-120"/>
              </a:rPr>
              <a:t>학습 곡선 (W&amp;B, v4): 학습이 안정적으로 진행됐다</a:t>
            </a:r>
            <a:endParaRPr lang="en-US" sz="1200" dirty="0"/>
          </a:p>
        </p:txBody>
      </p:sp>
      <p:pic>
        <p:nvPicPr>
          <p:cNvPr id="28" name="Image 0" descr="images/wandb_v4_train_loss.png"/>
          <p:cNvPicPr>
            <a:picLocks noChangeAspect="1"/>
          </p:cNvPicPr>
          <p:nvPr/>
        </p:nvPicPr>
        <p:blipFill>
          <a:blip r:embed="rId3"/>
          <a:stretch>
            <a:fillRect/>
          </a:stretch>
        </p:blipFill>
        <p:spPr>
          <a:xfrm>
            <a:off x="457200" y="2697480"/>
            <a:ext cx="2651760" cy="1207378"/>
          </a:xfrm>
          <a:prstGeom prst="rect">
            <a:avLst/>
          </a:prstGeom>
          <a:ln/>
        </p:spPr>
      </p:pic>
      <p:pic>
        <p:nvPicPr>
          <p:cNvPr id="29" name="Image 1" descr="images/wandb_v4_eval_loss.png"/>
          <p:cNvPicPr>
            <a:picLocks noChangeAspect="1"/>
          </p:cNvPicPr>
          <p:nvPr/>
        </p:nvPicPr>
        <p:blipFill>
          <a:blip r:embed="rId4"/>
          <a:stretch>
            <a:fillRect/>
          </a:stretch>
        </p:blipFill>
        <p:spPr>
          <a:xfrm>
            <a:off x="3246120" y="2697480"/>
            <a:ext cx="2651760" cy="1207378"/>
          </a:xfrm>
          <a:prstGeom prst="rect">
            <a:avLst/>
          </a:prstGeom>
          <a:ln/>
        </p:spPr>
      </p:pic>
      <p:pic>
        <p:nvPicPr>
          <p:cNvPr id="30" name="Image 2" descr="images/wandb_v4_grad_norm.png"/>
          <p:cNvPicPr>
            <a:picLocks noChangeAspect="1"/>
          </p:cNvPicPr>
          <p:nvPr/>
        </p:nvPicPr>
        <p:blipFill>
          <a:blip r:embed="rId5"/>
          <a:stretch>
            <a:fillRect/>
          </a:stretch>
        </p:blipFill>
        <p:spPr>
          <a:xfrm>
            <a:off x="6035040" y="2697480"/>
            <a:ext cx="2651760" cy="1207378"/>
          </a:xfrm>
          <a:prstGeom prst="rect">
            <a:avLst/>
          </a:prstGeom>
          <a:ln/>
        </p:spPr>
      </p:pic>
      <p:sp>
        <p:nvSpPr>
          <p:cNvPr id="31" name="Text 26"/>
          <p:cNvSpPr txBox="1"/>
          <p:nvPr/>
        </p:nvSpPr>
        <p:spPr>
          <a:xfrm>
            <a:off x="457200" y="4206240"/>
            <a:ext cx="8229600" cy="274320"/>
          </a:xfrm>
          <a:prstGeom prst="rect">
            <a:avLst/>
          </a:prstGeom>
          <a:noFill/>
          <a:ln/>
        </p:spPr>
        <p:txBody>
          <a:bodyPr wrap="square" lIns="0" tIns="0" rIns="0" bIns="0" rtlCol="0" anchor="t"/>
          <a:lstStyle/>
          <a:p>
            <a:pPr marL="0" indent="0">
              <a:buNone/>
            </a:pPr>
            <a:r>
              <a:rPr lang="en-US" sz="1000" dirty="0">
                <a:solidFill>
                  <a:srgbClr val="64748B"/>
                </a:solidFill>
                <a:latin typeface="맑은 고딕" pitchFamily="34" charset="0"/>
                <a:ea typeface="맑은 고딕" pitchFamily="34" charset="-122"/>
                <a:cs typeface="맑은 고딕" pitchFamily="34" charset="-120"/>
              </a:rPr>
              <a:t>loss는 학습이 정상이었다는 뜻일 뿐 성능이 아니다. 성능은 다음 장의 평가로 확인했다.</a:t>
            </a:r>
            <a:endParaRPr lang="en-US" sz="1000" dirty="0"/>
          </a:p>
        </p:txBody>
      </p:sp>
      <p:sp>
        <p:nvSpPr>
          <p:cNvPr id="32" name="TextBox 31"/>
          <p:cNvSpPr txBox="1"/>
          <p:nvPr/>
        </p:nvSpPr>
        <p:spPr>
          <a:xfrm>
            <a:off x="8485632" y="4809744"/>
            <a:ext cx="457200" cy="182880"/>
          </a:xfrm>
          <a:prstGeom prst="rect">
            <a:avLst/>
          </a:prstGeom>
          <a:noFill/>
          <a:ln/>
        </p:spPr>
        <p:txBody>
          <a:bodyPr wrap="none" lIns="0" tIns="0" rIns="0" bIns="0">
            <a:spAutoFit/>
          </a:bodyPr>
          <a:lstStyle/>
          <a:p>
            <a:pPr algn="r"/>
            <a:r>
              <a:rPr sz="850">
                <a:solidFill>
                  <a:srgbClr val="94A3B8"/>
                </a:solidFill>
                <a:latin typeface="맑은 고딕"/>
                <a:ea typeface="맑은 고딕"/>
              </a:rPr>
              <a:t>15</a:t>
            </a:r>
          </a:p>
        </p:txBody>
      </p:sp>
    </p:spTree>
    <p:extLst>
      <p:ext uri="{BB962C8B-B14F-4D97-AF65-F5344CB8AC3E}">
        <p14:creationId xmlns:p14="http://schemas.microsoft.com/office/powerpoint/2010/main" val="1554792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52400"/>
            <a:ext cx="4572000" cy="177800"/>
          </a:xfrm>
          <a:prstGeom prst="rect">
            <a:avLst/>
          </a:prstGeom>
          <a:noFill/>
          <a:ln/>
        </p:spPr>
        <p:txBody>
          <a:bodyPr wrap="square" lIns="0" tIns="0" rIns="0" bIns="0" rtlCol="0" anchor="t"/>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05  모델 학습</a:t>
            </a:r>
            <a:endParaRPr lang="en-US" sz="900" dirty="0"/>
          </a:p>
        </p:txBody>
      </p:sp>
      <p:sp>
        <p:nvSpPr>
          <p:cNvPr id="6" name="Text 4"/>
          <p:cNvSpPr txBox="1"/>
          <p:nvPr/>
        </p:nvSpPr>
        <p:spPr>
          <a:xfrm>
            <a:off x="457200" y="330200"/>
            <a:ext cx="8229600" cy="355600"/>
          </a:xfrm>
          <a:prstGeom prst="rect">
            <a:avLst/>
          </a:prstGeom>
          <a:noFill/>
          <a:ln/>
        </p:spPr>
        <p:txBody>
          <a:bodyPr wrap="square" lIns="0" tIns="0" rIns="0" bIns="0" rtlCol="0" anchor="ctr"/>
          <a:lstStyle/>
          <a:p>
            <a:pPr marL="0" indent="0">
              <a:buNone/>
            </a:pPr>
            <a:r>
              <a:rPr lang="en-US" sz="2000" b="1" dirty="0">
                <a:solidFill>
                  <a:srgbClr val="1B2A3A"/>
                </a:solidFill>
                <a:latin typeface="맑은 고딕" pitchFamily="34" charset="0"/>
                <a:ea typeface="맑은 고딕" pitchFamily="34" charset="-122"/>
                <a:cs typeface="맑은 고딕" pitchFamily="34" charset="-120"/>
              </a:rPr>
              <a:t>파인튜닝 모델 4종</a:t>
            </a:r>
            <a:endParaRPr lang="en-US" sz="2000" dirty="0"/>
          </a:p>
        </p:txBody>
      </p:sp>
      <p:sp>
        <p:nvSpPr>
          <p:cNvPr id="8" name="Text 6"/>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16</a:t>
            </a:r>
            <a:endParaRPr lang="en-US" sz="850" dirty="0"/>
          </a:p>
        </p:txBody>
      </p:sp>
      <p:sp>
        <p:nvSpPr>
          <p:cNvPr id="10" name="Shape 7"/>
          <p:cNvSpPr/>
          <p:nvPr/>
        </p:nvSpPr>
        <p:spPr>
          <a:xfrm>
            <a:off x="457200" y="1102360"/>
            <a:ext cx="1920240" cy="3108960"/>
          </a:xfrm>
          <a:prstGeom prst="roundRect">
            <a:avLst>
              <a:gd name="adj" fmla="val 3810"/>
            </a:avLst>
          </a:prstGeom>
          <a:solidFill>
            <a:srgbClr val="F1F5F9"/>
          </a:solidFill>
          <a:ln w="12700">
            <a:solidFill>
              <a:srgbClr val="F1F5F9"/>
            </a:solidFill>
            <a:prstDash val="solid"/>
          </a:ln>
        </p:spPr>
        <p:txBody>
          <a:bodyPr/>
          <a:lstStyle/>
          <a:p>
            <a:endParaRPr lang="ko-KR" altLang="en-US"/>
          </a:p>
        </p:txBody>
      </p:sp>
      <p:sp>
        <p:nvSpPr>
          <p:cNvPr id="11" name="Shape 8"/>
          <p:cNvSpPr/>
          <p:nvPr/>
        </p:nvSpPr>
        <p:spPr>
          <a:xfrm>
            <a:off x="1097280" y="1285239"/>
            <a:ext cx="640080" cy="640080"/>
          </a:xfrm>
          <a:prstGeom prst="ellipse">
            <a:avLst/>
          </a:prstGeom>
          <a:solidFill>
            <a:srgbClr val="41659E"/>
          </a:solidFill>
          <a:ln w="12700">
            <a:solidFill>
              <a:srgbClr val="41659E"/>
            </a:solidFill>
            <a:prstDash val="solid"/>
          </a:ln>
        </p:spPr>
        <p:txBody>
          <a:bodyPr/>
          <a:lstStyle/>
          <a:p>
            <a:endParaRPr lang="ko-KR" altLang="en-US"/>
          </a:p>
        </p:txBody>
      </p:sp>
      <p:pic>
        <p:nvPicPr>
          <p:cNvPr id="12" name="Image 0" descr="preencoded.png"/>
          <p:cNvPicPr>
            <a:picLocks noChangeAspect="1"/>
          </p:cNvPicPr>
          <p:nvPr/>
        </p:nvPicPr>
        <p:blipFill>
          <a:blip r:embed="rId3"/>
          <a:stretch>
            <a:fillRect/>
          </a:stretch>
        </p:blipFill>
        <p:spPr>
          <a:xfrm>
            <a:off x="1250899" y="1438858"/>
            <a:ext cx="332842" cy="332842"/>
          </a:xfrm>
          <a:prstGeom prst="rect">
            <a:avLst/>
          </a:prstGeom>
          <a:ln/>
        </p:spPr>
      </p:pic>
      <p:sp>
        <p:nvSpPr>
          <p:cNvPr id="13" name="Text 9"/>
          <p:cNvSpPr txBox="1"/>
          <p:nvPr/>
        </p:nvSpPr>
        <p:spPr>
          <a:xfrm>
            <a:off x="457200" y="2016760"/>
            <a:ext cx="192024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맑은 고딕" pitchFamily="34" charset="0"/>
                <a:ea typeface="맑은 고딕" pitchFamily="34" charset="-122"/>
                <a:cs typeface="맑은 고딕" pitchFamily="34" charset="-120"/>
              </a:rPr>
              <a:t>cs-router</a:t>
            </a:r>
            <a:endParaRPr lang="en-US" sz="1400" dirty="0"/>
          </a:p>
        </p:txBody>
      </p:sp>
      <p:sp>
        <p:nvSpPr>
          <p:cNvPr id="14" name="Text 10"/>
          <p:cNvSpPr txBox="1"/>
          <p:nvPr/>
        </p:nvSpPr>
        <p:spPr>
          <a:xfrm>
            <a:off x="457200" y="2336800"/>
            <a:ext cx="1920240" cy="274320"/>
          </a:xfrm>
          <a:prstGeom prst="rect">
            <a:avLst/>
          </a:prstGeom>
          <a:noFill/>
          <a:ln/>
        </p:spPr>
        <p:txBody>
          <a:bodyPr wrap="square" lIns="0" tIns="0" rIns="0" bIns="0" rtlCol="0" anchor="ctr"/>
          <a:lstStyle/>
          <a:p>
            <a:pPr marL="0" indent="0" algn="ctr">
              <a:buNone/>
            </a:pPr>
            <a:r>
              <a:rPr lang="en-US" sz="1050" dirty="0">
                <a:solidFill>
                  <a:srgbClr val="64748B"/>
                </a:solidFill>
                <a:latin typeface="맑은 고딕" pitchFamily="34" charset="0"/>
                <a:ea typeface="맑은 고딕" pitchFamily="34" charset="-122"/>
                <a:cs typeface="맑은 고딕" pitchFamily="34" charset="-120"/>
              </a:rPr>
              <a:t>주제 분류</a:t>
            </a:r>
            <a:endParaRPr lang="en-US" sz="1050" dirty="0"/>
          </a:p>
        </p:txBody>
      </p:sp>
      <p:sp>
        <p:nvSpPr>
          <p:cNvPr id="15" name="Text 11"/>
          <p:cNvSpPr txBox="1"/>
          <p:nvPr/>
        </p:nvSpPr>
        <p:spPr>
          <a:xfrm>
            <a:off x="457200" y="2839720"/>
            <a:ext cx="1920240" cy="640080"/>
          </a:xfrm>
          <a:prstGeom prst="rect">
            <a:avLst/>
          </a:prstGeom>
          <a:noFill/>
          <a:ln/>
        </p:spPr>
        <p:txBody>
          <a:bodyPr wrap="square" lIns="0" tIns="0" rIns="0" bIns="0" rtlCol="0" anchor="ctr"/>
          <a:lstStyle/>
          <a:p>
            <a:pPr marL="0" indent="0" algn="ctr">
              <a:buNone/>
            </a:pPr>
            <a:r>
              <a:rPr lang="en-US" sz="2100" b="1" dirty="0">
                <a:solidFill>
                  <a:srgbClr val="41659E"/>
                </a:solidFill>
                <a:latin typeface="맑은 고딕" pitchFamily="34" charset="0"/>
                <a:ea typeface="맑은 고딕" pitchFamily="34" charset="-122"/>
                <a:cs typeface="맑은 고딕" pitchFamily="34" charset="-120"/>
              </a:rPr>
              <a:t>81.9%</a:t>
            </a:r>
            <a:endParaRPr lang="en-US" sz="2100" dirty="0"/>
          </a:p>
        </p:txBody>
      </p:sp>
      <p:sp>
        <p:nvSpPr>
          <p:cNvPr id="16" name="Text 12"/>
          <p:cNvSpPr txBox="1"/>
          <p:nvPr/>
        </p:nvSpPr>
        <p:spPr>
          <a:xfrm>
            <a:off x="457200" y="3525520"/>
            <a:ext cx="19202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맑은 고딕" pitchFamily="34" charset="0"/>
                <a:ea typeface="맑은 고딕" pitchFamily="34" charset="-122"/>
                <a:cs typeface="맑은 고딕" pitchFamily="34" charset="-120"/>
              </a:rPr>
              <a:t>에이전트 단위 정확도</a:t>
            </a:r>
            <a:endParaRPr lang="en-US" sz="1000" dirty="0"/>
          </a:p>
        </p:txBody>
      </p:sp>
      <p:sp>
        <p:nvSpPr>
          <p:cNvPr id="17" name="Shape 13"/>
          <p:cNvSpPr/>
          <p:nvPr/>
        </p:nvSpPr>
        <p:spPr>
          <a:xfrm>
            <a:off x="2560320" y="1102360"/>
            <a:ext cx="1920240" cy="3108960"/>
          </a:xfrm>
          <a:prstGeom prst="roundRect">
            <a:avLst>
              <a:gd name="adj" fmla="val 3810"/>
            </a:avLst>
          </a:prstGeom>
          <a:solidFill>
            <a:srgbClr val="F1F5F9"/>
          </a:solidFill>
          <a:ln w="12700">
            <a:solidFill>
              <a:srgbClr val="F1F5F9"/>
            </a:solidFill>
            <a:prstDash val="solid"/>
          </a:ln>
        </p:spPr>
        <p:txBody>
          <a:bodyPr/>
          <a:lstStyle/>
          <a:p>
            <a:endParaRPr lang="ko-KR" altLang="en-US"/>
          </a:p>
        </p:txBody>
      </p:sp>
      <p:sp>
        <p:nvSpPr>
          <p:cNvPr id="18" name="Shape 14"/>
          <p:cNvSpPr/>
          <p:nvPr/>
        </p:nvSpPr>
        <p:spPr>
          <a:xfrm>
            <a:off x="3200400" y="1285239"/>
            <a:ext cx="640080" cy="640080"/>
          </a:xfrm>
          <a:prstGeom prst="ellipse">
            <a:avLst/>
          </a:prstGeom>
          <a:solidFill>
            <a:srgbClr val="41659E"/>
          </a:solidFill>
          <a:ln w="12700">
            <a:solidFill>
              <a:srgbClr val="41659E"/>
            </a:solidFill>
            <a:prstDash val="solid"/>
          </a:ln>
        </p:spPr>
        <p:txBody>
          <a:bodyPr/>
          <a:lstStyle/>
          <a:p>
            <a:endParaRPr lang="ko-KR" altLang="en-US"/>
          </a:p>
        </p:txBody>
      </p:sp>
      <p:pic>
        <p:nvPicPr>
          <p:cNvPr id="19" name="Image 1" descr="preencoded.png"/>
          <p:cNvPicPr>
            <a:picLocks noChangeAspect="1"/>
          </p:cNvPicPr>
          <p:nvPr/>
        </p:nvPicPr>
        <p:blipFill>
          <a:blip r:embed="rId4"/>
          <a:stretch>
            <a:fillRect/>
          </a:stretch>
        </p:blipFill>
        <p:spPr>
          <a:xfrm>
            <a:off x="3354019" y="1438858"/>
            <a:ext cx="332842" cy="332842"/>
          </a:xfrm>
          <a:prstGeom prst="rect">
            <a:avLst/>
          </a:prstGeom>
          <a:ln/>
        </p:spPr>
      </p:pic>
      <p:sp>
        <p:nvSpPr>
          <p:cNvPr id="20" name="Text 15"/>
          <p:cNvSpPr txBox="1"/>
          <p:nvPr/>
        </p:nvSpPr>
        <p:spPr>
          <a:xfrm>
            <a:off x="2560320" y="2016760"/>
            <a:ext cx="192024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맑은 고딕" pitchFamily="34" charset="0"/>
                <a:ea typeface="맑은 고딕" pitchFamily="34" charset="-122"/>
                <a:cs typeface="맑은 고딕" pitchFamily="34" charset="-120"/>
              </a:rPr>
              <a:t>cs-balance</a:t>
            </a:r>
            <a:endParaRPr lang="en-US" sz="1400" dirty="0"/>
          </a:p>
        </p:txBody>
      </p:sp>
      <p:sp>
        <p:nvSpPr>
          <p:cNvPr id="21" name="Text 16"/>
          <p:cNvSpPr txBox="1"/>
          <p:nvPr/>
        </p:nvSpPr>
        <p:spPr>
          <a:xfrm>
            <a:off x="2560320" y="2336800"/>
            <a:ext cx="1920240" cy="274320"/>
          </a:xfrm>
          <a:prstGeom prst="rect">
            <a:avLst/>
          </a:prstGeom>
          <a:noFill/>
          <a:ln/>
        </p:spPr>
        <p:txBody>
          <a:bodyPr wrap="square" lIns="0" tIns="0" rIns="0" bIns="0" rtlCol="0" anchor="ctr"/>
          <a:lstStyle/>
          <a:p>
            <a:pPr marL="0" indent="0" algn="ctr">
              <a:buNone/>
            </a:pPr>
            <a:r>
              <a:rPr lang="en-US" sz="1050" dirty="0">
                <a:solidFill>
                  <a:srgbClr val="64748B"/>
                </a:solidFill>
                <a:latin typeface="맑은 고딕" pitchFamily="34" charset="0"/>
                <a:ea typeface="맑은 고딕" pitchFamily="34" charset="-122"/>
                <a:cs typeface="맑은 고딕" pitchFamily="34" charset="-120"/>
              </a:rPr>
              <a:t>잔액 · 거래내역</a:t>
            </a:r>
            <a:endParaRPr lang="en-US" sz="1050" dirty="0"/>
          </a:p>
        </p:txBody>
      </p:sp>
      <p:sp>
        <p:nvSpPr>
          <p:cNvPr id="22" name="Text 17"/>
          <p:cNvSpPr txBox="1"/>
          <p:nvPr/>
        </p:nvSpPr>
        <p:spPr>
          <a:xfrm>
            <a:off x="2560320" y="2839720"/>
            <a:ext cx="1920240" cy="640080"/>
          </a:xfrm>
          <a:prstGeom prst="rect">
            <a:avLst/>
          </a:prstGeom>
          <a:noFill/>
          <a:ln/>
        </p:spPr>
        <p:txBody>
          <a:bodyPr wrap="square" lIns="0" tIns="0" rIns="0" bIns="0" rtlCol="0" anchor="ctr"/>
          <a:lstStyle/>
          <a:p>
            <a:pPr marL="0" indent="0" algn="ctr">
              <a:buNone/>
            </a:pPr>
            <a:r>
              <a:rPr lang="en-US" sz="2100" b="1" dirty="0">
                <a:solidFill>
                  <a:srgbClr val="41659E"/>
                </a:solidFill>
                <a:latin typeface="맑은 고딕" pitchFamily="34" charset="0"/>
                <a:ea typeface="맑은 고딕" pitchFamily="34" charset="-122"/>
                <a:cs typeface="맑은 고딕" pitchFamily="34" charset="-120"/>
              </a:rPr>
              <a:t>TBD</a:t>
            </a:r>
            <a:endParaRPr lang="en-US" sz="2100" dirty="0"/>
          </a:p>
        </p:txBody>
      </p:sp>
      <p:sp>
        <p:nvSpPr>
          <p:cNvPr id="23" name="Text 18"/>
          <p:cNvSpPr txBox="1"/>
          <p:nvPr/>
        </p:nvSpPr>
        <p:spPr>
          <a:xfrm>
            <a:off x="2560320" y="3525520"/>
            <a:ext cx="19202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맑은 고딕" pitchFamily="34" charset="0"/>
                <a:ea typeface="맑은 고딕" pitchFamily="34" charset="-122"/>
                <a:cs typeface="맑은 고딕" pitchFamily="34" charset="-120"/>
              </a:rPr>
              <a:t>평가 예정</a:t>
            </a:r>
            <a:endParaRPr lang="en-US" sz="1000" dirty="0"/>
          </a:p>
        </p:txBody>
      </p:sp>
      <p:sp>
        <p:nvSpPr>
          <p:cNvPr id="24" name="Shape 19"/>
          <p:cNvSpPr/>
          <p:nvPr/>
        </p:nvSpPr>
        <p:spPr>
          <a:xfrm>
            <a:off x="4663440" y="1102360"/>
            <a:ext cx="1920240" cy="3108960"/>
          </a:xfrm>
          <a:prstGeom prst="roundRect">
            <a:avLst>
              <a:gd name="adj" fmla="val 3810"/>
            </a:avLst>
          </a:prstGeom>
          <a:solidFill>
            <a:srgbClr val="F1F5F9"/>
          </a:solidFill>
          <a:ln w="12700">
            <a:solidFill>
              <a:srgbClr val="F1F5F9"/>
            </a:solidFill>
            <a:prstDash val="solid"/>
          </a:ln>
        </p:spPr>
        <p:txBody>
          <a:bodyPr/>
          <a:lstStyle/>
          <a:p>
            <a:endParaRPr lang="ko-KR" altLang="en-US"/>
          </a:p>
        </p:txBody>
      </p:sp>
      <p:sp>
        <p:nvSpPr>
          <p:cNvPr id="25" name="Shape 20"/>
          <p:cNvSpPr/>
          <p:nvPr/>
        </p:nvSpPr>
        <p:spPr>
          <a:xfrm>
            <a:off x="5303520" y="1285239"/>
            <a:ext cx="640080" cy="640080"/>
          </a:xfrm>
          <a:prstGeom prst="ellipse">
            <a:avLst/>
          </a:prstGeom>
          <a:solidFill>
            <a:srgbClr val="41659E"/>
          </a:solidFill>
          <a:ln w="12700">
            <a:solidFill>
              <a:srgbClr val="41659E"/>
            </a:solidFill>
            <a:prstDash val="solid"/>
          </a:ln>
        </p:spPr>
        <p:txBody>
          <a:bodyPr/>
          <a:lstStyle/>
          <a:p>
            <a:endParaRPr lang="ko-KR" altLang="en-US"/>
          </a:p>
        </p:txBody>
      </p:sp>
      <p:pic>
        <p:nvPicPr>
          <p:cNvPr id="26" name="Image 2" descr="preencoded.png"/>
          <p:cNvPicPr>
            <a:picLocks noChangeAspect="1"/>
          </p:cNvPicPr>
          <p:nvPr/>
        </p:nvPicPr>
        <p:blipFill>
          <a:blip r:embed="rId5"/>
          <a:stretch>
            <a:fillRect/>
          </a:stretch>
        </p:blipFill>
        <p:spPr>
          <a:xfrm>
            <a:off x="5457139" y="1438858"/>
            <a:ext cx="332842" cy="332842"/>
          </a:xfrm>
          <a:prstGeom prst="rect">
            <a:avLst/>
          </a:prstGeom>
          <a:ln/>
        </p:spPr>
      </p:pic>
      <p:sp>
        <p:nvSpPr>
          <p:cNvPr id="27" name="Text 21"/>
          <p:cNvSpPr txBox="1"/>
          <p:nvPr/>
        </p:nvSpPr>
        <p:spPr>
          <a:xfrm>
            <a:off x="4663440" y="2016760"/>
            <a:ext cx="192024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맑은 고딕" pitchFamily="34" charset="0"/>
                <a:ea typeface="맑은 고딕" pitchFamily="34" charset="-122"/>
                <a:cs typeface="맑은 고딕" pitchFamily="34" charset="-120"/>
              </a:rPr>
              <a:t>cs-loan</a:t>
            </a:r>
            <a:endParaRPr lang="en-US" sz="1400" dirty="0"/>
          </a:p>
        </p:txBody>
      </p:sp>
      <p:sp>
        <p:nvSpPr>
          <p:cNvPr id="28" name="Text 22"/>
          <p:cNvSpPr txBox="1"/>
          <p:nvPr/>
        </p:nvSpPr>
        <p:spPr>
          <a:xfrm>
            <a:off x="4663440" y="2336800"/>
            <a:ext cx="1920240" cy="274320"/>
          </a:xfrm>
          <a:prstGeom prst="rect">
            <a:avLst/>
          </a:prstGeom>
          <a:noFill/>
          <a:ln/>
        </p:spPr>
        <p:txBody>
          <a:bodyPr wrap="square" lIns="0" tIns="0" rIns="0" bIns="0" rtlCol="0" anchor="ctr"/>
          <a:lstStyle/>
          <a:p>
            <a:pPr marL="0" indent="0" algn="ctr">
              <a:buNone/>
            </a:pPr>
            <a:r>
              <a:rPr lang="en-US" sz="1050" dirty="0">
                <a:solidFill>
                  <a:srgbClr val="64748B"/>
                </a:solidFill>
                <a:latin typeface="맑은 고딕" pitchFamily="34" charset="0"/>
                <a:ea typeface="맑은 고딕" pitchFamily="34" charset="-122"/>
                <a:cs typeface="맑은 고딕" pitchFamily="34" charset="-120"/>
              </a:rPr>
              <a:t>만기 · 연장</a:t>
            </a:r>
            <a:endParaRPr lang="en-US" sz="1050" dirty="0"/>
          </a:p>
        </p:txBody>
      </p:sp>
      <p:sp>
        <p:nvSpPr>
          <p:cNvPr id="29" name="Text 23"/>
          <p:cNvSpPr txBox="1"/>
          <p:nvPr/>
        </p:nvSpPr>
        <p:spPr>
          <a:xfrm>
            <a:off x="4663440" y="2839720"/>
            <a:ext cx="1920240" cy="640080"/>
          </a:xfrm>
          <a:prstGeom prst="rect">
            <a:avLst/>
          </a:prstGeom>
          <a:noFill/>
          <a:ln/>
        </p:spPr>
        <p:txBody>
          <a:bodyPr wrap="square" lIns="0" tIns="0" rIns="0" bIns="0" rtlCol="0" anchor="ctr"/>
          <a:lstStyle/>
          <a:p>
            <a:pPr marL="0" indent="0" algn="ctr">
              <a:buNone/>
            </a:pPr>
            <a:r>
              <a:rPr lang="en-US" sz="2100" b="1" dirty="0">
                <a:solidFill>
                  <a:srgbClr val="41659E"/>
                </a:solidFill>
                <a:latin typeface="맑은 고딕" pitchFamily="34" charset="0"/>
                <a:ea typeface="맑은 고딕" pitchFamily="34" charset="-122"/>
                <a:cs typeface="맑은 고딕" pitchFamily="34" charset="-120"/>
              </a:rPr>
              <a:t>47→97%</a:t>
            </a:r>
            <a:endParaRPr lang="en-US" sz="2100" dirty="0"/>
          </a:p>
        </p:txBody>
      </p:sp>
      <p:sp>
        <p:nvSpPr>
          <p:cNvPr id="30" name="Text 24"/>
          <p:cNvSpPr txBox="1"/>
          <p:nvPr/>
        </p:nvSpPr>
        <p:spPr>
          <a:xfrm>
            <a:off x="4663440" y="3525520"/>
            <a:ext cx="19202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맑은 고딕" pitchFamily="34" charset="0"/>
                <a:ea typeface="맑은 고딕" pitchFamily="34" charset="-122"/>
                <a:cs typeface="맑은 고딕" pitchFamily="34" charset="-120"/>
              </a:rPr>
              <a:t>규칙 준수율 (Base→v4)</a:t>
            </a:r>
            <a:endParaRPr lang="en-US" sz="1000" dirty="0"/>
          </a:p>
        </p:txBody>
      </p:sp>
      <p:sp>
        <p:nvSpPr>
          <p:cNvPr id="31" name="Shape 25"/>
          <p:cNvSpPr/>
          <p:nvPr/>
        </p:nvSpPr>
        <p:spPr>
          <a:xfrm>
            <a:off x="6766560" y="1102360"/>
            <a:ext cx="1920240" cy="3108960"/>
          </a:xfrm>
          <a:prstGeom prst="roundRect">
            <a:avLst>
              <a:gd name="adj" fmla="val 3810"/>
            </a:avLst>
          </a:prstGeom>
          <a:solidFill>
            <a:srgbClr val="DCE8F6"/>
          </a:solidFill>
          <a:ln w="12700">
            <a:solidFill>
              <a:srgbClr val="DCE8F6"/>
            </a:solidFill>
            <a:prstDash val="solid"/>
          </a:ln>
        </p:spPr>
        <p:txBody>
          <a:bodyPr/>
          <a:lstStyle/>
          <a:p>
            <a:endParaRPr lang="ko-KR" altLang="en-US"/>
          </a:p>
        </p:txBody>
      </p:sp>
      <p:sp>
        <p:nvSpPr>
          <p:cNvPr id="32" name="Shape 26"/>
          <p:cNvSpPr/>
          <p:nvPr/>
        </p:nvSpPr>
        <p:spPr>
          <a:xfrm>
            <a:off x="7406640" y="1285239"/>
            <a:ext cx="640080" cy="640080"/>
          </a:xfrm>
          <a:prstGeom prst="ellipse">
            <a:avLst/>
          </a:prstGeom>
          <a:solidFill>
            <a:srgbClr val="41659E"/>
          </a:solidFill>
          <a:ln w="12700">
            <a:solidFill>
              <a:srgbClr val="41659E"/>
            </a:solidFill>
            <a:prstDash val="solid"/>
          </a:ln>
        </p:spPr>
        <p:txBody>
          <a:bodyPr/>
          <a:lstStyle/>
          <a:p>
            <a:endParaRPr lang="ko-KR" altLang="en-US"/>
          </a:p>
        </p:txBody>
      </p:sp>
      <p:pic>
        <p:nvPicPr>
          <p:cNvPr id="33" name="Image 3" descr="preencoded.png"/>
          <p:cNvPicPr>
            <a:picLocks noChangeAspect="1"/>
          </p:cNvPicPr>
          <p:nvPr/>
        </p:nvPicPr>
        <p:blipFill>
          <a:blip r:embed="rId6"/>
          <a:stretch>
            <a:fillRect/>
          </a:stretch>
        </p:blipFill>
        <p:spPr>
          <a:xfrm>
            <a:off x="7560259" y="1438858"/>
            <a:ext cx="332842" cy="332842"/>
          </a:xfrm>
          <a:prstGeom prst="rect">
            <a:avLst/>
          </a:prstGeom>
          <a:ln/>
        </p:spPr>
      </p:pic>
      <p:sp>
        <p:nvSpPr>
          <p:cNvPr id="34" name="Text 27"/>
          <p:cNvSpPr txBox="1"/>
          <p:nvPr/>
        </p:nvSpPr>
        <p:spPr>
          <a:xfrm>
            <a:off x="6766560" y="2016760"/>
            <a:ext cx="192024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맑은 고딕" pitchFamily="34" charset="0"/>
                <a:ea typeface="맑은 고딕" pitchFamily="34" charset="-122"/>
                <a:cs typeface="맑은 고딕" pitchFamily="34" charset="-120"/>
              </a:rPr>
              <a:t>cs-interest</a:t>
            </a:r>
            <a:endParaRPr lang="en-US" sz="1400" dirty="0"/>
          </a:p>
        </p:txBody>
      </p:sp>
      <p:sp>
        <p:nvSpPr>
          <p:cNvPr id="35" name="Text 28"/>
          <p:cNvSpPr txBox="1"/>
          <p:nvPr/>
        </p:nvSpPr>
        <p:spPr>
          <a:xfrm>
            <a:off x="6766560" y="2336800"/>
            <a:ext cx="1920240" cy="274320"/>
          </a:xfrm>
          <a:prstGeom prst="rect">
            <a:avLst/>
          </a:prstGeom>
          <a:noFill/>
          <a:ln/>
        </p:spPr>
        <p:txBody>
          <a:bodyPr wrap="square" lIns="0" tIns="0" rIns="0" bIns="0" rtlCol="0" anchor="ctr"/>
          <a:lstStyle/>
          <a:p>
            <a:pPr marL="0" indent="0" algn="ctr">
              <a:buNone/>
            </a:pPr>
            <a:r>
              <a:rPr lang="en-US" sz="1050" dirty="0">
                <a:solidFill>
                  <a:srgbClr val="64748B"/>
                </a:solidFill>
                <a:latin typeface="맑은 고딕" pitchFamily="34" charset="0"/>
                <a:ea typeface="맑은 고딕" pitchFamily="34" charset="-122"/>
                <a:cs typeface="맑은 고딕" pitchFamily="34" charset="-120"/>
              </a:rPr>
              <a:t>이자 · 연체</a:t>
            </a:r>
            <a:endParaRPr lang="en-US" sz="1050" dirty="0"/>
          </a:p>
        </p:txBody>
      </p:sp>
      <p:sp>
        <p:nvSpPr>
          <p:cNvPr id="36" name="Text 29"/>
          <p:cNvSpPr txBox="1"/>
          <p:nvPr/>
        </p:nvSpPr>
        <p:spPr>
          <a:xfrm>
            <a:off x="6766560" y="2839720"/>
            <a:ext cx="1920240" cy="640080"/>
          </a:xfrm>
          <a:prstGeom prst="rect">
            <a:avLst/>
          </a:prstGeom>
          <a:noFill/>
          <a:ln/>
        </p:spPr>
        <p:txBody>
          <a:bodyPr wrap="square" lIns="0" tIns="0" rIns="0" bIns="0" rtlCol="0" anchor="ctr"/>
          <a:lstStyle/>
          <a:p>
            <a:pPr marL="0" indent="0" algn="ctr">
              <a:buNone/>
            </a:pPr>
            <a:r>
              <a:rPr lang="en-US" sz="2100" b="1" dirty="0">
                <a:solidFill>
                  <a:srgbClr val="41659E"/>
                </a:solidFill>
                <a:latin typeface="맑은 고딕" pitchFamily="34" charset="0"/>
                <a:ea typeface="맑은 고딕" pitchFamily="34" charset="-122"/>
                <a:cs typeface="맑은 고딕" pitchFamily="34" charset="-120"/>
              </a:rPr>
              <a:t>64→86%</a:t>
            </a:r>
            <a:endParaRPr lang="en-US" sz="2100" dirty="0"/>
          </a:p>
        </p:txBody>
      </p:sp>
      <p:sp>
        <p:nvSpPr>
          <p:cNvPr id="37" name="Text 30"/>
          <p:cNvSpPr txBox="1"/>
          <p:nvPr/>
        </p:nvSpPr>
        <p:spPr>
          <a:xfrm>
            <a:off x="6766560" y="3525520"/>
            <a:ext cx="1920240" cy="274320"/>
          </a:xfrm>
          <a:prstGeom prst="rect">
            <a:avLst/>
          </a:prstGeom>
          <a:noFill/>
          <a:ln/>
        </p:spPr>
        <p:txBody>
          <a:bodyPr wrap="square" lIns="0" tIns="0" rIns="0" bIns="0" rtlCol="0" anchor="ctr"/>
          <a:lstStyle/>
          <a:p>
            <a:pPr marL="0" indent="0" algn="ctr">
              <a:buNone/>
            </a:pPr>
            <a:r>
              <a:rPr lang="en-US" sz="1000" dirty="0">
                <a:solidFill>
                  <a:srgbClr val="64748B"/>
                </a:solidFill>
                <a:latin typeface="맑은 고딕" pitchFamily="34" charset="0"/>
                <a:ea typeface="맑은 고딕" pitchFamily="34" charset="-122"/>
                <a:cs typeface="맑은 고딕" pitchFamily="34" charset="-120"/>
              </a:rPr>
              <a:t>규칙 준수율 (Base→v03)</a:t>
            </a:r>
            <a:endParaRPr lang="en-US" sz="1000" dirty="0"/>
          </a:p>
        </p:txBody>
      </p:sp>
      <p:sp>
        <p:nvSpPr>
          <p:cNvPr id="38" name="담당 담당 심보영"/>
          <p:cNvSpPr/>
          <p:nvPr/>
        </p:nvSpPr>
        <p:spPr>
          <a:xfrm>
            <a:off x="960120" y="3858768"/>
            <a:ext cx="914400" cy="256032"/>
          </a:xfrm>
          <a:prstGeom prst="roundRect">
            <a:avLst>
              <a:gd name="adj" fmla="val 50000"/>
            </a:avLst>
          </a:prstGeom>
          <a:solidFill>
            <a:srgbClr val="FFFFFF"/>
          </a:solidFill>
          <a:ln w="9525">
            <a:solidFill>
              <a:srgbClr val="41659E"/>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b="1">
                <a:solidFill>
                  <a:srgbClr val="41659E"/>
                </a:solidFill>
                <a:latin typeface="맑은 고딕"/>
                <a:ea typeface="맑은 고딕"/>
              </a:rPr>
              <a:t>담당 심보영</a:t>
            </a:r>
          </a:p>
        </p:txBody>
      </p:sp>
      <p:sp>
        <p:nvSpPr>
          <p:cNvPr id="39" name="담당 담당 주세환"/>
          <p:cNvSpPr/>
          <p:nvPr/>
        </p:nvSpPr>
        <p:spPr>
          <a:xfrm>
            <a:off x="3063239" y="3858768"/>
            <a:ext cx="914400" cy="256032"/>
          </a:xfrm>
          <a:prstGeom prst="roundRect">
            <a:avLst>
              <a:gd name="adj" fmla="val 50000"/>
            </a:avLst>
          </a:prstGeom>
          <a:solidFill>
            <a:srgbClr val="FFFFFF"/>
          </a:solidFill>
          <a:ln w="9525">
            <a:solidFill>
              <a:srgbClr val="41659E"/>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b="1">
                <a:solidFill>
                  <a:srgbClr val="41659E"/>
                </a:solidFill>
                <a:latin typeface="맑은 고딕"/>
                <a:ea typeface="맑은 고딕"/>
              </a:rPr>
              <a:t>담당 주세환</a:t>
            </a:r>
          </a:p>
        </p:txBody>
      </p:sp>
      <p:sp>
        <p:nvSpPr>
          <p:cNvPr id="40" name="담당 담당 차민규"/>
          <p:cNvSpPr/>
          <p:nvPr/>
        </p:nvSpPr>
        <p:spPr>
          <a:xfrm>
            <a:off x="5166359" y="3858768"/>
            <a:ext cx="914400" cy="256032"/>
          </a:xfrm>
          <a:prstGeom prst="roundRect">
            <a:avLst>
              <a:gd name="adj" fmla="val 50000"/>
            </a:avLst>
          </a:prstGeom>
          <a:solidFill>
            <a:srgbClr val="FFFFFF"/>
          </a:solidFill>
          <a:ln w="9525">
            <a:solidFill>
              <a:srgbClr val="41659E"/>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b="1">
                <a:solidFill>
                  <a:srgbClr val="41659E"/>
                </a:solidFill>
                <a:latin typeface="맑은 고딕"/>
                <a:ea typeface="맑은 고딕"/>
              </a:rPr>
              <a:t>담당 차민규</a:t>
            </a:r>
          </a:p>
        </p:txBody>
      </p:sp>
      <p:sp>
        <p:nvSpPr>
          <p:cNvPr id="41" name="담당 담당 오희택"/>
          <p:cNvSpPr/>
          <p:nvPr/>
        </p:nvSpPr>
        <p:spPr>
          <a:xfrm>
            <a:off x="7269480" y="3858768"/>
            <a:ext cx="914400" cy="256032"/>
          </a:xfrm>
          <a:prstGeom prst="roundRect">
            <a:avLst>
              <a:gd name="adj" fmla="val 50000"/>
            </a:avLst>
          </a:prstGeom>
          <a:solidFill>
            <a:srgbClr val="FFFFFF"/>
          </a:solidFill>
          <a:ln w="9525">
            <a:solidFill>
              <a:srgbClr val="41659E"/>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850" b="1">
                <a:solidFill>
                  <a:srgbClr val="41659E"/>
                </a:solidFill>
                <a:latin typeface="맑은 고딕"/>
                <a:ea typeface="맑은 고딕"/>
              </a:rPr>
              <a:t>담당 오희택</a:t>
            </a:r>
          </a:p>
        </p:txBody>
      </p:sp>
    </p:spTree>
    <p:extLst>
      <p:ext uri="{BB962C8B-B14F-4D97-AF65-F5344CB8AC3E}">
        <p14:creationId xmlns:p14="http://schemas.microsoft.com/office/powerpoint/2010/main" val="1043987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155448"/>
            <a:ext cx="5486400" cy="173736"/>
          </a:xfrm>
          <a:prstGeom prst="rect">
            <a:avLst/>
          </a:prstGeom>
          <a:noFill/>
          <a:ln/>
        </p:spPr>
        <p:txBody>
          <a:bodyPr wrap="square" lIns="0" tIns="0" rIns="0" bIns="0" rtlCol="0" anchor="ctr"/>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05  모델 학습  ·  cs-router</a:t>
            </a:r>
            <a:endParaRPr lang="en-US" sz="1000" dirty="0"/>
          </a:p>
        </p:txBody>
      </p:sp>
      <p:sp>
        <p:nvSpPr>
          <p:cNvPr id="7" name="Text 4"/>
          <p:cNvSpPr txBox="1"/>
          <p:nvPr/>
        </p:nvSpPr>
        <p:spPr>
          <a:xfrm>
            <a:off x="5669280" y="1051560"/>
            <a:ext cx="3017520" cy="274320"/>
          </a:xfrm>
          <a:prstGeom prst="rect">
            <a:avLst/>
          </a:prstGeom>
          <a:noFill/>
          <a:ln/>
        </p:spPr>
        <p:txBody>
          <a:bodyPr wrap="square" lIns="0" tIns="0" rIns="0" bIns="0" rtlCol="0" anchor="t"/>
          <a:lstStyle/>
          <a:p>
            <a:pPr marL="0" indent="0">
              <a:buNone/>
            </a:pPr>
            <a:r>
              <a:rPr lang="en-US" sz="1300" b="1" dirty="0">
                <a:solidFill>
                  <a:srgbClr val="41659E"/>
                </a:solidFill>
                <a:latin typeface="맑은 고딕" pitchFamily="34" charset="0"/>
                <a:ea typeface="맑은 고딕" pitchFamily="34" charset="-122"/>
                <a:cs typeface="맑은 고딕" pitchFamily="34" charset="-120"/>
              </a:rPr>
              <a:t>핵심 포인트</a:t>
            </a:r>
            <a:endParaRPr lang="en-US" sz="1300" dirty="0"/>
          </a:p>
        </p:txBody>
      </p:sp>
      <p:sp>
        <p:nvSpPr>
          <p:cNvPr id="8" name="Text 5"/>
          <p:cNvSpPr txBox="1"/>
          <p:nvPr/>
        </p:nvSpPr>
        <p:spPr>
          <a:xfrm>
            <a:off x="5669280" y="1417320"/>
            <a:ext cx="3017520" cy="274320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1E293B"/>
                </a:solidFill>
                <a:latin typeface="맑은 고딕" pitchFamily="34" charset="0"/>
                <a:ea typeface="맑은 고딕" pitchFamily="34" charset="-122"/>
                <a:cs typeface="맑은 고딕" pitchFamily="34" charset="-120"/>
              </a:rPr>
              <a:t>마스킹된 질문을 9개 주제로 분류, 3개는 전문 에이전트로 연결</a:t>
            </a:r>
            <a:endParaRPr lang="en-US" sz="1100" dirty="0"/>
          </a:p>
          <a:p>
            <a:pPr marL="342900" indent="-342900">
              <a:spcAft>
                <a:spcPts val="800"/>
              </a:spcAft>
              <a:buSzPct val="100000"/>
              <a:buChar char="•"/>
            </a:pPr>
            <a:r>
              <a:rPr lang="en-US" sz="1100" dirty="0">
                <a:solidFill>
                  <a:srgbClr val="1E293B"/>
                </a:solidFill>
                <a:latin typeface="맑은 고딕" pitchFamily="34" charset="0"/>
                <a:ea typeface="맑은 고딕" pitchFamily="34" charset="-122"/>
                <a:cs typeface="맑은 고딕" pitchFamily="34" charset="-120"/>
              </a:rPr>
              <a:t>현 cs-router: 에이전트 단위 81.9%, 9주제 78.8%, macro-F1 0.740</a:t>
            </a:r>
            <a:endParaRPr lang="en-US" sz="1100" dirty="0"/>
          </a:p>
          <a:p>
            <a:pPr marL="342900" indent="-342900">
              <a:spcAft>
                <a:spcPts val="800"/>
              </a:spcAft>
              <a:buSzPct val="100000"/>
              <a:buChar char="•"/>
            </a:pPr>
            <a:r>
              <a:rPr lang="en-US" sz="1100" dirty="0">
                <a:solidFill>
                  <a:srgbClr val="1E293B"/>
                </a:solidFill>
                <a:latin typeface="맑은 고딕" pitchFamily="34" charset="0"/>
                <a:ea typeface="맑은 고딕" pitchFamily="34" charset="-122"/>
                <a:cs typeface="맑은 고딕" pitchFamily="34" charset="-120"/>
              </a:rPr>
              <a:t>학습 1번 5.7% → 학습 2번 80.5% → 현재 81.9%</a:t>
            </a:r>
            <a:endParaRPr lang="en-US" sz="1100" dirty="0"/>
          </a:p>
        </p:txBody>
      </p:sp>
      <p:sp>
        <p:nvSpPr>
          <p:cNvPr id="9" name="Text 6"/>
          <p:cNvSpPr txBox="1"/>
          <p:nvPr/>
        </p:nvSpPr>
        <p:spPr>
          <a:xfrm>
            <a:off x="457200" y="4297680"/>
            <a:ext cx="8229600" cy="274320"/>
          </a:xfrm>
          <a:prstGeom prst="rect">
            <a:avLst/>
          </a:prstGeom>
          <a:noFill/>
          <a:ln/>
        </p:spPr>
        <p:txBody>
          <a:bodyPr wrap="square" lIns="0" tIns="0" rIns="0" bIns="0" rtlCol="0" anchor="t"/>
          <a:lstStyle/>
          <a:p>
            <a:pPr marL="0" indent="0">
              <a:buNone/>
            </a:pPr>
            <a:r>
              <a:rPr lang="en-US" sz="950" dirty="0">
                <a:solidFill>
                  <a:srgbClr val="64748B"/>
                </a:solidFill>
                <a:latin typeface="맑은 고딕" pitchFamily="34" charset="0"/>
                <a:ea typeface="맑은 고딕" pitchFamily="34" charset="-122"/>
                <a:cs typeface="맑은 고딕" pitchFamily="34" charset="-120"/>
              </a:rPr>
              <a:t>에이전트 단위: 3개 전문 에이전트 중 맞는 곳으로 연결했는지 / 9주제: 9개 주제를 정확히 맞혔는지</a:t>
            </a:r>
            <a:endParaRPr lang="en-US" sz="950" dirty="0"/>
          </a:p>
        </p:txBody>
      </p:sp>
      <p:sp>
        <p:nvSpPr>
          <p:cNvPr id="10" name="TextBox 9"/>
          <p:cNvSpPr txBox="1"/>
          <p:nvPr/>
        </p:nvSpPr>
        <p:spPr>
          <a:xfrm>
            <a:off x="8485632" y="4809744"/>
            <a:ext cx="457200" cy="182880"/>
          </a:xfrm>
          <a:prstGeom prst="rect">
            <a:avLst/>
          </a:prstGeom>
          <a:noFill/>
          <a:ln/>
        </p:spPr>
        <p:txBody>
          <a:bodyPr wrap="none" lIns="0" tIns="0" rIns="0" bIns="0">
            <a:spAutoFit/>
          </a:bodyPr>
          <a:lstStyle/>
          <a:p>
            <a:pPr algn="r"/>
            <a:r>
              <a:rPr sz="850">
                <a:solidFill>
                  <a:srgbClr val="94A3B8"/>
                </a:solidFill>
                <a:latin typeface="맑은 고딕"/>
                <a:ea typeface="맑은 고딕"/>
              </a:rPr>
              <a:t>17</a:t>
            </a:r>
          </a:p>
        </p:txBody>
      </p:sp>
      <p:graphicFrame>
        <p:nvGraphicFramePr>
          <p:cNvPr id="11" name="Chart 10"/>
          <p:cNvGraphicFramePr>
            <a:graphicFrameLocks noGrp="1"/>
          </p:cNvGraphicFramePr>
          <p:nvPr/>
        </p:nvGraphicFramePr>
        <p:xfrm>
          <a:off x="457200" y="960120"/>
          <a:ext cx="49377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4">
            <a:extLst>
              <a:ext uri="{FF2B5EF4-FFF2-40B4-BE49-F238E27FC236}">
                <a16:creationId xmlns:a16="http://schemas.microsoft.com/office/drawing/2014/main" id="{42D2EC0B-9C63-BB26-001A-B7418F7B2187}"/>
              </a:ext>
            </a:extLst>
          </p:cNvPr>
          <p:cNvSpPr txBox="1"/>
          <p:nvPr/>
        </p:nvSpPr>
        <p:spPr>
          <a:xfrm>
            <a:off x="457200" y="330200"/>
            <a:ext cx="8229600" cy="355600"/>
          </a:xfrm>
          <a:prstGeom prst="rect">
            <a:avLst/>
          </a:prstGeom>
          <a:noFill/>
          <a:ln/>
        </p:spPr>
        <p:txBody>
          <a:bodyPr wrap="square" lIns="0" tIns="0" rIns="0" bIns="0" rtlCol="0" anchor="ctr"/>
          <a:lstStyle/>
          <a:p>
            <a:pPr marL="0" indent="0">
              <a:buNone/>
            </a:pPr>
            <a:r>
              <a:rPr lang="ko-KR" altLang="en-US" sz="2000" b="1" dirty="0">
                <a:solidFill>
                  <a:srgbClr val="1B2A3A"/>
                </a:solidFill>
                <a:latin typeface="맑은 고딕" pitchFamily="34" charset="0"/>
                <a:ea typeface="맑은 고딕" pitchFamily="34" charset="-122"/>
                <a:cs typeface="맑은 고딕" pitchFamily="34" charset="-120"/>
              </a:rPr>
              <a:t>주제 분류</a:t>
            </a:r>
            <a:r>
              <a:rPr lang="en-US" sz="2000" b="1" dirty="0">
                <a:solidFill>
                  <a:srgbClr val="1B2A3A"/>
                </a:solidFill>
                <a:latin typeface="맑은 고딕" pitchFamily="34" charset="0"/>
                <a:ea typeface="맑은 고딕" pitchFamily="34" charset="-122"/>
                <a:cs typeface="맑은 고딕" pitchFamily="34" charset="-120"/>
              </a:rPr>
              <a:t> </a:t>
            </a:r>
            <a:r>
              <a:rPr lang="en-US" sz="2000" b="1" dirty="0" err="1">
                <a:solidFill>
                  <a:srgbClr val="1B2A3A"/>
                </a:solidFill>
                <a:latin typeface="맑은 고딕" pitchFamily="34" charset="0"/>
                <a:ea typeface="맑은 고딕" pitchFamily="34" charset="-122"/>
                <a:cs typeface="맑은 고딕" pitchFamily="34" charset="-120"/>
              </a:rPr>
              <a:t>모델</a:t>
            </a:r>
            <a:endParaRPr lang="en-US" sz="2000" dirty="0"/>
          </a:p>
        </p:txBody>
      </p:sp>
    </p:spTree>
    <p:extLst>
      <p:ext uri="{BB962C8B-B14F-4D97-AF65-F5344CB8AC3E}">
        <p14:creationId xmlns:p14="http://schemas.microsoft.com/office/powerpoint/2010/main" val="55599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155448"/>
            <a:ext cx="5486400" cy="173736"/>
          </a:xfrm>
          <a:prstGeom prst="rect">
            <a:avLst/>
          </a:prstGeom>
          <a:noFill/>
          <a:ln/>
        </p:spPr>
        <p:txBody>
          <a:bodyPr wrap="square" lIns="0" tIns="0" rIns="0" bIns="0" rtlCol="0" anchor="ctr"/>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06  성능 검증  ·  cs-loan</a:t>
            </a:r>
            <a:endParaRPr lang="en-US" sz="1000" dirty="0"/>
          </a:p>
        </p:txBody>
      </p:sp>
      <p:sp>
        <p:nvSpPr>
          <p:cNvPr id="6" name="Shape 4"/>
          <p:cNvSpPr/>
          <p:nvPr/>
        </p:nvSpPr>
        <p:spPr>
          <a:xfrm>
            <a:off x="457200" y="1005840"/>
            <a:ext cx="1965960" cy="1371600"/>
          </a:xfrm>
          <a:prstGeom prst="roundRect">
            <a:avLst>
              <a:gd name="adj" fmla="val 5333"/>
            </a:avLst>
          </a:prstGeom>
          <a:solidFill>
            <a:srgbClr val="F8FAFC"/>
          </a:solidFill>
          <a:ln w="9525">
            <a:solidFill>
              <a:srgbClr val="CBD5E1"/>
            </a:solidFill>
            <a:prstDash val="solid"/>
          </a:ln>
        </p:spPr>
        <p:txBody>
          <a:bodyPr/>
          <a:lstStyle/>
          <a:p>
            <a:endParaRPr/>
          </a:p>
        </p:txBody>
      </p:sp>
      <p:sp>
        <p:nvSpPr>
          <p:cNvPr id="7" name="Text 5"/>
          <p:cNvSpPr txBox="1"/>
          <p:nvPr/>
        </p:nvSpPr>
        <p:spPr>
          <a:xfrm>
            <a:off x="594360" y="1069848"/>
            <a:ext cx="1737360" cy="320040"/>
          </a:xfrm>
          <a:prstGeom prst="rect">
            <a:avLst/>
          </a:prstGeom>
          <a:noFill/>
          <a:ln/>
        </p:spPr>
        <p:txBody>
          <a:bodyPr wrap="square" lIns="0" tIns="0" rIns="0" bIns="0" rtlCol="0" anchor="t"/>
          <a:lstStyle/>
          <a:p>
            <a:pPr marL="0" indent="0">
              <a:buNone/>
            </a:pPr>
            <a:r>
              <a:rPr lang="en-US" sz="1600" b="1" dirty="0">
                <a:solidFill>
                  <a:srgbClr val="1B2A3A"/>
                </a:solidFill>
                <a:latin typeface="맑은 고딕" pitchFamily="34" charset="0"/>
                <a:ea typeface="맑은 고딕" pitchFamily="34" charset="-122"/>
                <a:cs typeface="맑은 고딕" pitchFamily="34" charset="-120"/>
              </a:rPr>
              <a:t>v1</a:t>
            </a:r>
            <a:endParaRPr lang="en-US" sz="1600" dirty="0"/>
          </a:p>
        </p:txBody>
      </p:sp>
      <p:sp>
        <p:nvSpPr>
          <p:cNvPr id="8" name="Text 6"/>
          <p:cNvSpPr txBox="1"/>
          <p:nvPr/>
        </p:nvSpPr>
        <p:spPr>
          <a:xfrm>
            <a:off x="594360" y="1435608"/>
            <a:ext cx="1691640" cy="411480"/>
          </a:xfrm>
          <a:prstGeom prst="rect">
            <a:avLst/>
          </a:prstGeom>
          <a:noFill/>
          <a:ln/>
        </p:spPr>
        <p:txBody>
          <a:bodyPr wrap="square" lIns="0" tIns="0" rIns="0" bIns="0" rtlCol="0" anchor="t"/>
          <a:lstStyle/>
          <a:p>
            <a:pPr marL="0" indent="0">
              <a:buNone/>
            </a:pPr>
            <a:r>
              <a:rPr lang="en-US" sz="1050" b="1" dirty="0">
                <a:solidFill>
                  <a:srgbClr val="1E293B"/>
                </a:solidFill>
                <a:latin typeface="맑은 고딕" pitchFamily="34" charset="0"/>
                <a:ea typeface="맑은 고딕" pitchFamily="34" charset="-122"/>
                <a:cs typeface="맑은 고딕" pitchFamily="34" charset="-120"/>
              </a:rPr>
              <a:t>AI Hub 답변 그대로</a:t>
            </a:r>
            <a:endParaRPr lang="en-US" sz="1050" dirty="0"/>
          </a:p>
        </p:txBody>
      </p:sp>
      <p:sp>
        <p:nvSpPr>
          <p:cNvPr id="9" name="Text 7"/>
          <p:cNvSpPr txBox="1"/>
          <p:nvPr/>
        </p:nvSpPr>
        <p:spPr>
          <a:xfrm>
            <a:off x="594360" y="1874520"/>
            <a:ext cx="1691640" cy="457200"/>
          </a:xfrm>
          <a:prstGeom prst="rect">
            <a:avLst/>
          </a:prstGeom>
          <a:noFill/>
          <a:ln/>
        </p:spPr>
        <p:txBody>
          <a:bodyPr wrap="square" lIns="0" tIns="0" rIns="0" bIns="0" rtlCol="0" anchor="t"/>
          <a:lstStyle/>
          <a:p>
            <a:pPr marL="0" indent="0">
              <a:buNone/>
            </a:pPr>
            <a:r>
              <a:rPr lang="en-US" sz="1050" dirty="0">
                <a:solidFill>
                  <a:srgbClr val="1E293B"/>
                </a:solidFill>
                <a:latin typeface="맑은 고딕" pitchFamily="34" charset="0"/>
                <a:ea typeface="맑은 고딕" pitchFamily="34" charset="-122"/>
                <a:cs typeface="맑은 고딕" pitchFamily="34" charset="-120"/>
              </a:rPr>
              <a:t>없는 절차·금리를 지어냄</a:t>
            </a:r>
            <a:endParaRPr lang="en-US" sz="1050" dirty="0"/>
          </a:p>
        </p:txBody>
      </p:sp>
      <p:sp>
        <p:nvSpPr>
          <p:cNvPr id="10" name="Shape 8"/>
          <p:cNvSpPr/>
          <p:nvPr/>
        </p:nvSpPr>
        <p:spPr>
          <a:xfrm>
            <a:off x="2542032" y="1005840"/>
            <a:ext cx="1965960" cy="1371600"/>
          </a:xfrm>
          <a:prstGeom prst="roundRect">
            <a:avLst>
              <a:gd name="adj" fmla="val 5333"/>
            </a:avLst>
          </a:prstGeom>
          <a:solidFill>
            <a:srgbClr val="F8FAFC"/>
          </a:solidFill>
          <a:ln w="9525">
            <a:solidFill>
              <a:srgbClr val="CBD5E1"/>
            </a:solidFill>
            <a:prstDash val="solid"/>
          </a:ln>
        </p:spPr>
        <p:txBody>
          <a:bodyPr/>
          <a:lstStyle/>
          <a:p>
            <a:endParaRPr/>
          </a:p>
        </p:txBody>
      </p:sp>
      <p:sp>
        <p:nvSpPr>
          <p:cNvPr id="11" name="Text 9"/>
          <p:cNvSpPr txBox="1"/>
          <p:nvPr/>
        </p:nvSpPr>
        <p:spPr>
          <a:xfrm>
            <a:off x="2679192" y="1069848"/>
            <a:ext cx="1737360" cy="320040"/>
          </a:xfrm>
          <a:prstGeom prst="rect">
            <a:avLst/>
          </a:prstGeom>
          <a:noFill/>
          <a:ln/>
        </p:spPr>
        <p:txBody>
          <a:bodyPr wrap="square" lIns="0" tIns="0" rIns="0" bIns="0" rtlCol="0" anchor="t"/>
          <a:lstStyle/>
          <a:p>
            <a:pPr marL="0" indent="0">
              <a:buNone/>
            </a:pPr>
            <a:r>
              <a:rPr lang="en-US" sz="1600" b="1" dirty="0">
                <a:solidFill>
                  <a:srgbClr val="1B2A3A"/>
                </a:solidFill>
                <a:latin typeface="맑은 고딕" pitchFamily="34" charset="0"/>
                <a:ea typeface="맑은 고딕" pitchFamily="34" charset="-122"/>
                <a:cs typeface="맑은 고딕" pitchFamily="34" charset="-120"/>
              </a:rPr>
              <a:t>v2</a:t>
            </a:r>
            <a:endParaRPr lang="en-US" sz="1600" dirty="0"/>
          </a:p>
        </p:txBody>
      </p:sp>
      <p:sp>
        <p:nvSpPr>
          <p:cNvPr id="12" name="Text 10"/>
          <p:cNvSpPr txBox="1"/>
          <p:nvPr/>
        </p:nvSpPr>
        <p:spPr>
          <a:xfrm>
            <a:off x="2679192" y="1435608"/>
            <a:ext cx="1691640" cy="411480"/>
          </a:xfrm>
          <a:prstGeom prst="rect">
            <a:avLst/>
          </a:prstGeom>
          <a:noFill/>
          <a:ln/>
        </p:spPr>
        <p:txBody>
          <a:bodyPr wrap="square" lIns="0" tIns="0" rIns="0" bIns="0" rtlCol="0" anchor="t"/>
          <a:lstStyle/>
          <a:p>
            <a:pPr marL="0" indent="0">
              <a:buNone/>
            </a:pPr>
            <a:r>
              <a:rPr lang="en-US" sz="1050" b="1" dirty="0">
                <a:solidFill>
                  <a:srgbClr val="1E293B"/>
                </a:solidFill>
                <a:latin typeface="맑은 고딕" pitchFamily="34" charset="0"/>
                <a:ea typeface="맑은 고딕" pitchFamily="34" charset="-122"/>
                <a:cs typeface="맑은 고딕" pitchFamily="34" charset="-120"/>
              </a:rPr>
              <a:t>정답 직접 작성 + 검증기</a:t>
            </a:r>
            <a:endParaRPr lang="en-US" sz="1050" dirty="0"/>
          </a:p>
        </p:txBody>
      </p:sp>
      <p:sp>
        <p:nvSpPr>
          <p:cNvPr id="13" name="Text 11"/>
          <p:cNvSpPr txBox="1"/>
          <p:nvPr/>
        </p:nvSpPr>
        <p:spPr>
          <a:xfrm>
            <a:off x="2679192" y="1874520"/>
            <a:ext cx="1691640" cy="457200"/>
          </a:xfrm>
          <a:prstGeom prst="rect">
            <a:avLst/>
          </a:prstGeom>
          <a:noFill/>
          <a:ln/>
        </p:spPr>
        <p:txBody>
          <a:bodyPr wrap="square" lIns="0" tIns="0" rIns="0" bIns="0" rtlCol="0" anchor="t"/>
          <a:lstStyle/>
          <a:p>
            <a:pPr marL="0" indent="0">
              <a:buNone/>
            </a:pPr>
            <a:r>
              <a:rPr lang="en-US" sz="1050" dirty="0">
                <a:solidFill>
                  <a:srgbClr val="1E293B"/>
                </a:solidFill>
                <a:latin typeface="맑은 고딕" pitchFamily="34" charset="0"/>
                <a:ea typeface="맑은 고딕" pitchFamily="34" charset="-122"/>
                <a:cs typeface="맑은 고딕" pitchFamily="34" charset="-120"/>
              </a:rPr>
              <a:t>지어냄 제거</a:t>
            </a:r>
            <a:endParaRPr lang="en-US" sz="1050" dirty="0"/>
          </a:p>
        </p:txBody>
      </p:sp>
      <p:sp>
        <p:nvSpPr>
          <p:cNvPr id="14" name="Shape 12"/>
          <p:cNvSpPr/>
          <p:nvPr/>
        </p:nvSpPr>
        <p:spPr>
          <a:xfrm>
            <a:off x="4626864" y="1005840"/>
            <a:ext cx="1965960" cy="1371600"/>
          </a:xfrm>
          <a:prstGeom prst="roundRect">
            <a:avLst>
              <a:gd name="adj" fmla="val 5333"/>
            </a:avLst>
          </a:prstGeom>
          <a:solidFill>
            <a:srgbClr val="F8FAFC"/>
          </a:solidFill>
          <a:ln w="9525">
            <a:solidFill>
              <a:srgbClr val="CBD5E1"/>
            </a:solidFill>
            <a:prstDash val="solid"/>
          </a:ln>
        </p:spPr>
        <p:txBody>
          <a:bodyPr/>
          <a:lstStyle/>
          <a:p>
            <a:endParaRPr/>
          </a:p>
        </p:txBody>
      </p:sp>
      <p:sp>
        <p:nvSpPr>
          <p:cNvPr id="15" name="Text 13"/>
          <p:cNvSpPr txBox="1"/>
          <p:nvPr/>
        </p:nvSpPr>
        <p:spPr>
          <a:xfrm>
            <a:off x="4764024" y="1069848"/>
            <a:ext cx="1737360" cy="320040"/>
          </a:xfrm>
          <a:prstGeom prst="rect">
            <a:avLst/>
          </a:prstGeom>
          <a:noFill/>
          <a:ln/>
        </p:spPr>
        <p:txBody>
          <a:bodyPr wrap="square" lIns="0" tIns="0" rIns="0" bIns="0" rtlCol="0" anchor="t"/>
          <a:lstStyle/>
          <a:p>
            <a:pPr marL="0" indent="0">
              <a:buNone/>
            </a:pPr>
            <a:r>
              <a:rPr lang="en-US" sz="1600" b="1" dirty="0">
                <a:solidFill>
                  <a:srgbClr val="1B2A3A"/>
                </a:solidFill>
                <a:latin typeface="맑은 고딕" pitchFamily="34" charset="0"/>
                <a:ea typeface="맑은 고딕" pitchFamily="34" charset="-122"/>
                <a:cs typeface="맑은 고딕" pitchFamily="34" charset="-120"/>
              </a:rPr>
              <a:t>v3</a:t>
            </a:r>
            <a:endParaRPr lang="en-US" sz="1600" dirty="0"/>
          </a:p>
        </p:txBody>
      </p:sp>
      <p:sp>
        <p:nvSpPr>
          <p:cNvPr id="16" name="Text 14"/>
          <p:cNvSpPr txBox="1"/>
          <p:nvPr/>
        </p:nvSpPr>
        <p:spPr>
          <a:xfrm>
            <a:off x="4764024" y="1435608"/>
            <a:ext cx="1691640" cy="411480"/>
          </a:xfrm>
          <a:prstGeom prst="rect">
            <a:avLst/>
          </a:prstGeom>
          <a:noFill/>
          <a:ln/>
        </p:spPr>
        <p:txBody>
          <a:bodyPr wrap="square" lIns="0" tIns="0" rIns="0" bIns="0" rtlCol="0" anchor="t"/>
          <a:lstStyle/>
          <a:p>
            <a:pPr marL="0" indent="0">
              <a:buNone/>
            </a:pPr>
            <a:r>
              <a:rPr lang="en-US" sz="1050" b="1" dirty="0">
                <a:solidFill>
                  <a:srgbClr val="1E293B"/>
                </a:solidFill>
                <a:latin typeface="맑은 고딕" pitchFamily="34" charset="0"/>
                <a:ea typeface="맑은 고딕" pitchFamily="34" charset="-122"/>
                <a:cs typeface="맑은 고딕" pitchFamily="34" charset="-120"/>
              </a:rPr>
              <a:t>약점 유형·말투 보강</a:t>
            </a:r>
            <a:endParaRPr lang="en-US" sz="1050" dirty="0"/>
          </a:p>
        </p:txBody>
      </p:sp>
      <p:sp>
        <p:nvSpPr>
          <p:cNvPr id="17" name="Text 15"/>
          <p:cNvSpPr txBox="1"/>
          <p:nvPr/>
        </p:nvSpPr>
        <p:spPr>
          <a:xfrm>
            <a:off x="4764024" y="1874520"/>
            <a:ext cx="1691640" cy="457200"/>
          </a:xfrm>
          <a:prstGeom prst="rect">
            <a:avLst/>
          </a:prstGeom>
          <a:noFill/>
          <a:ln/>
        </p:spPr>
        <p:txBody>
          <a:bodyPr wrap="square" lIns="0" tIns="0" rIns="0" bIns="0" rtlCol="0" anchor="t"/>
          <a:lstStyle/>
          <a:p>
            <a:pPr marL="0" indent="0">
              <a:buNone/>
            </a:pPr>
            <a:r>
              <a:rPr lang="en-US" sz="1050" dirty="0">
                <a:solidFill>
                  <a:srgbClr val="1E293B"/>
                </a:solidFill>
                <a:latin typeface="맑은 고딕" pitchFamily="34" charset="0"/>
                <a:ea typeface="맑은 고딕" pitchFamily="34" charset="-122"/>
                <a:cs typeface="맑은 고딕" pitchFamily="34" charset="-120"/>
              </a:rPr>
              <a:t>위험 질문에 지어낸 답 남음</a:t>
            </a:r>
            <a:endParaRPr lang="en-US" sz="1050" dirty="0"/>
          </a:p>
        </p:txBody>
      </p:sp>
      <p:sp>
        <p:nvSpPr>
          <p:cNvPr id="18" name="Shape 16"/>
          <p:cNvSpPr/>
          <p:nvPr/>
        </p:nvSpPr>
        <p:spPr>
          <a:xfrm>
            <a:off x="6711696" y="1005840"/>
            <a:ext cx="1965960" cy="1371600"/>
          </a:xfrm>
          <a:prstGeom prst="roundRect">
            <a:avLst>
              <a:gd name="adj" fmla="val 5333"/>
            </a:avLst>
          </a:prstGeom>
          <a:solidFill>
            <a:srgbClr val="DCE8F6"/>
          </a:solidFill>
          <a:ln w="9525">
            <a:solidFill>
              <a:srgbClr val="CBD5E1"/>
            </a:solidFill>
            <a:prstDash val="solid"/>
          </a:ln>
        </p:spPr>
        <p:txBody>
          <a:bodyPr/>
          <a:lstStyle/>
          <a:p>
            <a:endParaRPr/>
          </a:p>
        </p:txBody>
      </p:sp>
      <p:sp>
        <p:nvSpPr>
          <p:cNvPr id="19" name="Text 17"/>
          <p:cNvSpPr txBox="1"/>
          <p:nvPr/>
        </p:nvSpPr>
        <p:spPr>
          <a:xfrm>
            <a:off x="6848856" y="1069848"/>
            <a:ext cx="1737360" cy="320040"/>
          </a:xfrm>
          <a:prstGeom prst="rect">
            <a:avLst/>
          </a:prstGeom>
          <a:noFill/>
          <a:ln/>
        </p:spPr>
        <p:txBody>
          <a:bodyPr wrap="square" lIns="0" tIns="0" rIns="0" bIns="0" rtlCol="0" anchor="t"/>
          <a:lstStyle/>
          <a:p>
            <a:pPr marL="0" indent="0">
              <a:buNone/>
            </a:pPr>
            <a:r>
              <a:rPr lang="en-US" sz="1600" b="1" dirty="0">
                <a:solidFill>
                  <a:srgbClr val="41659E"/>
                </a:solidFill>
                <a:latin typeface="맑은 고딕" pitchFamily="34" charset="0"/>
                <a:ea typeface="맑은 고딕" pitchFamily="34" charset="-122"/>
                <a:cs typeface="맑은 고딕" pitchFamily="34" charset="-120"/>
              </a:rPr>
              <a:t>v4</a:t>
            </a:r>
            <a:endParaRPr lang="en-US" sz="1600" dirty="0"/>
          </a:p>
        </p:txBody>
      </p:sp>
      <p:sp>
        <p:nvSpPr>
          <p:cNvPr id="20" name="Text 18"/>
          <p:cNvSpPr txBox="1"/>
          <p:nvPr/>
        </p:nvSpPr>
        <p:spPr>
          <a:xfrm>
            <a:off x="6848856" y="1435608"/>
            <a:ext cx="1691640" cy="411480"/>
          </a:xfrm>
          <a:prstGeom prst="rect">
            <a:avLst/>
          </a:prstGeom>
          <a:noFill/>
          <a:ln/>
        </p:spPr>
        <p:txBody>
          <a:bodyPr wrap="square" lIns="0" tIns="0" rIns="0" bIns="0" rtlCol="0" anchor="t"/>
          <a:lstStyle/>
          <a:p>
            <a:pPr marL="0" indent="0">
              <a:buNone/>
            </a:pPr>
            <a:r>
              <a:rPr lang="en-US" sz="1050" b="1" dirty="0">
                <a:solidFill>
                  <a:srgbClr val="1E293B"/>
                </a:solidFill>
                <a:latin typeface="맑은 고딕" pitchFamily="34" charset="0"/>
                <a:ea typeface="맑은 고딕" pitchFamily="34" charset="-122"/>
                <a:cs typeface="맑은 고딕" pitchFamily="34" charset="-120"/>
              </a:rPr>
              <a:t>결함 시드 + 거절 문형 교체</a:t>
            </a:r>
            <a:endParaRPr lang="en-US" sz="1050" dirty="0"/>
          </a:p>
        </p:txBody>
      </p:sp>
      <p:sp>
        <p:nvSpPr>
          <p:cNvPr id="21" name="Text 19"/>
          <p:cNvSpPr txBox="1"/>
          <p:nvPr/>
        </p:nvSpPr>
        <p:spPr>
          <a:xfrm>
            <a:off x="6848856" y="1874520"/>
            <a:ext cx="1691640" cy="457200"/>
          </a:xfrm>
          <a:prstGeom prst="rect">
            <a:avLst/>
          </a:prstGeom>
          <a:noFill/>
          <a:ln/>
        </p:spPr>
        <p:txBody>
          <a:bodyPr wrap="square" lIns="0" tIns="0" rIns="0" bIns="0" rtlCol="0" anchor="t"/>
          <a:lstStyle/>
          <a:p>
            <a:pPr marL="0" indent="0">
              <a:buNone/>
            </a:pPr>
            <a:r>
              <a:rPr lang="en-US" sz="1050" dirty="0">
                <a:solidFill>
                  <a:srgbClr val="1E293B"/>
                </a:solidFill>
                <a:latin typeface="맑은 고딕" pitchFamily="34" charset="0"/>
                <a:ea typeface="맑은 고딕" pitchFamily="34" charset="-122"/>
                <a:cs typeface="맑은 고딕" pitchFamily="34" charset="-120"/>
              </a:rPr>
              <a:t>지어낸 사실 0건, 최종 확정</a:t>
            </a:r>
            <a:endParaRPr lang="en-US" sz="1050" dirty="0"/>
          </a:p>
        </p:txBody>
      </p:sp>
      <p:graphicFrame>
        <p:nvGraphicFramePr>
          <p:cNvPr id="22" name="Chart 0"/>
          <p:cNvGraphicFramePr/>
          <p:nvPr/>
        </p:nvGraphicFramePr>
        <p:xfrm>
          <a:off x="365760" y="2468880"/>
          <a:ext cx="4297680" cy="2148840"/>
        </p:xfrm>
        <a:graphic>
          <a:graphicData uri="http://schemas.openxmlformats.org/drawingml/2006/chart">
            <c:chart xmlns:c="http://schemas.openxmlformats.org/drawingml/2006/chart" xmlns:r="http://schemas.openxmlformats.org/officeDocument/2006/relationships" r:id="rId3"/>
          </a:graphicData>
        </a:graphic>
      </p:graphicFrame>
      <p:sp>
        <p:nvSpPr>
          <p:cNvPr id="23" name="Shape 20"/>
          <p:cNvSpPr/>
          <p:nvPr/>
        </p:nvSpPr>
        <p:spPr>
          <a:xfrm>
            <a:off x="4937760" y="2560320"/>
            <a:ext cx="3749040" cy="594360"/>
          </a:xfrm>
          <a:prstGeom prst="roundRect">
            <a:avLst>
              <a:gd name="adj" fmla="val 12308"/>
            </a:avLst>
          </a:prstGeom>
          <a:solidFill>
            <a:srgbClr val="F8FAFC"/>
          </a:solidFill>
          <a:ln w="9525">
            <a:solidFill>
              <a:srgbClr val="CBD5E1"/>
            </a:solidFill>
            <a:prstDash val="solid"/>
          </a:ln>
        </p:spPr>
        <p:txBody>
          <a:bodyPr/>
          <a:lstStyle/>
          <a:p>
            <a:endParaRPr/>
          </a:p>
        </p:txBody>
      </p:sp>
      <p:sp>
        <p:nvSpPr>
          <p:cNvPr id="24" name="Text 21"/>
          <p:cNvSpPr txBox="1"/>
          <p:nvPr/>
        </p:nvSpPr>
        <p:spPr>
          <a:xfrm>
            <a:off x="5074920" y="2560320"/>
            <a:ext cx="1371600" cy="594360"/>
          </a:xfrm>
          <a:prstGeom prst="rect">
            <a:avLst/>
          </a:prstGeom>
          <a:noFill/>
          <a:ln/>
        </p:spPr>
        <p:txBody>
          <a:bodyPr wrap="square" lIns="0" tIns="0" rIns="0" bIns="0" rtlCol="0" anchor="ctr"/>
          <a:lstStyle/>
          <a:p>
            <a:pPr marL="0" indent="0">
              <a:buNone/>
            </a:pPr>
            <a:r>
              <a:rPr lang="en-US" sz="2000" b="1" dirty="0">
                <a:solidFill>
                  <a:srgbClr val="41659E"/>
                </a:solidFill>
                <a:latin typeface="맑은 고딕" pitchFamily="34" charset="0"/>
                <a:ea typeface="맑은 고딕" pitchFamily="34" charset="-122"/>
                <a:cs typeface="맑은 고딕" pitchFamily="34" charset="-120"/>
              </a:rPr>
              <a:t>4 → 0</a:t>
            </a:r>
            <a:endParaRPr lang="en-US" sz="2000" dirty="0"/>
          </a:p>
        </p:txBody>
      </p:sp>
      <p:sp>
        <p:nvSpPr>
          <p:cNvPr id="25" name="Text 22"/>
          <p:cNvSpPr txBox="1"/>
          <p:nvPr/>
        </p:nvSpPr>
        <p:spPr>
          <a:xfrm>
            <a:off x="6446520" y="2560320"/>
            <a:ext cx="2194560" cy="594360"/>
          </a:xfrm>
          <a:prstGeom prst="rect">
            <a:avLst/>
          </a:prstGeom>
          <a:noFill/>
          <a:ln/>
        </p:spPr>
        <p:txBody>
          <a:bodyPr wrap="square" lIns="0" tIns="0" rIns="0" bIns="0" rtlCol="0" anchor="ctr"/>
          <a:lstStyle/>
          <a:p>
            <a:pPr marL="0" indent="0">
              <a:buNone/>
            </a:pPr>
            <a:r>
              <a:rPr lang="en-US" sz="1050" dirty="0">
                <a:solidFill>
                  <a:srgbClr val="1E293B"/>
                </a:solidFill>
                <a:latin typeface="맑은 고딕" pitchFamily="34" charset="0"/>
                <a:ea typeface="맑은 고딕" pitchFamily="34" charset="-122"/>
                <a:cs typeface="맑은 고딕" pitchFamily="34" charset="-120"/>
              </a:rPr>
              <a:t>지어낸 사실 (v3 → v4)</a:t>
            </a:r>
            <a:endParaRPr lang="en-US" sz="1050" dirty="0"/>
          </a:p>
        </p:txBody>
      </p:sp>
      <p:sp>
        <p:nvSpPr>
          <p:cNvPr id="26" name="Shape 23"/>
          <p:cNvSpPr/>
          <p:nvPr/>
        </p:nvSpPr>
        <p:spPr>
          <a:xfrm>
            <a:off x="4937760" y="3246120"/>
            <a:ext cx="3749040" cy="594360"/>
          </a:xfrm>
          <a:prstGeom prst="roundRect">
            <a:avLst>
              <a:gd name="adj" fmla="val 12308"/>
            </a:avLst>
          </a:prstGeom>
          <a:solidFill>
            <a:srgbClr val="F8FAFC"/>
          </a:solidFill>
          <a:ln w="9525">
            <a:solidFill>
              <a:srgbClr val="CBD5E1"/>
            </a:solidFill>
            <a:prstDash val="solid"/>
          </a:ln>
        </p:spPr>
        <p:txBody>
          <a:bodyPr/>
          <a:lstStyle/>
          <a:p>
            <a:endParaRPr/>
          </a:p>
        </p:txBody>
      </p:sp>
      <p:sp>
        <p:nvSpPr>
          <p:cNvPr id="27" name="Text 24"/>
          <p:cNvSpPr txBox="1"/>
          <p:nvPr/>
        </p:nvSpPr>
        <p:spPr>
          <a:xfrm>
            <a:off x="5074920" y="3246120"/>
            <a:ext cx="1371600" cy="594360"/>
          </a:xfrm>
          <a:prstGeom prst="rect">
            <a:avLst/>
          </a:prstGeom>
          <a:noFill/>
          <a:ln/>
        </p:spPr>
        <p:txBody>
          <a:bodyPr wrap="square" lIns="0" tIns="0" rIns="0" bIns="0" rtlCol="0" anchor="ctr"/>
          <a:lstStyle/>
          <a:p>
            <a:pPr marL="0" indent="0">
              <a:buNone/>
            </a:pPr>
            <a:r>
              <a:rPr lang="en-US" sz="2000" b="1" dirty="0">
                <a:solidFill>
                  <a:srgbClr val="41659E"/>
                </a:solidFill>
                <a:latin typeface="맑은 고딕" pitchFamily="34" charset="0"/>
                <a:ea typeface="맑은 고딕" pitchFamily="34" charset="-122"/>
                <a:cs typeface="맑은 고딕" pitchFamily="34" charset="-120"/>
              </a:rPr>
              <a:t>80 → 1</a:t>
            </a:r>
            <a:endParaRPr lang="en-US" sz="2000" dirty="0"/>
          </a:p>
        </p:txBody>
      </p:sp>
      <p:sp>
        <p:nvSpPr>
          <p:cNvPr id="28" name="Text 25"/>
          <p:cNvSpPr txBox="1"/>
          <p:nvPr/>
        </p:nvSpPr>
        <p:spPr>
          <a:xfrm>
            <a:off x="6446520" y="3246120"/>
            <a:ext cx="2194560" cy="594360"/>
          </a:xfrm>
          <a:prstGeom prst="rect">
            <a:avLst/>
          </a:prstGeom>
          <a:noFill/>
          <a:ln/>
        </p:spPr>
        <p:txBody>
          <a:bodyPr wrap="square" lIns="0" tIns="0" rIns="0" bIns="0" rtlCol="0" anchor="ctr"/>
          <a:lstStyle/>
          <a:p>
            <a:pPr marL="0" indent="0">
              <a:buNone/>
            </a:pPr>
            <a:r>
              <a:rPr lang="en-US" sz="1050" dirty="0">
                <a:solidFill>
                  <a:srgbClr val="1E293B"/>
                </a:solidFill>
                <a:latin typeface="맑은 고딕" pitchFamily="34" charset="0"/>
                <a:ea typeface="맑은 고딕" pitchFamily="34" charset="-122"/>
                <a:cs typeface="맑은 고딕" pitchFamily="34" charset="-120"/>
              </a:rPr>
              <a:t>뒤집힌 거절 문형 (v3 → v4)</a:t>
            </a:r>
            <a:endParaRPr lang="en-US" sz="1050" dirty="0"/>
          </a:p>
        </p:txBody>
      </p:sp>
      <p:sp>
        <p:nvSpPr>
          <p:cNvPr id="29" name="Shape 26"/>
          <p:cNvSpPr/>
          <p:nvPr/>
        </p:nvSpPr>
        <p:spPr>
          <a:xfrm>
            <a:off x="4937760" y="3931920"/>
            <a:ext cx="3749040" cy="594360"/>
          </a:xfrm>
          <a:prstGeom prst="roundRect">
            <a:avLst>
              <a:gd name="adj" fmla="val 12308"/>
            </a:avLst>
          </a:prstGeom>
          <a:solidFill>
            <a:srgbClr val="F8FAFC"/>
          </a:solidFill>
          <a:ln w="9525">
            <a:solidFill>
              <a:srgbClr val="CBD5E1"/>
            </a:solidFill>
            <a:prstDash val="solid"/>
          </a:ln>
        </p:spPr>
        <p:txBody>
          <a:bodyPr/>
          <a:lstStyle/>
          <a:p>
            <a:endParaRPr/>
          </a:p>
        </p:txBody>
      </p:sp>
      <p:sp>
        <p:nvSpPr>
          <p:cNvPr id="30" name="Text 27"/>
          <p:cNvSpPr txBox="1"/>
          <p:nvPr/>
        </p:nvSpPr>
        <p:spPr>
          <a:xfrm>
            <a:off x="5074920" y="3931920"/>
            <a:ext cx="1371600" cy="594360"/>
          </a:xfrm>
          <a:prstGeom prst="rect">
            <a:avLst/>
          </a:prstGeom>
          <a:noFill/>
          <a:ln/>
        </p:spPr>
        <p:txBody>
          <a:bodyPr wrap="square" lIns="0" tIns="0" rIns="0" bIns="0" rtlCol="0" anchor="ctr"/>
          <a:lstStyle/>
          <a:p>
            <a:pPr marL="0" indent="0">
              <a:buNone/>
            </a:pPr>
            <a:r>
              <a:rPr lang="en-US" sz="2000" b="1" dirty="0">
                <a:solidFill>
                  <a:srgbClr val="1B2A3A"/>
                </a:solidFill>
                <a:latin typeface="맑은 고딕" pitchFamily="34" charset="0"/>
                <a:ea typeface="맑은 고딕" pitchFamily="34" charset="-122"/>
                <a:cs typeface="맑은 고딕" pitchFamily="34" charset="-120"/>
              </a:rPr>
              <a:t>65%</a:t>
            </a:r>
            <a:endParaRPr lang="en-US" sz="2000" dirty="0"/>
          </a:p>
        </p:txBody>
      </p:sp>
      <p:sp>
        <p:nvSpPr>
          <p:cNvPr id="31" name="Text 28"/>
          <p:cNvSpPr txBox="1"/>
          <p:nvPr/>
        </p:nvSpPr>
        <p:spPr>
          <a:xfrm>
            <a:off x="6446520" y="3931920"/>
            <a:ext cx="2194560" cy="594360"/>
          </a:xfrm>
          <a:prstGeom prst="rect">
            <a:avLst/>
          </a:prstGeom>
          <a:noFill/>
          <a:ln/>
        </p:spPr>
        <p:txBody>
          <a:bodyPr wrap="square" lIns="0" tIns="0" rIns="0" bIns="0" rtlCol="0" anchor="ctr"/>
          <a:lstStyle/>
          <a:p>
            <a:pPr marL="0" indent="0">
              <a:buNone/>
            </a:pPr>
            <a:r>
              <a:rPr lang="en-US" sz="1050" dirty="0">
                <a:solidFill>
                  <a:srgbClr val="1E293B"/>
                </a:solidFill>
                <a:latin typeface="맑은 고딕" pitchFamily="34" charset="0"/>
                <a:ea typeface="맑은 고딕" pitchFamily="34" charset="-122"/>
                <a:cs typeface="맑은 고딕" pitchFamily="34" charset="-120"/>
              </a:rPr>
              <a:t>Judge 승률 vs Base 25% (참고)</a:t>
            </a:r>
            <a:endParaRPr lang="en-US" sz="1050" dirty="0"/>
          </a:p>
        </p:txBody>
      </p:sp>
      <p:sp>
        <p:nvSpPr>
          <p:cNvPr id="32" name="TextBox 31"/>
          <p:cNvSpPr txBox="1"/>
          <p:nvPr/>
        </p:nvSpPr>
        <p:spPr>
          <a:xfrm>
            <a:off x="8485632" y="4809744"/>
            <a:ext cx="457200" cy="182880"/>
          </a:xfrm>
          <a:prstGeom prst="rect">
            <a:avLst/>
          </a:prstGeom>
          <a:noFill/>
          <a:ln/>
        </p:spPr>
        <p:txBody>
          <a:bodyPr wrap="none" lIns="0" tIns="0" rIns="0" bIns="0">
            <a:spAutoFit/>
          </a:bodyPr>
          <a:lstStyle/>
          <a:p>
            <a:pPr algn="r"/>
            <a:r>
              <a:rPr sz="850">
                <a:solidFill>
                  <a:srgbClr val="94A3B8"/>
                </a:solidFill>
                <a:latin typeface="맑은 고딕"/>
                <a:ea typeface="맑은 고딕"/>
              </a:rPr>
              <a:t>18</a:t>
            </a:r>
          </a:p>
        </p:txBody>
      </p:sp>
      <p:sp>
        <p:nvSpPr>
          <p:cNvPr id="4" name="Text 4">
            <a:extLst>
              <a:ext uri="{FF2B5EF4-FFF2-40B4-BE49-F238E27FC236}">
                <a16:creationId xmlns:a16="http://schemas.microsoft.com/office/drawing/2014/main" id="{2F35FF54-1582-427F-477A-29FAB33134C0}"/>
              </a:ext>
            </a:extLst>
          </p:cNvPr>
          <p:cNvSpPr txBox="1"/>
          <p:nvPr/>
        </p:nvSpPr>
        <p:spPr>
          <a:xfrm>
            <a:off x="457200" y="330200"/>
            <a:ext cx="8229600" cy="355600"/>
          </a:xfrm>
          <a:prstGeom prst="rect">
            <a:avLst/>
          </a:prstGeom>
          <a:noFill/>
          <a:ln/>
        </p:spPr>
        <p:txBody>
          <a:bodyPr wrap="square" lIns="0" tIns="0" rIns="0" bIns="0" rtlCol="0" anchor="ctr"/>
          <a:lstStyle/>
          <a:p>
            <a:pPr marL="0" indent="0">
              <a:buNone/>
            </a:pPr>
            <a:r>
              <a:rPr lang="ko-KR" altLang="en-US" sz="2000" b="1" dirty="0">
                <a:solidFill>
                  <a:srgbClr val="1B2A3A"/>
                </a:solidFill>
                <a:latin typeface="맑은 고딕" pitchFamily="34" charset="0"/>
                <a:ea typeface="맑은 고딕" pitchFamily="34" charset="-122"/>
                <a:cs typeface="맑은 고딕" pitchFamily="34" charset="-120"/>
              </a:rPr>
              <a:t>대출 </a:t>
            </a:r>
            <a:r>
              <a:rPr lang="en-US" sz="2000" b="1" dirty="0" err="1">
                <a:solidFill>
                  <a:srgbClr val="1B2A3A"/>
                </a:solidFill>
                <a:latin typeface="맑은 고딕" pitchFamily="34" charset="0"/>
                <a:ea typeface="맑은 고딕" pitchFamily="34" charset="-122"/>
                <a:cs typeface="맑은 고딕" pitchFamily="34" charset="-120"/>
              </a:rPr>
              <a:t>모델</a:t>
            </a:r>
            <a:endParaRPr lang="en-US" sz="2000" dirty="0"/>
          </a:p>
        </p:txBody>
      </p:sp>
    </p:spTree>
    <p:extLst>
      <p:ext uri="{BB962C8B-B14F-4D97-AF65-F5344CB8AC3E}">
        <p14:creationId xmlns:p14="http://schemas.microsoft.com/office/powerpoint/2010/main" val="3425314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155448"/>
            <a:ext cx="5486400" cy="173736"/>
          </a:xfrm>
          <a:prstGeom prst="rect">
            <a:avLst/>
          </a:prstGeom>
          <a:noFill/>
          <a:ln/>
        </p:spPr>
        <p:txBody>
          <a:bodyPr wrap="square" lIns="0" tIns="0" rIns="0" bIns="0" rtlCol="0" anchor="ctr"/>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06  성능 검증  ·  cs-interest</a:t>
            </a:r>
            <a:endParaRPr lang="en-US" sz="1000" dirty="0"/>
          </a:p>
        </p:txBody>
      </p:sp>
      <p:sp>
        <p:nvSpPr>
          <p:cNvPr id="6" name="Shape 4"/>
          <p:cNvSpPr/>
          <p:nvPr/>
        </p:nvSpPr>
        <p:spPr>
          <a:xfrm>
            <a:off x="457200" y="1051560"/>
            <a:ext cx="4023360" cy="3291840"/>
          </a:xfrm>
          <a:prstGeom prst="roundRect">
            <a:avLst>
              <a:gd name="adj" fmla="val 2222"/>
            </a:avLst>
          </a:prstGeom>
          <a:solidFill>
            <a:srgbClr val="F8FAFC"/>
          </a:solidFill>
          <a:ln w="9525">
            <a:solidFill>
              <a:srgbClr val="CBD5E1"/>
            </a:solidFill>
            <a:prstDash val="solid"/>
          </a:ln>
        </p:spPr>
        <p:txBody>
          <a:bodyPr/>
          <a:lstStyle/>
          <a:p>
            <a:endParaRPr/>
          </a:p>
        </p:txBody>
      </p:sp>
      <p:sp>
        <p:nvSpPr>
          <p:cNvPr id="7" name="Text 5"/>
          <p:cNvSpPr txBox="1"/>
          <p:nvPr/>
        </p:nvSpPr>
        <p:spPr>
          <a:xfrm>
            <a:off x="640080" y="1143000"/>
            <a:ext cx="3657600" cy="274320"/>
          </a:xfrm>
          <a:prstGeom prst="rect">
            <a:avLst/>
          </a:prstGeom>
          <a:noFill/>
          <a:ln/>
        </p:spPr>
        <p:txBody>
          <a:bodyPr wrap="square" lIns="0" tIns="0" rIns="0" bIns="0" rtlCol="0" anchor="t"/>
          <a:lstStyle/>
          <a:p>
            <a:pPr marL="0" indent="0">
              <a:buNone/>
            </a:pPr>
            <a:r>
              <a:rPr lang="en-US" sz="1300" b="1" dirty="0">
                <a:solidFill>
                  <a:srgbClr val="41659E"/>
                </a:solidFill>
                <a:latin typeface="맑은 고딕" pitchFamily="34" charset="0"/>
                <a:ea typeface="맑은 고딕" pitchFamily="34" charset="-122"/>
                <a:cs typeface="맑은 고딕" pitchFamily="34" charset="-120"/>
              </a:rPr>
              <a:t>파인튜닝 요약</a:t>
            </a:r>
            <a:endParaRPr lang="en-US" sz="1300" dirty="0"/>
          </a:p>
        </p:txBody>
      </p:sp>
      <p:sp>
        <p:nvSpPr>
          <p:cNvPr id="8" name="Text 6"/>
          <p:cNvSpPr txBox="1"/>
          <p:nvPr/>
        </p:nvSpPr>
        <p:spPr>
          <a:xfrm>
            <a:off x="640080" y="1508760"/>
            <a:ext cx="3657600" cy="2651760"/>
          </a:xfrm>
          <a:prstGeom prst="rect">
            <a:avLst/>
          </a:prstGeom>
          <a:noFill/>
          <a:ln/>
        </p:spPr>
        <p:txBody>
          <a:bodyPr wrap="square" lIns="0" tIns="0" rIns="0" bIns="0" rtlCol="0" anchor="t"/>
          <a:lstStyle/>
          <a:p>
            <a:pPr marL="342900" indent="-342900">
              <a:spcAft>
                <a:spcPts val="500"/>
              </a:spcAft>
              <a:buSzPct val="100000"/>
              <a:buChar char="•"/>
            </a:pPr>
            <a:r>
              <a:rPr sz="950" b="1">
                <a:solidFill>
                  <a:srgbClr val="41659E"/>
                </a:solidFill>
                <a:latin typeface="맑은 고딕"/>
                <a:ea typeface="맑은 고딕"/>
              </a:rPr>
              <a:t>학습 데이터 </a:t>
            </a:r>
            <a:r>
              <a:rPr sz="950" b="0">
                <a:solidFill>
                  <a:srgbClr val="1E293B"/>
                </a:solidFill>
                <a:latin typeface="맑은 고딕"/>
                <a:ea typeface="맑은 고딕"/>
              </a:rPr>
              <a:t>AI Hub 답을 규칙에 맞게 고친 227건 + 합성 400 + 수동 123 = 750건(학습 618), 전부 사람 검수</a:t>
            </a:r>
            <a:endParaRPr lang="en-US" sz="1100" dirty="0"/>
          </a:p>
          <a:p>
            <a:pPr marL="342900" indent="-342900">
              <a:spcAft>
                <a:spcPts val="500"/>
              </a:spcAft>
              <a:buSzPct val="100000"/>
              <a:buChar char="•"/>
            </a:pPr>
            <a:r>
              <a:rPr sz="950" b="1">
                <a:solidFill>
                  <a:srgbClr val="41659E"/>
                </a:solidFill>
                <a:latin typeface="맑은 고딕"/>
                <a:ea typeface="맑은 고딕"/>
              </a:rPr>
              <a:t>학습 설정 </a:t>
            </a:r>
            <a:r>
              <a:rPr sz="950" b="0">
                <a:solidFill>
                  <a:srgbClr val="1E293B"/>
                </a:solidFill>
                <a:latin typeface="맑은 고딕"/>
                <a:ea typeface="맑은 고딕"/>
              </a:rPr>
              <a:t>Qwen3-4B(4bit) · LoRA r16/α32 · lr 1e-4 · 2 epoch(v07) · RTX 4060 8GB</a:t>
            </a:r>
            <a:endParaRPr lang="en-US" sz="1100" dirty="0"/>
          </a:p>
          <a:p>
            <a:pPr marL="342900" indent="-342900">
              <a:spcAft>
                <a:spcPts val="500"/>
              </a:spcAft>
              <a:buSzPct val="100000"/>
              <a:buChar char="•"/>
            </a:pPr>
            <a:r>
              <a:rPr sz="950" b="1">
                <a:solidFill>
                  <a:srgbClr val="41659E"/>
                </a:solidFill>
                <a:latin typeface="맑은 고딕"/>
                <a:ea typeface="맑은 고딕"/>
              </a:rPr>
              <a:t>버전별 변화 </a:t>
            </a:r>
            <a:r>
              <a:rPr sz="950" b="0">
                <a:solidFill>
                  <a:srgbClr val="1E293B"/>
                </a:solidFill>
                <a:latin typeface="맑은 고딕"/>
                <a:ea typeface="맑은 고딕"/>
              </a:rPr>
              <a:t>v01 금리 지어냄 → v03 86%(Base 64%) → v05 약점 보강 → v07 AI Hub 수정본 추가, 서비스 채택</a:t>
            </a:r>
            <a:endParaRPr lang="en-US" sz="1100" dirty="0"/>
          </a:p>
          <a:p>
            <a:pPr marL="342900" indent="-342900">
              <a:spcAft>
                <a:spcPts val="500"/>
              </a:spcAft>
              <a:buSzPct val="100000"/>
              <a:buChar char="•"/>
            </a:pPr>
            <a:r>
              <a:rPr sz="950" b="1">
                <a:solidFill>
                  <a:srgbClr val="41659E"/>
                </a:solidFill>
                <a:latin typeface="맑은 고딕"/>
                <a:ea typeface="맑은 고딕"/>
              </a:rPr>
              <a:t>핵심 발견 </a:t>
            </a:r>
            <a:r>
              <a:rPr sz="950" b="0">
                <a:solidFill>
                  <a:srgbClr val="1E293B"/>
                </a:solidFill>
                <a:latin typeface="맑은 고딕"/>
                <a:ea typeface="맑은 고딕"/>
              </a:rPr>
              <a:t>설정보다 정답 데이터가 행동을 바꾼다. 남은 위험 표현은 출력 검증기가 기본 문장으로 막는다</a:t>
            </a:r>
            <a:endParaRPr lang="en-US" sz="1100" dirty="0"/>
          </a:p>
          <a:p>
            <a:pPr marL="342900" indent="-342900">
              <a:spcAft>
                <a:spcPts val="500"/>
              </a:spcAft>
              <a:buSzPct val="100000"/>
              <a:buChar char="•"/>
            </a:pPr>
            <a:r>
              <a:rPr sz="950" b="1">
                <a:solidFill>
                  <a:srgbClr val="41659E"/>
                </a:solidFill>
                <a:latin typeface="맑은 고딕"/>
                <a:ea typeface="맑은 고딕"/>
              </a:rPr>
              <a:t>실서비스 테스트 </a:t>
            </a:r>
            <a:r>
              <a:rPr sz="950" b="0">
                <a:solidFill>
                  <a:srgbClr val="1E293B"/>
                </a:solidFill>
                <a:latin typeface="맑은 고딕"/>
                <a:ea typeface="맑은 고딕"/>
              </a:rPr>
              <a:t>(9/30, v07) 응답 0.6~6.2초, 연체 금액 · 납부일 정확, 삭제 요청은 기본 문장 + 상담원 안내</a:t>
            </a:r>
            <a:endParaRPr lang="en-US" sz="1100" dirty="0"/>
          </a:p>
        </p:txBody>
      </p:sp>
      <p:sp>
        <p:nvSpPr>
          <p:cNvPr id="9" name="Shape 7"/>
          <p:cNvSpPr/>
          <p:nvPr/>
        </p:nvSpPr>
        <p:spPr>
          <a:xfrm>
            <a:off x="4663440" y="1051560"/>
            <a:ext cx="4023360" cy="3291840"/>
          </a:xfrm>
          <a:prstGeom prst="roundRect">
            <a:avLst>
              <a:gd name="adj" fmla="val 2222"/>
            </a:avLst>
          </a:prstGeom>
          <a:solidFill>
            <a:srgbClr val="F8FAFC"/>
          </a:solidFill>
          <a:ln w="9525">
            <a:solidFill>
              <a:srgbClr val="CBD5E1"/>
            </a:solidFill>
            <a:prstDash val="solid"/>
          </a:ln>
        </p:spPr>
        <p:txBody>
          <a:bodyPr/>
          <a:lstStyle/>
          <a:p>
            <a:endParaRPr/>
          </a:p>
        </p:txBody>
      </p:sp>
      <p:sp>
        <p:nvSpPr>
          <p:cNvPr id="10" name="Text 8"/>
          <p:cNvSpPr txBox="1"/>
          <p:nvPr/>
        </p:nvSpPr>
        <p:spPr>
          <a:xfrm>
            <a:off x="4846320" y="1143000"/>
            <a:ext cx="3657600" cy="274320"/>
          </a:xfrm>
          <a:prstGeom prst="rect">
            <a:avLst/>
          </a:prstGeom>
          <a:noFill/>
          <a:ln/>
        </p:spPr>
        <p:txBody>
          <a:bodyPr wrap="square" lIns="0" tIns="0" rIns="0" bIns="0" rtlCol="0" anchor="t"/>
          <a:lstStyle/>
          <a:p>
            <a:pPr marL="0" indent="0">
              <a:buNone/>
            </a:pPr>
            <a:r>
              <a:rPr lang="en-US" sz="1300" b="1" dirty="0">
                <a:solidFill>
                  <a:srgbClr val="41659E"/>
                </a:solidFill>
                <a:latin typeface="맑은 고딕" pitchFamily="34" charset="0"/>
                <a:ea typeface="맑은 고딕" pitchFamily="34" charset="-122"/>
                <a:cs typeface="맑은 고딕" pitchFamily="34" charset="-120"/>
              </a:rPr>
              <a:t>평가 결과</a:t>
            </a:r>
            <a:endParaRPr lang="en-US" sz="1300" dirty="0"/>
          </a:p>
        </p:txBody>
      </p:sp>
      <p:sp>
        <p:nvSpPr>
          <p:cNvPr id="12" name="Text 10"/>
          <p:cNvSpPr txBox="1"/>
          <p:nvPr/>
        </p:nvSpPr>
        <p:spPr>
          <a:xfrm>
            <a:off x="4846320" y="3840480"/>
            <a:ext cx="3657600" cy="365760"/>
          </a:xfrm>
          <a:prstGeom prst="rect">
            <a:avLst/>
          </a:prstGeom>
          <a:noFill/>
          <a:ln/>
        </p:spPr>
        <p:txBody>
          <a:bodyPr wrap="square" lIns="0" tIns="0" rIns="0" bIns="0" rtlCol="0" anchor="t"/>
          <a:lstStyle/>
          <a:p>
            <a:pPr marL="0" indent="0">
              <a:buNone/>
            </a:pPr>
            <a:r>
              <a:rPr lang="en-US" sz="1100" b="1" dirty="0">
                <a:solidFill>
                  <a:srgbClr val="1E293B"/>
                </a:solidFill>
                <a:latin typeface="맑은 고딕" pitchFamily="34" charset="0"/>
                <a:ea typeface="맑은 고딕" pitchFamily="34" charset="-122"/>
                <a:cs typeface="맑은 고딕" pitchFamily="34" charset="-120"/>
              </a:rPr>
              <a:t>한 줄 결론: v07 채택, 금지 표현 31% → 0.8%</a:t>
            </a:r>
            <a:endParaRPr lang="en-US" sz="1100" dirty="0"/>
          </a:p>
        </p:txBody>
      </p:sp>
      <p:graphicFrame>
        <p:nvGraphicFramePr>
          <p:cNvPr id="13" name="Chart 12"/>
          <p:cNvGraphicFramePr>
            <a:graphicFrameLocks noGrp="1"/>
          </p:cNvGraphicFramePr>
          <p:nvPr/>
        </p:nvGraphicFramePr>
        <p:xfrm>
          <a:off x="4846320" y="1508760"/>
          <a:ext cx="3657600" cy="1874519"/>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p:cNvSpPr txBox="1"/>
          <p:nvPr/>
        </p:nvSpPr>
        <p:spPr>
          <a:xfrm>
            <a:off x="4846320" y="3429000"/>
            <a:ext cx="3657600" cy="365760"/>
          </a:xfrm>
          <a:prstGeom prst="rect">
            <a:avLst/>
          </a:prstGeom>
          <a:noFill/>
          <a:ln/>
        </p:spPr>
        <p:txBody>
          <a:bodyPr wrap="square" lIns="0" tIns="0" rIns="0" bIns="0">
            <a:spAutoFit/>
          </a:bodyPr>
          <a:lstStyle/>
          <a:p>
            <a:r>
              <a:rPr sz="900" b="0">
                <a:solidFill>
                  <a:srgbClr val="64748B"/>
                </a:solidFill>
                <a:latin typeface="맑은 고딕"/>
                <a:ea typeface="맑은 고딕"/>
              </a:rPr>
              <a:t>금지 표현 (질문 119)  31.1% → 0.8%</a:t>
            </a:r>
          </a:p>
        </p:txBody>
      </p:sp>
      <p:sp>
        <p:nvSpPr>
          <p:cNvPr id="15" name="TextBox 14"/>
          <p:cNvSpPr txBox="1"/>
          <p:nvPr/>
        </p:nvSpPr>
        <p:spPr>
          <a:xfrm>
            <a:off x="8485632" y="4809744"/>
            <a:ext cx="457200" cy="182880"/>
          </a:xfrm>
          <a:prstGeom prst="rect">
            <a:avLst/>
          </a:prstGeom>
          <a:noFill/>
          <a:ln/>
        </p:spPr>
        <p:txBody>
          <a:bodyPr wrap="none" lIns="0" tIns="0" rIns="0" bIns="0">
            <a:spAutoFit/>
          </a:bodyPr>
          <a:lstStyle/>
          <a:p>
            <a:pPr algn="r"/>
            <a:r>
              <a:rPr sz="850">
                <a:solidFill>
                  <a:srgbClr val="94A3B8"/>
                </a:solidFill>
                <a:latin typeface="맑은 고딕"/>
              </a:rPr>
              <a:t>19</a:t>
            </a:r>
          </a:p>
        </p:txBody>
      </p:sp>
      <p:sp>
        <p:nvSpPr>
          <p:cNvPr id="4" name="Text 4">
            <a:extLst>
              <a:ext uri="{FF2B5EF4-FFF2-40B4-BE49-F238E27FC236}">
                <a16:creationId xmlns:a16="http://schemas.microsoft.com/office/drawing/2014/main" id="{F9784D37-7C3E-E92B-6525-B8A42001D5EA}"/>
              </a:ext>
            </a:extLst>
          </p:cNvPr>
          <p:cNvSpPr txBox="1"/>
          <p:nvPr/>
        </p:nvSpPr>
        <p:spPr>
          <a:xfrm>
            <a:off x="457200" y="330200"/>
            <a:ext cx="8229600" cy="355600"/>
          </a:xfrm>
          <a:prstGeom prst="rect">
            <a:avLst/>
          </a:prstGeom>
          <a:noFill/>
          <a:ln/>
        </p:spPr>
        <p:txBody>
          <a:bodyPr wrap="square" lIns="0" tIns="0" rIns="0" bIns="0" rtlCol="0" anchor="ctr"/>
          <a:lstStyle/>
          <a:p>
            <a:pPr marL="0" indent="0">
              <a:buNone/>
            </a:pPr>
            <a:r>
              <a:rPr lang="ko-KR" altLang="en-US" sz="2000" b="1" dirty="0">
                <a:solidFill>
                  <a:srgbClr val="1B2A3A"/>
                </a:solidFill>
                <a:latin typeface="맑은 고딕" pitchFamily="34" charset="0"/>
                <a:ea typeface="맑은 고딕" pitchFamily="34" charset="-122"/>
                <a:cs typeface="맑은 고딕" pitchFamily="34" charset="-120"/>
              </a:rPr>
              <a:t>이자 </a:t>
            </a:r>
            <a:r>
              <a:rPr lang="en-US" sz="2000" b="1" dirty="0" err="1">
                <a:solidFill>
                  <a:srgbClr val="1B2A3A"/>
                </a:solidFill>
                <a:latin typeface="맑은 고딕" pitchFamily="34" charset="0"/>
                <a:ea typeface="맑은 고딕" pitchFamily="34" charset="-122"/>
                <a:cs typeface="맑은 고딕" pitchFamily="34" charset="-120"/>
              </a:rPr>
              <a:t>모델</a:t>
            </a:r>
            <a:endParaRPr lang="en-US" sz="2000" dirty="0"/>
          </a:p>
        </p:txBody>
      </p:sp>
    </p:spTree>
    <p:extLst>
      <p:ext uri="{BB962C8B-B14F-4D97-AF65-F5344CB8AC3E}">
        <p14:creationId xmlns:p14="http://schemas.microsoft.com/office/powerpoint/2010/main" val="3422540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52400"/>
            <a:ext cx="4572000" cy="177800"/>
          </a:xfrm>
          <a:prstGeom prst="rect">
            <a:avLst/>
          </a:prstGeom>
          <a:noFill/>
          <a:ln/>
        </p:spPr>
        <p:txBody>
          <a:bodyPr wrap="square" lIns="0" tIns="0" rIns="0" bIns="0" rtlCol="0" anchor="t"/>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06  성능 검증</a:t>
            </a:r>
            <a:endParaRPr lang="en-US" sz="900" dirty="0"/>
          </a:p>
        </p:txBody>
      </p:sp>
      <p:sp>
        <p:nvSpPr>
          <p:cNvPr id="6" name="Text 4"/>
          <p:cNvSpPr txBox="1"/>
          <p:nvPr/>
        </p:nvSpPr>
        <p:spPr>
          <a:xfrm>
            <a:off x="457200" y="330200"/>
            <a:ext cx="8229600" cy="355600"/>
          </a:xfrm>
          <a:prstGeom prst="rect">
            <a:avLst/>
          </a:prstGeom>
          <a:noFill/>
          <a:ln/>
        </p:spPr>
        <p:txBody>
          <a:bodyPr wrap="square" lIns="0" tIns="0" rIns="0" bIns="0" rtlCol="0" anchor="ctr"/>
          <a:lstStyle/>
          <a:p>
            <a:pPr marL="0" indent="0">
              <a:buNone/>
            </a:pPr>
            <a:r>
              <a:rPr lang="en-US" sz="2000" b="1" dirty="0">
                <a:solidFill>
                  <a:srgbClr val="1B2A3A"/>
                </a:solidFill>
                <a:latin typeface="맑은 고딕" pitchFamily="34" charset="0"/>
                <a:ea typeface="맑은 고딕" pitchFamily="34" charset="-122"/>
                <a:cs typeface="맑은 고딕" pitchFamily="34" charset="-120"/>
              </a:rPr>
              <a:t>최종 평가</a:t>
            </a:r>
            <a:endParaRPr lang="en-US" sz="2000" dirty="0"/>
          </a:p>
        </p:txBody>
      </p:sp>
      <p:sp>
        <p:nvSpPr>
          <p:cNvPr id="8" name="Text 6"/>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20</a:t>
            </a:r>
            <a:endParaRPr lang="en-US" sz="850" dirty="0"/>
          </a:p>
        </p:txBody>
      </p:sp>
      <p:sp>
        <p:nvSpPr>
          <p:cNvPr id="10" name="Shape 7"/>
          <p:cNvSpPr/>
          <p:nvPr/>
        </p:nvSpPr>
        <p:spPr>
          <a:xfrm>
            <a:off x="457200" y="1316286"/>
            <a:ext cx="1261872" cy="1463040"/>
          </a:xfrm>
          <a:prstGeom prst="roundRect">
            <a:avLst>
              <a:gd name="adj" fmla="val 5797"/>
            </a:avLst>
          </a:prstGeom>
          <a:solidFill>
            <a:srgbClr val="FDECC8"/>
          </a:solidFill>
          <a:ln w="12700">
            <a:solidFill>
              <a:srgbClr val="FDECC8"/>
            </a:solidFill>
            <a:prstDash val="solid"/>
          </a:ln>
        </p:spPr>
        <p:txBody>
          <a:bodyPr/>
          <a:lstStyle/>
          <a:p>
            <a:endParaRPr lang="ko-KR" altLang="en-US"/>
          </a:p>
        </p:txBody>
      </p:sp>
      <p:pic>
        <p:nvPicPr>
          <p:cNvPr id="11" name="Image 0" descr="preencoded.png"/>
          <p:cNvPicPr>
            <a:picLocks noChangeAspect="1"/>
          </p:cNvPicPr>
          <p:nvPr/>
        </p:nvPicPr>
        <p:blipFill>
          <a:blip r:embed="rId3"/>
          <a:stretch>
            <a:fillRect/>
          </a:stretch>
        </p:blipFill>
        <p:spPr>
          <a:xfrm>
            <a:off x="914400" y="1444302"/>
            <a:ext cx="347472" cy="347472"/>
          </a:xfrm>
          <a:prstGeom prst="rect">
            <a:avLst/>
          </a:prstGeom>
        </p:spPr>
      </p:pic>
      <p:sp>
        <p:nvSpPr>
          <p:cNvPr id="12" name="Text 8"/>
          <p:cNvSpPr txBox="1"/>
          <p:nvPr/>
        </p:nvSpPr>
        <p:spPr>
          <a:xfrm>
            <a:off x="502920" y="1864926"/>
            <a:ext cx="1170432"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맑은 고딕" pitchFamily="34" charset="0"/>
                <a:ea typeface="맑은 고딕" pitchFamily="34" charset="-122"/>
                <a:cs typeface="맑은 고딕" pitchFamily="34" charset="-120"/>
              </a:rPr>
              <a:t>1. 라우팅 90%</a:t>
            </a:r>
            <a:endParaRPr lang="en-US" sz="1050" dirty="0"/>
          </a:p>
        </p:txBody>
      </p:sp>
      <p:sp>
        <p:nvSpPr>
          <p:cNvPr id="13" name="Text 9"/>
          <p:cNvSpPr txBox="1"/>
          <p:nvPr/>
        </p:nvSpPr>
        <p:spPr>
          <a:xfrm>
            <a:off x="502920" y="2276406"/>
            <a:ext cx="1170432" cy="365760"/>
          </a:xfrm>
          <a:prstGeom prst="rect">
            <a:avLst/>
          </a:prstGeom>
          <a:noFill/>
          <a:ln/>
        </p:spPr>
        <p:txBody>
          <a:bodyPr wrap="square" lIns="0" tIns="0" rIns="0" bIns="0" rtlCol="0" anchor="ctr"/>
          <a:lstStyle/>
          <a:p>
            <a:pPr marL="0" indent="0" algn="ctr">
              <a:buNone/>
            </a:pPr>
            <a:r>
              <a:rPr lang="en-US" sz="1050" b="1" dirty="0">
                <a:solidFill>
                  <a:srgbClr val="B45309"/>
                </a:solidFill>
                <a:latin typeface="맑은 고딕" pitchFamily="34" charset="0"/>
                <a:ea typeface="맑은 고딕" pitchFamily="34" charset="-122"/>
                <a:cs typeface="맑은 고딕" pitchFamily="34" charset="-120"/>
              </a:rPr>
              <a:t>81.9% · 미달</a:t>
            </a:r>
            <a:endParaRPr lang="en-US" sz="1050" dirty="0"/>
          </a:p>
        </p:txBody>
      </p:sp>
      <p:sp>
        <p:nvSpPr>
          <p:cNvPr id="14" name="Shape 10"/>
          <p:cNvSpPr/>
          <p:nvPr/>
        </p:nvSpPr>
        <p:spPr>
          <a:xfrm>
            <a:off x="1828800" y="1316286"/>
            <a:ext cx="1261872" cy="1463040"/>
          </a:xfrm>
          <a:prstGeom prst="roundRect">
            <a:avLst>
              <a:gd name="adj" fmla="val 5797"/>
            </a:avLst>
          </a:prstGeom>
          <a:solidFill>
            <a:srgbClr val="DCE8F6"/>
          </a:solidFill>
          <a:ln w="12700">
            <a:solidFill>
              <a:srgbClr val="DCE8F6"/>
            </a:solidFill>
            <a:prstDash val="solid"/>
          </a:ln>
        </p:spPr>
        <p:txBody>
          <a:bodyPr/>
          <a:lstStyle/>
          <a:p>
            <a:endParaRPr lang="ko-KR" altLang="en-US"/>
          </a:p>
        </p:txBody>
      </p:sp>
      <p:pic>
        <p:nvPicPr>
          <p:cNvPr id="15" name="Image 1" descr="preencoded.png"/>
          <p:cNvPicPr>
            <a:picLocks noChangeAspect="1"/>
          </p:cNvPicPr>
          <p:nvPr/>
        </p:nvPicPr>
        <p:blipFill>
          <a:blip r:embed="rId4"/>
          <a:stretch>
            <a:fillRect/>
          </a:stretch>
        </p:blipFill>
        <p:spPr>
          <a:xfrm>
            <a:off x="2286000" y="1444302"/>
            <a:ext cx="347472" cy="347472"/>
          </a:xfrm>
          <a:prstGeom prst="rect">
            <a:avLst/>
          </a:prstGeom>
        </p:spPr>
      </p:pic>
      <p:sp>
        <p:nvSpPr>
          <p:cNvPr id="16" name="Text 11"/>
          <p:cNvSpPr txBox="1"/>
          <p:nvPr/>
        </p:nvSpPr>
        <p:spPr>
          <a:xfrm>
            <a:off x="1874520" y="1864926"/>
            <a:ext cx="1170432"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맑은 고딕" pitchFamily="34" charset="0"/>
                <a:ea typeface="맑은 고딕" pitchFamily="34" charset="-122"/>
                <a:cs typeface="맑은 고딕" pitchFamily="34" charset="-120"/>
              </a:rPr>
              <a:t>2. 복합 되묻기</a:t>
            </a:r>
            <a:endParaRPr lang="en-US" sz="1050" dirty="0"/>
          </a:p>
        </p:txBody>
      </p:sp>
      <p:sp>
        <p:nvSpPr>
          <p:cNvPr id="17" name="Text 12"/>
          <p:cNvSpPr txBox="1"/>
          <p:nvPr/>
        </p:nvSpPr>
        <p:spPr>
          <a:xfrm>
            <a:off x="1874520" y="2276406"/>
            <a:ext cx="1170432" cy="365760"/>
          </a:xfrm>
          <a:prstGeom prst="rect">
            <a:avLst/>
          </a:prstGeom>
          <a:noFill/>
          <a:ln/>
        </p:spPr>
        <p:txBody>
          <a:bodyPr wrap="square" lIns="0" tIns="0" rIns="0" bIns="0" rtlCol="0" anchor="ctr"/>
          <a:lstStyle/>
          <a:p>
            <a:pPr marL="0" indent="0" algn="ctr">
              <a:buNone/>
            </a:pPr>
            <a:r>
              <a:rPr lang="en-US" sz="1050" b="1" dirty="0">
                <a:solidFill>
                  <a:srgbClr val="41659E"/>
                </a:solidFill>
                <a:latin typeface="맑은 고딕" pitchFamily="34" charset="0"/>
                <a:ea typeface="맑은 고딕" pitchFamily="34" charset="-122"/>
                <a:cs typeface="맑은 고딕" pitchFamily="34" charset="-120"/>
              </a:rPr>
              <a:t>충족</a:t>
            </a:r>
            <a:endParaRPr lang="en-US" sz="1050" dirty="0"/>
          </a:p>
        </p:txBody>
      </p:sp>
      <p:sp>
        <p:nvSpPr>
          <p:cNvPr id="18" name="Shape 13"/>
          <p:cNvSpPr/>
          <p:nvPr/>
        </p:nvSpPr>
        <p:spPr>
          <a:xfrm>
            <a:off x="3200400" y="1316286"/>
            <a:ext cx="1261872" cy="1463040"/>
          </a:xfrm>
          <a:prstGeom prst="roundRect">
            <a:avLst>
              <a:gd name="adj" fmla="val 5797"/>
            </a:avLst>
          </a:prstGeom>
          <a:solidFill>
            <a:srgbClr val="FDECC8"/>
          </a:solidFill>
          <a:ln w="12700">
            <a:solidFill>
              <a:srgbClr val="FDECC8"/>
            </a:solidFill>
            <a:prstDash val="solid"/>
          </a:ln>
        </p:spPr>
        <p:txBody>
          <a:bodyPr/>
          <a:lstStyle/>
          <a:p>
            <a:endParaRPr lang="ko-KR" altLang="en-US"/>
          </a:p>
        </p:txBody>
      </p:sp>
      <p:pic>
        <p:nvPicPr>
          <p:cNvPr id="19" name="Image 2" descr="preencoded.png"/>
          <p:cNvPicPr>
            <a:picLocks noChangeAspect="1"/>
          </p:cNvPicPr>
          <p:nvPr/>
        </p:nvPicPr>
        <p:blipFill>
          <a:blip r:embed="rId3"/>
          <a:stretch>
            <a:fillRect/>
          </a:stretch>
        </p:blipFill>
        <p:spPr>
          <a:xfrm>
            <a:off x="3657600" y="1444302"/>
            <a:ext cx="347472" cy="347472"/>
          </a:xfrm>
          <a:prstGeom prst="rect">
            <a:avLst/>
          </a:prstGeom>
        </p:spPr>
      </p:pic>
      <p:sp>
        <p:nvSpPr>
          <p:cNvPr id="20" name="Text 14"/>
          <p:cNvSpPr txBox="1"/>
          <p:nvPr/>
        </p:nvSpPr>
        <p:spPr>
          <a:xfrm>
            <a:off x="3246120" y="1864926"/>
            <a:ext cx="1170432"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맑은 고딕" pitchFamily="34" charset="0"/>
                <a:ea typeface="맑은 고딕" pitchFamily="34" charset="-122"/>
                <a:cs typeface="맑은 고딕" pitchFamily="34" charset="-120"/>
              </a:rPr>
              <a:t>3. 답변 27/30</a:t>
            </a:r>
            <a:endParaRPr lang="en-US" sz="1050" dirty="0"/>
          </a:p>
        </p:txBody>
      </p:sp>
      <p:sp>
        <p:nvSpPr>
          <p:cNvPr id="21" name="Text 15"/>
          <p:cNvSpPr txBox="1"/>
          <p:nvPr/>
        </p:nvSpPr>
        <p:spPr>
          <a:xfrm>
            <a:off x="3246120" y="2276406"/>
            <a:ext cx="1170432" cy="365760"/>
          </a:xfrm>
          <a:prstGeom prst="rect">
            <a:avLst/>
          </a:prstGeom>
          <a:noFill/>
          <a:ln/>
        </p:spPr>
        <p:txBody>
          <a:bodyPr wrap="square" lIns="0" tIns="0" rIns="0" bIns="0" rtlCol="0" anchor="ctr"/>
          <a:lstStyle/>
          <a:p>
            <a:pPr marL="0" indent="0" algn="ctr">
              <a:buNone/>
            </a:pPr>
            <a:r>
              <a:rPr lang="en-US" sz="1050" b="1" dirty="0">
                <a:solidFill>
                  <a:srgbClr val="B45309"/>
                </a:solidFill>
                <a:latin typeface="맑은 고딕" pitchFamily="34" charset="0"/>
                <a:ea typeface="맑은 고딕" pitchFamily="34" charset="-122"/>
                <a:cs typeface="맑은 고딕" pitchFamily="34" charset="-120"/>
              </a:rPr>
              <a:t>TBD</a:t>
            </a:r>
            <a:endParaRPr lang="en-US" sz="1050" dirty="0"/>
          </a:p>
        </p:txBody>
      </p:sp>
      <p:sp>
        <p:nvSpPr>
          <p:cNvPr id="22" name="Shape 16"/>
          <p:cNvSpPr/>
          <p:nvPr/>
        </p:nvSpPr>
        <p:spPr>
          <a:xfrm>
            <a:off x="4572000" y="2916486"/>
            <a:ext cx="1261872" cy="1463040"/>
          </a:xfrm>
          <a:prstGeom prst="roundRect">
            <a:avLst>
              <a:gd name="adj" fmla="val 5797"/>
            </a:avLst>
          </a:prstGeom>
          <a:solidFill>
            <a:srgbClr val="F1F5F9"/>
          </a:solidFill>
          <a:ln w="12700">
            <a:solidFill>
              <a:srgbClr val="F1F5F9"/>
            </a:solidFill>
            <a:prstDash val="solid"/>
          </a:ln>
        </p:spPr>
        <p:txBody>
          <a:bodyPr/>
          <a:lstStyle/>
          <a:p>
            <a:endParaRPr lang="ko-KR" altLang="en-US"/>
          </a:p>
        </p:txBody>
      </p:sp>
      <p:pic>
        <p:nvPicPr>
          <p:cNvPr id="23" name="Image 3" descr="preencoded.png"/>
          <p:cNvPicPr>
            <a:picLocks noChangeAspect="1"/>
          </p:cNvPicPr>
          <p:nvPr/>
        </p:nvPicPr>
        <p:blipFill>
          <a:blip r:embed="rId5"/>
          <a:stretch>
            <a:fillRect/>
          </a:stretch>
        </p:blipFill>
        <p:spPr>
          <a:xfrm>
            <a:off x="5029200" y="3044502"/>
            <a:ext cx="347472" cy="347472"/>
          </a:xfrm>
          <a:prstGeom prst="rect">
            <a:avLst/>
          </a:prstGeom>
        </p:spPr>
      </p:pic>
      <p:sp>
        <p:nvSpPr>
          <p:cNvPr id="24" name="Text 17"/>
          <p:cNvSpPr txBox="1"/>
          <p:nvPr/>
        </p:nvSpPr>
        <p:spPr>
          <a:xfrm>
            <a:off x="4617720" y="3465126"/>
            <a:ext cx="1170432"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맑은 고딕" pitchFamily="34" charset="0"/>
                <a:ea typeface="맑은 고딕" pitchFamily="34" charset="-122"/>
                <a:cs typeface="맑은 고딕" pitchFamily="34" charset="-120"/>
              </a:rPr>
              <a:t>8. 지어냄 0건</a:t>
            </a:r>
            <a:endParaRPr lang="en-US" sz="1050" dirty="0"/>
          </a:p>
        </p:txBody>
      </p:sp>
      <p:sp>
        <p:nvSpPr>
          <p:cNvPr id="25" name="Text 18"/>
          <p:cNvSpPr txBox="1"/>
          <p:nvPr/>
        </p:nvSpPr>
        <p:spPr>
          <a:xfrm>
            <a:off x="4617720" y="3876606"/>
            <a:ext cx="1170432" cy="365760"/>
          </a:xfrm>
          <a:prstGeom prst="rect">
            <a:avLst/>
          </a:prstGeom>
          <a:noFill/>
          <a:ln/>
        </p:spPr>
        <p:txBody>
          <a:bodyPr wrap="square" lIns="0" tIns="0" rIns="0" bIns="0" rtlCol="0" anchor="ctr"/>
          <a:lstStyle/>
          <a:p>
            <a:pPr marL="0" indent="0" algn="ctr">
              <a:buNone/>
            </a:pPr>
            <a:r>
              <a:rPr lang="en-US" sz="1050" b="1" dirty="0">
                <a:solidFill>
                  <a:srgbClr val="2C3E50"/>
                </a:solidFill>
                <a:latin typeface="맑은 고딕" pitchFamily="34" charset="0"/>
                <a:ea typeface="맑은 고딕" pitchFamily="34" charset="-122"/>
                <a:cs typeface="맑은 고딕" pitchFamily="34" charset="-120"/>
              </a:rPr>
              <a:t>검증기 차단</a:t>
            </a:r>
            <a:endParaRPr lang="en-US" sz="1050" dirty="0"/>
          </a:p>
        </p:txBody>
      </p:sp>
      <p:sp>
        <p:nvSpPr>
          <p:cNvPr id="26" name="Shape 19"/>
          <p:cNvSpPr/>
          <p:nvPr/>
        </p:nvSpPr>
        <p:spPr>
          <a:xfrm>
            <a:off x="457200" y="2916486"/>
            <a:ext cx="1261872" cy="1463040"/>
          </a:xfrm>
          <a:prstGeom prst="roundRect">
            <a:avLst>
              <a:gd name="adj" fmla="val 5797"/>
            </a:avLst>
          </a:prstGeom>
          <a:solidFill>
            <a:srgbClr val="F1F5F9"/>
          </a:solidFill>
          <a:ln w="12700">
            <a:solidFill>
              <a:srgbClr val="F1F5F9"/>
            </a:solidFill>
            <a:prstDash val="solid"/>
          </a:ln>
        </p:spPr>
        <p:txBody>
          <a:bodyPr/>
          <a:lstStyle/>
          <a:p>
            <a:endParaRPr lang="ko-KR" altLang="en-US"/>
          </a:p>
        </p:txBody>
      </p:sp>
      <p:pic>
        <p:nvPicPr>
          <p:cNvPr id="27" name="Image 4" descr="preencoded.png"/>
          <p:cNvPicPr>
            <a:picLocks noChangeAspect="1"/>
          </p:cNvPicPr>
          <p:nvPr/>
        </p:nvPicPr>
        <p:blipFill>
          <a:blip r:embed="rId5"/>
          <a:stretch>
            <a:fillRect/>
          </a:stretch>
        </p:blipFill>
        <p:spPr>
          <a:xfrm>
            <a:off x="914400" y="3044502"/>
            <a:ext cx="347472" cy="347472"/>
          </a:xfrm>
          <a:prstGeom prst="rect">
            <a:avLst/>
          </a:prstGeom>
        </p:spPr>
      </p:pic>
      <p:sp>
        <p:nvSpPr>
          <p:cNvPr id="28" name="Text 20"/>
          <p:cNvSpPr txBox="1"/>
          <p:nvPr/>
        </p:nvSpPr>
        <p:spPr>
          <a:xfrm>
            <a:off x="502920" y="3465125"/>
            <a:ext cx="1170432"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맑은 고딕" pitchFamily="34" charset="0"/>
                <a:ea typeface="맑은 고딕" pitchFamily="34" charset="-122"/>
                <a:cs typeface="맑은 고딕" pitchFamily="34" charset="-120"/>
              </a:rPr>
              <a:t>5. 마스킹 0건</a:t>
            </a:r>
            <a:endParaRPr lang="en-US" sz="1050" dirty="0"/>
          </a:p>
        </p:txBody>
      </p:sp>
      <p:sp>
        <p:nvSpPr>
          <p:cNvPr id="29" name="Text 21"/>
          <p:cNvSpPr txBox="1"/>
          <p:nvPr/>
        </p:nvSpPr>
        <p:spPr>
          <a:xfrm>
            <a:off x="502920" y="3876606"/>
            <a:ext cx="1170432" cy="365760"/>
          </a:xfrm>
          <a:prstGeom prst="rect">
            <a:avLst/>
          </a:prstGeom>
          <a:noFill/>
          <a:ln/>
        </p:spPr>
        <p:txBody>
          <a:bodyPr wrap="square" lIns="0" tIns="0" rIns="0" bIns="0" rtlCol="0" anchor="ctr"/>
          <a:lstStyle/>
          <a:p>
            <a:pPr marL="0" indent="0" algn="ctr">
              <a:buNone/>
            </a:pPr>
            <a:r>
              <a:rPr lang="en-US" sz="1050" b="1" dirty="0">
                <a:solidFill>
                  <a:srgbClr val="2C3E50"/>
                </a:solidFill>
                <a:latin typeface="맑은 고딕" pitchFamily="34" charset="0"/>
                <a:ea typeface="맑은 고딕" pitchFamily="34" charset="-122"/>
                <a:cs typeface="맑은 고딕" pitchFamily="34" charset="-120"/>
              </a:rPr>
              <a:t>로그 점검</a:t>
            </a:r>
            <a:endParaRPr lang="en-US" sz="1050" dirty="0"/>
          </a:p>
        </p:txBody>
      </p:sp>
      <p:sp>
        <p:nvSpPr>
          <p:cNvPr id="30" name="Shape 22"/>
          <p:cNvSpPr/>
          <p:nvPr/>
        </p:nvSpPr>
        <p:spPr>
          <a:xfrm>
            <a:off x="1828800" y="2916486"/>
            <a:ext cx="1261872" cy="1463040"/>
          </a:xfrm>
          <a:prstGeom prst="roundRect">
            <a:avLst>
              <a:gd name="adj" fmla="val 5797"/>
            </a:avLst>
          </a:prstGeom>
          <a:solidFill>
            <a:srgbClr val="F1F5F9"/>
          </a:solidFill>
          <a:ln w="12700">
            <a:solidFill>
              <a:srgbClr val="F1F5F9"/>
            </a:solidFill>
            <a:prstDash val="solid"/>
          </a:ln>
        </p:spPr>
        <p:txBody>
          <a:bodyPr/>
          <a:lstStyle/>
          <a:p>
            <a:endParaRPr lang="ko-KR" altLang="en-US"/>
          </a:p>
        </p:txBody>
      </p:sp>
      <p:pic>
        <p:nvPicPr>
          <p:cNvPr id="31" name="Image 5" descr="preencoded.png"/>
          <p:cNvPicPr>
            <a:picLocks noChangeAspect="1"/>
          </p:cNvPicPr>
          <p:nvPr/>
        </p:nvPicPr>
        <p:blipFill>
          <a:blip r:embed="rId5"/>
          <a:stretch>
            <a:fillRect/>
          </a:stretch>
        </p:blipFill>
        <p:spPr>
          <a:xfrm>
            <a:off x="2286000" y="3044502"/>
            <a:ext cx="347472" cy="347472"/>
          </a:xfrm>
          <a:prstGeom prst="rect">
            <a:avLst/>
          </a:prstGeom>
        </p:spPr>
      </p:pic>
      <p:sp>
        <p:nvSpPr>
          <p:cNvPr id="32" name="Text 23"/>
          <p:cNvSpPr txBox="1"/>
          <p:nvPr/>
        </p:nvSpPr>
        <p:spPr>
          <a:xfrm>
            <a:off x="1874520" y="3465125"/>
            <a:ext cx="1170432"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맑은 고딕" pitchFamily="34" charset="0"/>
                <a:ea typeface="맑은 고딕" pitchFamily="34" charset="-122"/>
                <a:cs typeface="맑은 고딕" pitchFamily="34" charset="-120"/>
              </a:rPr>
              <a:t>6. 화면 치환</a:t>
            </a:r>
            <a:endParaRPr lang="en-US" sz="1050" dirty="0"/>
          </a:p>
        </p:txBody>
      </p:sp>
      <p:sp>
        <p:nvSpPr>
          <p:cNvPr id="33" name="Text 24"/>
          <p:cNvSpPr txBox="1"/>
          <p:nvPr/>
        </p:nvSpPr>
        <p:spPr>
          <a:xfrm>
            <a:off x="1874520" y="3876606"/>
            <a:ext cx="1170432" cy="365760"/>
          </a:xfrm>
          <a:prstGeom prst="rect">
            <a:avLst/>
          </a:prstGeom>
          <a:noFill/>
          <a:ln/>
        </p:spPr>
        <p:txBody>
          <a:bodyPr wrap="square" lIns="0" tIns="0" rIns="0" bIns="0" rtlCol="0" anchor="ctr"/>
          <a:lstStyle/>
          <a:p>
            <a:pPr marL="0" indent="0" algn="ctr">
              <a:buNone/>
            </a:pPr>
            <a:r>
              <a:rPr lang="en-US" sz="1050" b="1" dirty="0">
                <a:solidFill>
                  <a:srgbClr val="2C3E50"/>
                </a:solidFill>
                <a:latin typeface="맑은 고딕" pitchFamily="34" charset="0"/>
                <a:ea typeface="맑은 고딕" pitchFamily="34" charset="-122"/>
                <a:cs typeface="맑은 고딕" pitchFamily="34" charset="-120"/>
              </a:rPr>
              <a:t>통합 확인</a:t>
            </a:r>
            <a:endParaRPr lang="en-US" sz="1050" dirty="0"/>
          </a:p>
        </p:txBody>
      </p:sp>
      <p:sp>
        <p:nvSpPr>
          <p:cNvPr id="34" name="Shape 25"/>
          <p:cNvSpPr/>
          <p:nvPr/>
        </p:nvSpPr>
        <p:spPr>
          <a:xfrm>
            <a:off x="4572000" y="1316285"/>
            <a:ext cx="1261872" cy="1463040"/>
          </a:xfrm>
          <a:prstGeom prst="roundRect">
            <a:avLst>
              <a:gd name="adj" fmla="val 5797"/>
            </a:avLst>
          </a:prstGeom>
          <a:solidFill>
            <a:srgbClr val="F1F5F9"/>
          </a:solidFill>
          <a:ln w="12700">
            <a:solidFill>
              <a:srgbClr val="F1F5F9"/>
            </a:solidFill>
            <a:prstDash val="solid"/>
          </a:ln>
        </p:spPr>
        <p:txBody>
          <a:bodyPr/>
          <a:lstStyle/>
          <a:p>
            <a:endParaRPr lang="ko-KR" altLang="en-US"/>
          </a:p>
        </p:txBody>
      </p:sp>
      <p:pic>
        <p:nvPicPr>
          <p:cNvPr id="35" name="Image 6" descr="preencoded.png"/>
          <p:cNvPicPr>
            <a:picLocks noChangeAspect="1"/>
          </p:cNvPicPr>
          <p:nvPr/>
        </p:nvPicPr>
        <p:blipFill>
          <a:blip r:embed="rId5"/>
          <a:stretch>
            <a:fillRect/>
          </a:stretch>
        </p:blipFill>
        <p:spPr>
          <a:xfrm>
            <a:off x="5029200" y="1444302"/>
            <a:ext cx="347472" cy="347472"/>
          </a:xfrm>
          <a:prstGeom prst="rect">
            <a:avLst/>
          </a:prstGeom>
        </p:spPr>
      </p:pic>
      <p:sp>
        <p:nvSpPr>
          <p:cNvPr id="36" name="Text 26"/>
          <p:cNvSpPr txBox="1"/>
          <p:nvPr/>
        </p:nvSpPr>
        <p:spPr>
          <a:xfrm>
            <a:off x="4617720" y="1864925"/>
            <a:ext cx="1170432"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맑은 고딕" pitchFamily="34" charset="0"/>
                <a:ea typeface="맑은 고딕" pitchFamily="34" charset="-122"/>
                <a:cs typeface="맑은 고딕" pitchFamily="34" charset="-120"/>
              </a:rPr>
              <a:t>4. 10초 이내</a:t>
            </a:r>
            <a:endParaRPr lang="en-US" sz="1050" dirty="0"/>
          </a:p>
        </p:txBody>
      </p:sp>
      <p:sp>
        <p:nvSpPr>
          <p:cNvPr id="37" name="Text 27"/>
          <p:cNvSpPr txBox="1"/>
          <p:nvPr/>
        </p:nvSpPr>
        <p:spPr>
          <a:xfrm>
            <a:off x="4617720" y="2276406"/>
            <a:ext cx="1170432" cy="365760"/>
          </a:xfrm>
          <a:prstGeom prst="rect">
            <a:avLst/>
          </a:prstGeom>
          <a:noFill/>
          <a:ln/>
        </p:spPr>
        <p:txBody>
          <a:bodyPr wrap="square" lIns="0" tIns="0" rIns="0" bIns="0" rtlCol="0" anchor="ctr"/>
          <a:lstStyle/>
          <a:p>
            <a:pPr marL="0" indent="0" algn="ctr">
              <a:buNone/>
            </a:pPr>
            <a:r>
              <a:rPr lang="en-US" sz="1050" b="1" dirty="0">
                <a:solidFill>
                  <a:srgbClr val="2C3E50"/>
                </a:solidFill>
                <a:latin typeface="맑은 고딕" pitchFamily="34" charset="0"/>
                <a:ea typeface="맑은 고딕" pitchFamily="34" charset="-122"/>
                <a:cs typeface="맑은 고딕" pitchFamily="34" charset="-120"/>
              </a:rPr>
              <a:t>0.6~6.2초</a:t>
            </a:r>
            <a:endParaRPr lang="en-US" sz="1050" dirty="0"/>
          </a:p>
        </p:txBody>
      </p:sp>
      <p:sp>
        <p:nvSpPr>
          <p:cNvPr id="38" name="Shape 28"/>
          <p:cNvSpPr/>
          <p:nvPr/>
        </p:nvSpPr>
        <p:spPr>
          <a:xfrm>
            <a:off x="3200400" y="2916486"/>
            <a:ext cx="1261872" cy="1463040"/>
          </a:xfrm>
          <a:prstGeom prst="roundRect">
            <a:avLst>
              <a:gd name="adj" fmla="val 5797"/>
            </a:avLst>
          </a:prstGeom>
          <a:solidFill>
            <a:srgbClr val="FDECC8"/>
          </a:solidFill>
          <a:ln w="12700">
            <a:solidFill>
              <a:srgbClr val="FDECC8"/>
            </a:solidFill>
            <a:prstDash val="solid"/>
          </a:ln>
        </p:spPr>
        <p:txBody>
          <a:bodyPr/>
          <a:lstStyle/>
          <a:p>
            <a:endParaRPr lang="ko-KR" altLang="en-US"/>
          </a:p>
        </p:txBody>
      </p:sp>
      <p:pic>
        <p:nvPicPr>
          <p:cNvPr id="39" name="Image 7" descr="preencoded.png"/>
          <p:cNvPicPr>
            <a:picLocks noChangeAspect="1"/>
          </p:cNvPicPr>
          <p:nvPr/>
        </p:nvPicPr>
        <p:blipFill>
          <a:blip r:embed="rId3"/>
          <a:stretch>
            <a:fillRect/>
          </a:stretch>
        </p:blipFill>
        <p:spPr>
          <a:xfrm>
            <a:off x="3657600" y="3044502"/>
            <a:ext cx="347472" cy="347472"/>
          </a:xfrm>
          <a:prstGeom prst="rect">
            <a:avLst/>
          </a:prstGeom>
        </p:spPr>
      </p:pic>
      <p:sp>
        <p:nvSpPr>
          <p:cNvPr id="40" name="Text 29"/>
          <p:cNvSpPr txBox="1"/>
          <p:nvPr/>
        </p:nvSpPr>
        <p:spPr>
          <a:xfrm>
            <a:off x="3246120" y="3465125"/>
            <a:ext cx="1170432"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맑은 고딕" pitchFamily="34" charset="0"/>
                <a:ea typeface="맑은 고딕" pitchFamily="34" charset="-122"/>
                <a:cs typeface="맑은 고딕" pitchFamily="34" charset="-120"/>
              </a:rPr>
              <a:t>7. Win · Mac</a:t>
            </a:r>
            <a:endParaRPr lang="en-US" sz="1050" dirty="0"/>
          </a:p>
        </p:txBody>
      </p:sp>
      <p:sp>
        <p:nvSpPr>
          <p:cNvPr id="41" name="Text 30"/>
          <p:cNvSpPr txBox="1"/>
          <p:nvPr/>
        </p:nvSpPr>
        <p:spPr>
          <a:xfrm>
            <a:off x="3246120" y="3876606"/>
            <a:ext cx="1170432" cy="365760"/>
          </a:xfrm>
          <a:prstGeom prst="rect">
            <a:avLst/>
          </a:prstGeom>
          <a:noFill/>
          <a:ln/>
        </p:spPr>
        <p:txBody>
          <a:bodyPr wrap="square" lIns="0" tIns="0" rIns="0" bIns="0" rtlCol="0" anchor="ctr"/>
          <a:lstStyle/>
          <a:p>
            <a:pPr marL="0" indent="0" algn="ctr">
              <a:buNone/>
            </a:pPr>
            <a:r>
              <a:rPr lang="en-US" sz="1050" b="1" dirty="0">
                <a:solidFill>
                  <a:srgbClr val="B45309"/>
                </a:solidFill>
                <a:latin typeface="맑은 고딕" pitchFamily="34" charset="0"/>
                <a:ea typeface="맑은 고딕" pitchFamily="34" charset="-122"/>
                <a:cs typeface="맑은 고딕" pitchFamily="34" charset="-120"/>
              </a:rPr>
              <a:t>TBD</a:t>
            </a:r>
            <a:endParaRPr lang="en-US" sz="1050" dirty="0"/>
          </a:p>
        </p:txBody>
      </p:sp>
      <p:sp>
        <p:nvSpPr>
          <p:cNvPr id="42" name="Shape 31"/>
          <p:cNvSpPr/>
          <p:nvPr/>
        </p:nvSpPr>
        <p:spPr>
          <a:xfrm>
            <a:off x="6035040" y="1316286"/>
            <a:ext cx="2651760" cy="3063240"/>
          </a:xfrm>
          <a:prstGeom prst="roundRect">
            <a:avLst>
              <a:gd name="adj" fmla="val 2759"/>
            </a:avLst>
          </a:prstGeom>
          <a:solidFill>
            <a:srgbClr val="F1F5F9"/>
          </a:solidFill>
          <a:ln w="12700">
            <a:solidFill>
              <a:srgbClr val="F1F5F9"/>
            </a:solidFill>
            <a:prstDash val="solid"/>
          </a:ln>
        </p:spPr>
        <p:txBody>
          <a:bodyPr/>
          <a:lstStyle/>
          <a:p>
            <a:endParaRPr lang="ko-KR" altLang="en-US"/>
          </a:p>
        </p:txBody>
      </p:sp>
      <p:sp>
        <p:nvSpPr>
          <p:cNvPr id="43" name="Text 32"/>
          <p:cNvSpPr txBox="1"/>
          <p:nvPr/>
        </p:nvSpPr>
        <p:spPr>
          <a:xfrm>
            <a:off x="6126480" y="1407726"/>
            <a:ext cx="2468880" cy="320040"/>
          </a:xfrm>
          <a:prstGeom prst="rect">
            <a:avLst/>
          </a:prstGeom>
          <a:noFill/>
          <a:ln/>
        </p:spPr>
        <p:txBody>
          <a:bodyPr wrap="square" lIns="0" tIns="0" rIns="0" bIns="0" rtlCol="0" anchor="ctr"/>
          <a:lstStyle/>
          <a:p>
            <a:pPr marL="0" indent="0">
              <a:buNone/>
            </a:pPr>
            <a:r>
              <a:rPr lang="en-US" sz="1000" b="1" dirty="0">
                <a:solidFill>
                  <a:srgbClr val="2C3E50"/>
                </a:solidFill>
                <a:latin typeface="맑은 고딕" pitchFamily="34" charset="0"/>
                <a:ea typeface="맑은 고딕" pitchFamily="34" charset="-122"/>
                <a:cs typeface="맑은 고딕" pitchFamily="34" charset="-120"/>
              </a:rPr>
              <a:t>"연체 기록 없애 주실 수 있어요?"</a:t>
            </a:r>
            <a:endParaRPr lang="en-US" sz="1000" dirty="0"/>
          </a:p>
        </p:txBody>
      </p:sp>
      <p:sp>
        <p:nvSpPr>
          <p:cNvPr id="44" name="Shape 33"/>
          <p:cNvSpPr/>
          <p:nvPr/>
        </p:nvSpPr>
        <p:spPr>
          <a:xfrm>
            <a:off x="6172200" y="1819206"/>
            <a:ext cx="2377440" cy="868680"/>
          </a:xfrm>
          <a:prstGeom prst="roundRect">
            <a:avLst>
              <a:gd name="adj" fmla="val 8421"/>
            </a:avLst>
          </a:prstGeom>
          <a:solidFill>
            <a:srgbClr val="F9DFDB"/>
          </a:solidFill>
          <a:ln w="12700">
            <a:solidFill>
              <a:srgbClr val="F9DFDB"/>
            </a:solidFill>
            <a:prstDash val="solid"/>
          </a:ln>
        </p:spPr>
        <p:txBody>
          <a:bodyPr/>
          <a:lstStyle/>
          <a:p>
            <a:endParaRPr lang="ko-KR" altLang="en-US"/>
          </a:p>
        </p:txBody>
      </p:sp>
      <p:sp>
        <p:nvSpPr>
          <p:cNvPr id="45" name="Text 34"/>
          <p:cNvSpPr txBox="1"/>
          <p:nvPr/>
        </p:nvSpPr>
        <p:spPr>
          <a:xfrm>
            <a:off x="6263640" y="1864926"/>
            <a:ext cx="2194560" cy="777240"/>
          </a:xfrm>
          <a:prstGeom prst="rect">
            <a:avLst/>
          </a:prstGeom>
          <a:noFill/>
          <a:ln/>
        </p:spPr>
        <p:txBody>
          <a:bodyPr wrap="square" lIns="0" tIns="0" rIns="0" bIns="0" rtlCol="0" anchor="ctr"/>
          <a:lstStyle/>
          <a:p>
            <a:pPr marL="0" indent="0">
              <a:buNone/>
            </a:pPr>
            <a:r>
              <a:rPr lang="en-US" sz="900" b="1" dirty="0">
                <a:solidFill>
                  <a:srgbClr val="B91C1C"/>
                </a:solidFill>
                <a:latin typeface="맑은 고딕" pitchFamily="34" charset="0"/>
                <a:ea typeface="맑은 고딕" pitchFamily="34" charset="-122"/>
                <a:cs typeface="맑은 고딕" pitchFamily="34" charset="-120"/>
              </a:rPr>
              <a:t>파인튜닝 전</a:t>
            </a:r>
            <a:endParaRPr lang="en-US" sz="900" dirty="0"/>
          </a:p>
          <a:p>
            <a:pPr marL="0" indent="0">
              <a:buNone/>
            </a:pPr>
            <a:r>
              <a:rPr lang="en-US" sz="1200" b="1" dirty="0">
                <a:solidFill>
                  <a:srgbClr val="1E293B"/>
                </a:solidFill>
                <a:latin typeface="맑은 고딕" pitchFamily="34" charset="0"/>
                <a:ea typeface="맑은 고딕" pitchFamily="34" charset="-122"/>
                <a:cs typeface="맑은 고딕" pitchFamily="34" charset="-120"/>
              </a:rPr>
              <a:t>"삭제는 가능합니다"</a:t>
            </a:r>
            <a:endParaRPr lang="en-US" sz="900" dirty="0"/>
          </a:p>
        </p:txBody>
      </p:sp>
      <p:sp>
        <p:nvSpPr>
          <p:cNvPr id="46" name="Shape 35"/>
          <p:cNvSpPr/>
          <p:nvPr/>
        </p:nvSpPr>
        <p:spPr>
          <a:xfrm>
            <a:off x="6172200" y="2779326"/>
            <a:ext cx="2377440" cy="1463040"/>
          </a:xfrm>
          <a:prstGeom prst="roundRect">
            <a:avLst>
              <a:gd name="adj" fmla="val 5000"/>
            </a:avLst>
          </a:prstGeom>
          <a:solidFill>
            <a:srgbClr val="DCE8F6"/>
          </a:solidFill>
          <a:ln w="12700">
            <a:solidFill>
              <a:srgbClr val="DCE8F6"/>
            </a:solidFill>
            <a:prstDash val="solid"/>
          </a:ln>
        </p:spPr>
        <p:txBody>
          <a:bodyPr/>
          <a:lstStyle/>
          <a:p>
            <a:endParaRPr lang="ko-KR" altLang="en-US"/>
          </a:p>
        </p:txBody>
      </p:sp>
      <p:sp>
        <p:nvSpPr>
          <p:cNvPr id="47" name="Text 36"/>
          <p:cNvSpPr txBox="1"/>
          <p:nvPr/>
        </p:nvSpPr>
        <p:spPr>
          <a:xfrm>
            <a:off x="6263640" y="2825046"/>
            <a:ext cx="2194560" cy="1371600"/>
          </a:xfrm>
          <a:prstGeom prst="rect">
            <a:avLst/>
          </a:prstGeom>
          <a:noFill/>
          <a:ln/>
        </p:spPr>
        <p:txBody>
          <a:bodyPr wrap="square" lIns="0" tIns="0" rIns="0" bIns="0" rtlCol="0" anchor="ctr"/>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우리 모델</a:t>
            </a:r>
            <a:endParaRPr lang="en-US" sz="900" dirty="0"/>
          </a:p>
          <a:p>
            <a:pPr marL="0" indent="0">
              <a:buNone/>
            </a:pPr>
            <a:r>
              <a:rPr lang="en-US" sz="1100" b="1" dirty="0">
                <a:solidFill>
                  <a:srgbClr val="1E293B"/>
                </a:solidFill>
                <a:latin typeface="맑은 고딕" pitchFamily="34" charset="0"/>
                <a:ea typeface="맑은 고딕" pitchFamily="34" charset="-122"/>
                <a:cs typeface="맑은 고딕" pitchFamily="34" charset="-120"/>
              </a:rPr>
              <a:t>연체 사실과 납부 방법만 안내하고 "자세한 사항은 상담원에게 확인해 주세요"</a:t>
            </a:r>
            <a:endParaRPr lang="en-US" sz="900" dirty="0"/>
          </a:p>
        </p:txBody>
      </p:sp>
    </p:spTree>
    <p:extLst>
      <p:ext uri="{BB962C8B-B14F-4D97-AF65-F5344CB8AC3E}">
        <p14:creationId xmlns:p14="http://schemas.microsoft.com/office/powerpoint/2010/main" val="4247923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52400"/>
            <a:ext cx="4572000" cy="177800"/>
          </a:xfrm>
          <a:prstGeom prst="rect">
            <a:avLst/>
          </a:prstGeom>
          <a:noFill/>
          <a:ln/>
        </p:spPr>
        <p:txBody>
          <a:bodyPr wrap="square" lIns="0" tIns="0" rIns="0" bIns="0" rtlCol="0" anchor="t"/>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07  라이브 데모</a:t>
            </a:r>
            <a:endParaRPr lang="en-US" sz="900" dirty="0"/>
          </a:p>
        </p:txBody>
      </p:sp>
      <p:sp>
        <p:nvSpPr>
          <p:cNvPr id="4" name="Text 2"/>
          <p:cNvSpPr txBox="1"/>
          <p:nvPr/>
        </p:nvSpPr>
        <p:spPr>
          <a:xfrm>
            <a:off x="457200" y="330200"/>
            <a:ext cx="8229600" cy="355600"/>
          </a:xfrm>
          <a:prstGeom prst="rect">
            <a:avLst/>
          </a:prstGeom>
          <a:noFill/>
          <a:ln/>
        </p:spPr>
        <p:txBody>
          <a:bodyPr wrap="square" lIns="0" tIns="0" rIns="0" bIns="0" rtlCol="0" anchor="ctr"/>
          <a:lstStyle/>
          <a:p>
            <a:pPr marL="0" indent="0">
              <a:buNone/>
            </a:pPr>
            <a:r>
              <a:rPr lang="en-US" sz="2000" b="1" dirty="0">
                <a:solidFill>
                  <a:srgbClr val="1B2A3A"/>
                </a:solidFill>
                <a:latin typeface="맑은 고딕" pitchFamily="34" charset="0"/>
                <a:ea typeface="맑은 고딕" pitchFamily="34" charset="-122"/>
                <a:cs typeface="맑은 고딕" pitchFamily="34" charset="-120"/>
              </a:rPr>
              <a:t>서비스 데모</a:t>
            </a:r>
            <a:endParaRPr lang="en-US" sz="2000" dirty="0"/>
          </a:p>
        </p:txBody>
      </p:sp>
      <p:sp>
        <p:nvSpPr>
          <p:cNvPr id="5" name="Text 3"/>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21</a:t>
            </a:r>
            <a:endParaRPr lang="en-US" sz="850" dirty="0"/>
          </a:p>
        </p:txBody>
      </p:sp>
      <p:pic>
        <p:nvPicPr>
          <p:cNvPr id="7" name="Image 0" descr="/tmp/claude-1000/-home-aiuser-miniproject/7acdcff0-c780-4032-a705-55e9cf15fb13/scratchpad/img_landing.png"/>
          <p:cNvPicPr>
            <a:picLocks noChangeAspect="1"/>
          </p:cNvPicPr>
          <p:nvPr/>
        </p:nvPicPr>
        <p:blipFill>
          <a:blip r:embed="rId3"/>
          <a:stretch>
            <a:fillRect/>
          </a:stretch>
        </p:blipFill>
        <p:spPr>
          <a:xfrm>
            <a:off x="590550" y="1152366"/>
            <a:ext cx="5760720" cy="2944368"/>
          </a:xfrm>
          <a:prstGeom prst="rect">
            <a:avLst/>
          </a:prstGeom>
        </p:spPr>
      </p:pic>
      <p:sp>
        <p:nvSpPr>
          <p:cNvPr id="8" name="Shape 4"/>
          <p:cNvSpPr/>
          <p:nvPr/>
        </p:nvSpPr>
        <p:spPr>
          <a:xfrm>
            <a:off x="6625590" y="1198086"/>
            <a:ext cx="530352" cy="530352"/>
          </a:xfrm>
          <a:prstGeom prst="ellipse">
            <a:avLst/>
          </a:prstGeom>
          <a:solidFill>
            <a:srgbClr val="41659E"/>
          </a:solidFill>
          <a:ln w="12700">
            <a:solidFill>
              <a:srgbClr val="41659E"/>
            </a:solidFill>
            <a:prstDash val="solid"/>
          </a:ln>
        </p:spPr>
        <p:txBody>
          <a:bodyPr/>
          <a:lstStyle/>
          <a:p>
            <a:endParaRPr lang="ko-KR" altLang="en-US"/>
          </a:p>
        </p:txBody>
      </p:sp>
      <p:pic>
        <p:nvPicPr>
          <p:cNvPr id="9" name="Image 1" descr="preencoded.png"/>
          <p:cNvPicPr>
            <a:picLocks noChangeAspect="1"/>
          </p:cNvPicPr>
          <p:nvPr/>
        </p:nvPicPr>
        <p:blipFill>
          <a:blip r:embed="rId4"/>
          <a:stretch>
            <a:fillRect/>
          </a:stretch>
        </p:blipFill>
        <p:spPr>
          <a:xfrm>
            <a:off x="6752874" y="1325369"/>
            <a:ext cx="275783" cy="275783"/>
          </a:xfrm>
          <a:prstGeom prst="rect">
            <a:avLst/>
          </a:prstGeom>
        </p:spPr>
      </p:pic>
      <p:sp>
        <p:nvSpPr>
          <p:cNvPr id="10" name="Text 5"/>
          <p:cNvSpPr txBox="1"/>
          <p:nvPr/>
        </p:nvSpPr>
        <p:spPr>
          <a:xfrm>
            <a:off x="7265670" y="1198086"/>
            <a:ext cx="1554480" cy="530352"/>
          </a:xfrm>
          <a:prstGeom prst="rect">
            <a:avLst/>
          </a:prstGeom>
          <a:noFill/>
          <a:ln/>
        </p:spPr>
        <p:txBody>
          <a:bodyPr wrap="square" lIns="0" tIns="0" rIns="0" bIns="0" rtlCol="0" anchor="ctr"/>
          <a:lstStyle/>
          <a:p>
            <a:pPr marL="0" indent="0">
              <a:buNone/>
            </a:pPr>
            <a:r>
              <a:rPr lang="en-US" sz="1300" b="1" dirty="0">
                <a:solidFill>
                  <a:srgbClr val="1E293B"/>
                </a:solidFill>
                <a:latin typeface="맑은 고딕" pitchFamily="34" charset="0"/>
                <a:ea typeface="맑은 고딕" pitchFamily="34" charset="-122"/>
                <a:cs typeface="맑은 고딕" pitchFamily="34" charset="-120"/>
              </a:rPr>
              <a:t>바로 조회</a:t>
            </a:r>
            <a:endParaRPr lang="en-US" sz="1300" dirty="0"/>
          </a:p>
        </p:txBody>
      </p:sp>
      <p:sp>
        <p:nvSpPr>
          <p:cNvPr id="11" name="Shape 6"/>
          <p:cNvSpPr/>
          <p:nvPr/>
        </p:nvSpPr>
        <p:spPr>
          <a:xfrm>
            <a:off x="6625590" y="1929606"/>
            <a:ext cx="530352" cy="530352"/>
          </a:xfrm>
          <a:prstGeom prst="ellipse">
            <a:avLst/>
          </a:prstGeom>
          <a:solidFill>
            <a:srgbClr val="41659E"/>
          </a:solidFill>
          <a:ln w="12700">
            <a:solidFill>
              <a:srgbClr val="41659E"/>
            </a:solidFill>
            <a:prstDash val="solid"/>
          </a:ln>
        </p:spPr>
        <p:txBody>
          <a:bodyPr/>
          <a:lstStyle/>
          <a:p>
            <a:endParaRPr lang="ko-KR" altLang="en-US"/>
          </a:p>
        </p:txBody>
      </p:sp>
      <p:pic>
        <p:nvPicPr>
          <p:cNvPr id="12" name="Image 2" descr="preencoded.png"/>
          <p:cNvPicPr>
            <a:picLocks noChangeAspect="1"/>
          </p:cNvPicPr>
          <p:nvPr/>
        </p:nvPicPr>
        <p:blipFill>
          <a:blip r:embed="rId5"/>
          <a:stretch>
            <a:fillRect/>
          </a:stretch>
        </p:blipFill>
        <p:spPr>
          <a:xfrm>
            <a:off x="6752874" y="2056889"/>
            <a:ext cx="275783" cy="275783"/>
          </a:xfrm>
          <a:prstGeom prst="rect">
            <a:avLst/>
          </a:prstGeom>
        </p:spPr>
      </p:pic>
      <p:sp>
        <p:nvSpPr>
          <p:cNvPr id="13" name="Text 7"/>
          <p:cNvSpPr txBox="1"/>
          <p:nvPr/>
        </p:nvSpPr>
        <p:spPr>
          <a:xfrm>
            <a:off x="7265670" y="1929606"/>
            <a:ext cx="1554480" cy="530352"/>
          </a:xfrm>
          <a:prstGeom prst="rect">
            <a:avLst/>
          </a:prstGeom>
          <a:noFill/>
          <a:ln/>
        </p:spPr>
        <p:txBody>
          <a:bodyPr wrap="square" lIns="0" tIns="0" rIns="0" bIns="0" rtlCol="0" anchor="ctr"/>
          <a:lstStyle/>
          <a:p>
            <a:pPr marL="0" indent="0">
              <a:buNone/>
            </a:pPr>
            <a:r>
              <a:rPr lang="en-US" sz="1300" b="1" dirty="0">
                <a:solidFill>
                  <a:srgbClr val="1E293B"/>
                </a:solidFill>
                <a:latin typeface="맑은 고딕" pitchFamily="34" charset="0"/>
                <a:ea typeface="맑은 고딕" pitchFamily="34" charset="-122"/>
                <a:cs typeface="맑은 고딕" pitchFamily="34" charset="-120"/>
              </a:rPr>
              <a:t>계좌 선택</a:t>
            </a:r>
            <a:endParaRPr lang="en-US" sz="1300" dirty="0"/>
          </a:p>
        </p:txBody>
      </p:sp>
      <p:sp>
        <p:nvSpPr>
          <p:cNvPr id="14" name="Shape 8"/>
          <p:cNvSpPr/>
          <p:nvPr/>
        </p:nvSpPr>
        <p:spPr>
          <a:xfrm>
            <a:off x="6625590" y="2661126"/>
            <a:ext cx="530352" cy="530352"/>
          </a:xfrm>
          <a:prstGeom prst="ellipse">
            <a:avLst/>
          </a:prstGeom>
          <a:solidFill>
            <a:srgbClr val="41659E"/>
          </a:solidFill>
          <a:ln w="12700">
            <a:solidFill>
              <a:srgbClr val="41659E"/>
            </a:solidFill>
            <a:prstDash val="solid"/>
          </a:ln>
        </p:spPr>
        <p:txBody>
          <a:bodyPr/>
          <a:lstStyle/>
          <a:p>
            <a:endParaRPr lang="ko-KR" altLang="en-US"/>
          </a:p>
        </p:txBody>
      </p:sp>
      <p:pic>
        <p:nvPicPr>
          <p:cNvPr id="15" name="Image 3" descr="preencoded.png"/>
          <p:cNvPicPr>
            <a:picLocks noChangeAspect="1"/>
          </p:cNvPicPr>
          <p:nvPr/>
        </p:nvPicPr>
        <p:blipFill>
          <a:blip r:embed="rId6"/>
          <a:stretch>
            <a:fillRect/>
          </a:stretch>
        </p:blipFill>
        <p:spPr>
          <a:xfrm>
            <a:off x="6752874" y="2788409"/>
            <a:ext cx="275783" cy="275783"/>
          </a:xfrm>
          <a:prstGeom prst="rect">
            <a:avLst/>
          </a:prstGeom>
        </p:spPr>
      </p:pic>
      <p:sp>
        <p:nvSpPr>
          <p:cNvPr id="16" name="Text 9"/>
          <p:cNvSpPr txBox="1"/>
          <p:nvPr/>
        </p:nvSpPr>
        <p:spPr>
          <a:xfrm>
            <a:off x="7265670" y="2661126"/>
            <a:ext cx="1554480" cy="530352"/>
          </a:xfrm>
          <a:prstGeom prst="rect">
            <a:avLst/>
          </a:prstGeom>
          <a:noFill/>
          <a:ln/>
        </p:spPr>
        <p:txBody>
          <a:bodyPr wrap="square" lIns="0" tIns="0" rIns="0" bIns="0" rtlCol="0" anchor="ctr"/>
          <a:lstStyle/>
          <a:p>
            <a:pPr marL="0" indent="0">
              <a:buNone/>
            </a:pPr>
            <a:r>
              <a:rPr lang="en-US" sz="1300" b="1" dirty="0">
                <a:solidFill>
                  <a:srgbClr val="1E293B"/>
                </a:solidFill>
                <a:latin typeface="맑은 고딕" pitchFamily="34" charset="0"/>
                <a:ea typeface="맑은 고딕" pitchFamily="34" charset="-122"/>
                <a:cs typeface="맑은 고딕" pitchFamily="34" charset="-120"/>
              </a:rPr>
              <a:t>복합 되묻기</a:t>
            </a:r>
            <a:endParaRPr lang="en-US" sz="1300" dirty="0"/>
          </a:p>
        </p:txBody>
      </p:sp>
      <p:sp>
        <p:nvSpPr>
          <p:cNvPr id="17" name="Shape 10"/>
          <p:cNvSpPr/>
          <p:nvPr/>
        </p:nvSpPr>
        <p:spPr>
          <a:xfrm>
            <a:off x="6625590" y="3392646"/>
            <a:ext cx="530352" cy="530352"/>
          </a:xfrm>
          <a:prstGeom prst="ellipse">
            <a:avLst/>
          </a:prstGeom>
          <a:solidFill>
            <a:srgbClr val="41659E"/>
          </a:solidFill>
          <a:ln w="12700">
            <a:solidFill>
              <a:srgbClr val="41659E"/>
            </a:solidFill>
            <a:prstDash val="solid"/>
          </a:ln>
        </p:spPr>
        <p:txBody>
          <a:bodyPr/>
          <a:lstStyle/>
          <a:p>
            <a:endParaRPr lang="ko-KR" altLang="en-US"/>
          </a:p>
        </p:txBody>
      </p:sp>
      <p:pic>
        <p:nvPicPr>
          <p:cNvPr id="18" name="Image 4" descr="preencoded.png"/>
          <p:cNvPicPr>
            <a:picLocks noChangeAspect="1"/>
          </p:cNvPicPr>
          <p:nvPr/>
        </p:nvPicPr>
        <p:blipFill>
          <a:blip r:embed="rId7"/>
          <a:stretch>
            <a:fillRect/>
          </a:stretch>
        </p:blipFill>
        <p:spPr>
          <a:xfrm>
            <a:off x="6752874" y="3519929"/>
            <a:ext cx="275783" cy="275783"/>
          </a:xfrm>
          <a:prstGeom prst="rect">
            <a:avLst/>
          </a:prstGeom>
        </p:spPr>
      </p:pic>
      <p:sp>
        <p:nvSpPr>
          <p:cNvPr id="19" name="Text 11"/>
          <p:cNvSpPr txBox="1"/>
          <p:nvPr/>
        </p:nvSpPr>
        <p:spPr>
          <a:xfrm>
            <a:off x="7265670" y="3392646"/>
            <a:ext cx="1554480" cy="530352"/>
          </a:xfrm>
          <a:prstGeom prst="rect">
            <a:avLst/>
          </a:prstGeom>
          <a:noFill/>
          <a:ln/>
        </p:spPr>
        <p:txBody>
          <a:bodyPr wrap="square" lIns="0" tIns="0" rIns="0" bIns="0" rtlCol="0" anchor="ctr"/>
          <a:lstStyle/>
          <a:p>
            <a:pPr marL="0" indent="0">
              <a:buNone/>
            </a:pPr>
            <a:r>
              <a:rPr lang="en-US" sz="1300" b="1" dirty="0">
                <a:solidFill>
                  <a:srgbClr val="1E293B"/>
                </a:solidFill>
                <a:latin typeface="맑은 고딕" pitchFamily="34" charset="0"/>
                <a:ea typeface="맑은 고딕" pitchFamily="34" charset="-122"/>
                <a:cs typeface="맑은 고딕" pitchFamily="34" charset="-120"/>
              </a:rPr>
              <a:t>범위 밖 안내</a:t>
            </a:r>
            <a:endParaRPr lang="en-US" sz="1300" dirty="0"/>
          </a:p>
        </p:txBody>
      </p:sp>
      <p:sp>
        <p:nvSpPr>
          <p:cNvPr id="20" name="Text 12"/>
          <p:cNvSpPr txBox="1"/>
          <p:nvPr/>
        </p:nvSpPr>
        <p:spPr>
          <a:xfrm>
            <a:off x="590550" y="4169886"/>
            <a:ext cx="5760720" cy="274320"/>
          </a:xfrm>
          <a:prstGeom prst="rect">
            <a:avLst/>
          </a:prstGeom>
          <a:noFill/>
          <a:ln/>
        </p:spPr>
        <p:txBody>
          <a:bodyPr wrap="square" lIns="0" tIns="0" rIns="0" bIns="0" rtlCol="0" anchor="t"/>
          <a:lstStyle/>
          <a:p>
            <a:pPr marL="0" indent="0">
              <a:buNone/>
            </a:pPr>
            <a:r>
              <a:rPr lang="en-US" sz="950" dirty="0">
                <a:solidFill>
                  <a:srgbClr val="64748B"/>
                </a:solidFill>
                <a:latin typeface="맑은 고딕" pitchFamily="34" charset="0"/>
                <a:ea typeface="맑은 고딕" pitchFamily="34" charset="-122"/>
                <a:cs typeface="맑은 고딕" pitchFamily="34" charset="-120"/>
              </a:rPr>
              <a:t>실제 서비스 첫 화면</a:t>
            </a:r>
            <a:endParaRPr lang="en-US" sz="950" dirty="0"/>
          </a:p>
        </p:txBody>
      </p:sp>
    </p:spTree>
    <p:extLst>
      <p:ext uri="{BB962C8B-B14F-4D97-AF65-F5344CB8AC3E}">
        <p14:creationId xmlns:p14="http://schemas.microsoft.com/office/powerpoint/2010/main" val="27032792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52400"/>
            <a:ext cx="4572000" cy="177800"/>
          </a:xfrm>
          <a:prstGeom prst="rect">
            <a:avLst/>
          </a:prstGeom>
          <a:noFill/>
          <a:ln/>
        </p:spPr>
        <p:txBody>
          <a:bodyPr wrap="square" lIns="0" tIns="0" rIns="0" bIns="0" rtlCol="0" anchor="t"/>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08  성과와 로드맵</a:t>
            </a:r>
            <a:endParaRPr lang="en-US" sz="900" dirty="0"/>
          </a:p>
        </p:txBody>
      </p:sp>
      <p:sp>
        <p:nvSpPr>
          <p:cNvPr id="4" name="Text 2"/>
          <p:cNvSpPr txBox="1"/>
          <p:nvPr/>
        </p:nvSpPr>
        <p:spPr>
          <a:xfrm>
            <a:off x="457200" y="330200"/>
            <a:ext cx="8229600" cy="355600"/>
          </a:xfrm>
          <a:prstGeom prst="rect">
            <a:avLst/>
          </a:prstGeom>
          <a:noFill/>
          <a:ln/>
        </p:spPr>
        <p:txBody>
          <a:bodyPr wrap="square" lIns="0" tIns="0" rIns="0" bIns="0" rtlCol="0" anchor="ctr"/>
          <a:lstStyle/>
          <a:p>
            <a:pPr marL="0" indent="0">
              <a:buNone/>
            </a:pPr>
            <a:r>
              <a:rPr lang="en-US" sz="2000" b="1" dirty="0">
                <a:solidFill>
                  <a:srgbClr val="1B2A3A"/>
                </a:solidFill>
                <a:latin typeface="맑은 고딕" pitchFamily="34" charset="0"/>
                <a:ea typeface="맑은 고딕" pitchFamily="34" charset="-122"/>
                <a:cs typeface="맑은 고딕" pitchFamily="34" charset="-120"/>
              </a:rPr>
              <a:t>한계와 향후 개발</a:t>
            </a:r>
            <a:endParaRPr lang="en-US" sz="2000" dirty="0"/>
          </a:p>
        </p:txBody>
      </p:sp>
      <p:sp>
        <p:nvSpPr>
          <p:cNvPr id="6" name="Text 4"/>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22</a:t>
            </a:r>
            <a:endParaRPr lang="en-US" sz="850" dirty="0"/>
          </a:p>
        </p:txBody>
      </p:sp>
      <p:sp>
        <p:nvSpPr>
          <p:cNvPr id="8" name="Shape 5"/>
          <p:cNvSpPr/>
          <p:nvPr/>
        </p:nvSpPr>
        <p:spPr>
          <a:xfrm>
            <a:off x="457200" y="1056640"/>
            <a:ext cx="3566160" cy="676656"/>
          </a:xfrm>
          <a:prstGeom prst="roundRect">
            <a:avLst>
              <a:gd name="adj" fmla="val 10811"/>
            </a:avLst>
          </a:prstGeom>
          <a:solidFill>
            <a:srgbClr val="F9DFDB"/>
          </a:solidFill>
          <a:ln w="12700">
            <a:solidFill>
              <a:srgbClr val="F9DFDB"/>
            </a:solidFill>
            <a:prstDash val="solid"/>
          </a:ln>
        </p:spPr>
        <p:txBody>
          <a:bodyPr/>
          <a:lstStyle/>
          <a:p>
            <a:endParaRPr lang="ko-KR" altLang="en-US"/>
          </a:p>
        </p:txBody>
      </p:sp>
      <p:pic>
        <p:nvPicPr>
          <p:cNvPr id="9" name="Image 0" descr="preencoded.png"/>
          <p:cNvPicPr>
            <a:picLocks noChangeAspect="1"/>
          </p:cNvPicPr>
          <p:nvPr/>
        </p:nvPicPr>
        <p:blipFill>
          <a:blip r:embed="rId3"/>
          <a:stretch>
            <a:fillRect/>
          </a:stretch>
        </p:blipFill>
        <p:spPr>
          <a:xfrm>
            <a:off x="640080" y="1212088"/>
            <a:ext cx="365760" cy="365760"/>
          </a:xfrm>
          <a:prstGeom prst="rect">
            <a:avLst/>
          </a:prstGeom>
        </p:spPr>
      </p:pic>
      <p:sp>
        <p:nvSpPr>
          <p:cNvPr id="10" name="Text 6"/>
          <p:cNvSpPr txBox="1"/>
          <p:nvPr/>
        </p:nvSpPr>
        <p:spPr>
          <a:xfrm>
            <a:off x="1143000" y="1056640"/>
            <a:ext cx="2788920" cy="676656"/>
          </a:xfrm>
          <a:prstGeom prst="rect">
            <a:avLst/>
          </a:prstGeom>
          <a:noFill/>
          <a:ln/>
        </p:spPr>
        <p:txBody>
          <a:bodyPr wrap="square" lIns="0" tIns="0" rIns="0" bIns="0" rtlCol="0" anchor="ctr"/>
          <a:lstStyle/>
          <a:p>
            <a:pPr marL="0" indent="0">
              <a:buNone/>
            </a:pPr>
            <a:r>
              <a:rPr lang="en-US" sz="1300" b="1" dirty="0">
                <a:solidFill>
                  <a:srgbClr val="1E293B"/>
                </a:solidFill>
                <a:latin typeface="맑은 고딕" pitchFamily="34" charset="0"/>
                <a:ea typeface="맑은 고딕" pitchFamily="34" charset="-122"/>
                <a:cs typeface="맑은 고딕" pitchFamily="34" charset="-120"/>
              </a:rPr>
              <a:t>가상 데이터 · 은행 1곳</a:t>
            </a:r>
            <a:endParaRPr lang="en-US" sz="1300" dirty="0"/>
          </a:p>
        </p:txBody>
      </p:sp>
      <p:sp>
        <p:nvSpPr>
          <p:cNvPr id="11" name="Shape 7"/>
          <p:cNvSpPr/>
          <p:nvPr/>
        </p:nvSpPr>
        <p:spPr>
          <a:xfrm>
            <a:off x="4206240" y="1276095"/>
            <a:ext cx="256032" cy="256032"/>
          </a:xfrm>
          <a:prstGeom prst="rightArrow">
            <a:avLst/>
          </a:prstGeom>
          <a:solidFill>
            <a:srgbClr val="94A3B8"/>
          </a:solidFill>
          <a:ln w="12700">
            <a:solidFill>
              <a:srgbClr val="94A3B8"/>
            </a:solidFill>
            <a:prstDash val="solid"/>
          </a:ln>
        </p:spPr>
        <p:txBody>
          <a:bodyPr/>
          <a:lstStyle/>
          <a:p>
            <a:endParaRPr lang="ko-KR" altLang="en-US"/>
          </a:p>
        </p:txBody>
      </p:sp>
      <p:sp>
        <p:nvSpPr>
          <p:cNvPr id="12" name="Shape 8"/>
          <p:cNvSpPr/>
          <p:nvPr/>
        </p:nvSpPr>
        <p:spPr>
          <a:xfrm>
            <a:off x="4663440" y="1056640"/>
            <a:ext cx="4023360" cy="676656"/>
          </a:xfrm>
          <a:prstGeom prst="roundRect">
            <a:avLst>
              <a:gd name="adj" fmla="val 10811"/>
            </a:avLst>
          </a:prstGeom>
          <a:solidFill>
            <a:srgbClr val="DCE8F6"/>
          </a:solidFill>
          <a:ln w="12700">
            <a:solidFill>
              <a:srgbClr val="DCE8F6"/>
            </a:solidFill>
            <a:prstDash val="solid"/>
          </a:ln>
        </p:spPr>
        <p:txBody>
          <a:bodyPr/>
          <a:lstStyle/>
          <a:p>
            <a:endParaRPr lang="ko-KR" altLang="en-US"/>
          </a:p>
        </p:txBody>
      </p:sp>
      <p:pic>
        <p:nvPicPr>
          <p:cNvPr id="13" name="Image 1" descr="preencoded.png"/>
          <p:cNvPicPr>
            <a:picLocks noChangeAspect="1"/>
          </p:cNvPicPr>
          <p:nvPr/>
        </p:nvPicPr>
        <p:blipFill>
          <a:blip r:embed="rId4"/>
          <a:stretch>
            <a:fillRect/>
          </a:stretch>
        </p:blipFill>
        <p:spPr>
          <a:xfrm>
            <a:off x="4846320" y="1212088"/>
            <a:ext cx="365760" cy="365760"/>
          </a:xfrm>
          <a:prstGeom prst="rect">
            <a:avLst/>
          </a:prstGeom>
        </p:spPr>
      </p:pic>
      <p:sp>
        <p:nvSpPr>
          <p:cNvPr id="14" name="Text 9"/>
          <p:cNvSpPr txBox="1"/>
          <p:nvPr/>
        </p:nvSpPr>
        <p:spPr>
          <a:xfrm>
            <a:off x="5349240" y="1056640"/>
            <a:ext cx="3246120" cy="676656"/>
          </a:xfrm>
          <a:prstGeom prst="rect">
            <a:avLst/>
          </a:prstGeom>
          <a:noFill/>
          <a:ln/>
        </p:spPr>
        <p:txBody>
          <a:bodyPr wrap="square" lIns="0" tIns="0" rIns="0" bIns="0" rtlCol="0" anchor="ctr"/>
          <a:lstStyle/>
          <a:p>
            <a:pPr marL="0" indent="0">
              <a:buNone/>
            </a:pPr>
            <a:r>
              <a:rPr lang="en-US" sz="1300" b="1" dirty="0">
                <a:solidFill>
                  <a:srgbClr val="41659E"/>
                </a:solidFill>
                <a:latin typeface="맑은 고딕" pitchFamily="34" charset="0"/>
                <a:ea typeface="맑은 고딕" pitchFamily="34" charset="-122"/>
                <a:cs typeface="맑은 고딕" pitchFamily="34" charset="-120"/>
              </a:rPr>
              <a:t>데이터 연동 · 조회 주기 설정</a:t>
            </a:r>
            <a:endParaRPr lang="en-US" sz="1300" dirty="0"/>
          </a:p>
        </p:txBody>
      </p:sp>
      <p:sp>
        <p:nvSpPr>
          <p:cNvPr id="15" name="Shape 10"/>
          <p:cNvSpPr/>
          <p:nvPr/>
        </p:nvSpPr>
        <p:spPr>
          <a:xfrm>
            <a:off x="457200" y="1861312"/>
            <a:ext cx="3566160" cy="676656"/>
          </a:xfrm>
          <a:prstGeom prst="roundRect">
            <a:avLst>
              <a:gd name="adj" fmla="val 10811"/>
            </a:avLst>
          </a:prstGeom>
          <a:solidFill>
            <a:srgbClr val="F9DFDB"/>
          </a:solidFill>
          <a:ln w="12700">
            <a:solidFill>
              <a:srgbClr val="F9DFDB"/>
            </a:solidFill>
            <a:prstDash val="solid"/>
          </a:ln>
        </p:spPr>
        <p:txBody>
          <a:bodyPr/>
          <a:lstStyle/>
          <a:p>
            <a:endParaRPr lang="ko-KR" altLang="en-US"/>
          </a:p>
        </p:txBody>
      </p:sp>
      <p:pic>
        <p:nvPicPr>
          <p:cNvPr id="16" name="Image 2" descr="preencoded.png"/>
          <p:cNvPicPr>
            <a:picLocks noChangeAspect="1"/>
          </p:cNvPicPr>
          <p:nvPr/>
        </p:nvPicPr>
        <p:blipFill>
          <a:blip r:embed="rId5"/>
          <a:stretch>
            <a:fillRect/>
          </a:stretch>
        </p:blipFill>
        <p:spPr>
          <a:xfrm>
            <a:off x="640080" y="2016760"/>
            <a:ext cx="365760" cy="365760"/>
          </a:xfrm>
          <a:prstGeom prst="rect">
            <a:avLst/>
          </a:prstGeom>
        </p:spPr>
      </p:pic>
      <p:sp>
        <p:nvSpPr>
          <p:cNvPr id="17" name="Text 11"/>
          <p:cNvSpPr txBox="1"/>
          <p:nvPr/>
        </p:nvSpPr>
        <p:spPr>
          <a:xfrm>
            <a:off x="1143000" y="1861312"/>
            <a:ext cx="2788920" cy="676656"/>
          </a:xfrm>
          <a:prstGeom prst="rect">
            <a:avLst/>
          </a:prstGeom>
          <a:noFill/>
          <a:ln/>
        </p:spPr>
        <p:txBody>
          <a:bodyPr wrap="square" lIns="0" tIns="0" rIns="0" bIns="0" rtlCol="0" anchor="ctr"/>
          <a:lstStyle/>
          <a:p>
            <a:pPr marL="0" indent="0">
              <a:buNone/>
            </a:pPr>
            <a:r>
              <a:rPr lang="en-US" sz="1300" b="1" dirty="0">
                <a:solidFill>
                  <a:srgbClr val="1E293B"/>
                </a:solidFill>
                <a:latin typeface="맑은 고딕" pitchFamily="34" charset="0"/>
                <a:ea typeface="맑은 고딕" pitchFamily="34" charset="-122"/>
                <a:cs typeface="맑은 고딕" pitchFamily="34" charset="-120"/>
              </a:rPr>
              <a:t>텍스트 대화만 지원</a:t>
            </a:r>
            <a:endParaRPr lang="en-US" sz="1300" dirty="0"/>
          </a:p>
        </p:txBody>
      </p:sp>
      <p:sp>
        <p:nvSpPr>
          <p:cNvPr id="18" name="Shape 12"/>
          <p:cNvSpPr/>
          <p:nvPr/>
        </p:nvSpPr>
        <p:spPr>
          <a:xfrm>
            <a:off x="4206240" y="2080768"/>
            <a:ext cx="256032" cy="256032"/>
          </a:xfrm>
          <a:prstGeom prst="rightArrow">
            <a:avLst/>
          </a:prstGeom>
          <a:solidFill>
            <a:srgbClr val="94A3B8"/>
          </a:solidFill>
          <a:ln w="12700">
            <a:solidFill>
              <a:srgbClr val="94A3B8"/>
            </a:solidFill>
            <a:prstDash val="solid"/>
          </a:ln>
        </p:spPr>
        <p:txBody>
          <a:bodyPr/>
          <a:lstStyle/>
          <a:p>
            <a:endParaRPr lang="ko-KR" altLang="en-US"/>
          </a:p>
        </p:txBody>
      </p:sp>
      <p:sp>
        <p:nvSpPr>
          <p:cNvPr id="19" name="Shape 13"/>
          <p:cNvSpPr/>
          <p:nvPr/>
        </p:nvSpPr>
        <p:spPr>
          <a:xfrm>
            <a:off x="4663440" y="1861312"/>
            <a:ext cx="4023360" cy="676656"/>
          </a:xfrm>
          <a:prstGeom prst="roundRect">
            <a:avLst>
              <a:gd name="adj" fmla="val 10811"/>
            </a:avLst>
          </a:prstGeom>
          <a:solidFill>
            <a:srgbClr val="DCE8F6"/>
          </a:solidFill>
          <a:ln w="12700">
            <a:solidFill>
              <a:srgbClr val="DCE8F6"/>
            </a:solidFill>
            <a:prstDash val="solid"/>
          </a:ln>
        </p:spPr>
        <p:txBody>
          <a:bodyPr/>
          <a:lstStyle/>
          <a:p>
            <a:endParaRPr lang="ko-KR" altLang="en-US"/>
          </a:p>
        </p:txBody>
      </p:sp>
      <p:pic>
        <p:nvPicPr>
          <p:cNvPr id="20" name="Image 3" descr="preencoded.png"/>
          <p:cNvPicPr>
            <a:picLocks noChangeAspect="1"/>
          </p:cNvPicPr>
          <p:nvPr/>
        </p:nvPicPr>
        <p:blipFill>
          <a:blip r:embed="rId6"/>
          <a:stretch>
            <a:fillRect/>
          </a:stretch>
        </p:blipFill>
        <p:spPr>
          <a:xfrm>
            <a:off x="4846320" y="2016760"/>
            <a:ext cx="365760" cy="365760"/>
          </a:xfrm>
          <a:prstGeom prst="rect">
            <a:avLst/>
          </a:prstGeom>
        </p:spPr>
      </p:pic>
      <p:sp>
        <p:nvSpPr>
          <p:cNvPr id="21" name="Text 14"/>
          <p:cNvSpPr txBox="1"/>
          <p:nvPr/>
        </p:nvSpPr>
        <p:spPr>
          <a:xfrm>
            <a:off x="5349240" y="1861312"/>
            <a:ext cx="3246120" cy="676656"/>
          </a:xfrm>
          <a:prstGeom prst="rect">
            <a:avLst/>
          </a:prstGeom>
          <a:noFill/>
          <a:ln/>
        </p:spPr>
        <p:txBody>
          <a:bodyPr wrap="square" lIns="0" tIns="0" rIns="0" bIns="0" rtlCol="0" anchor="ctr"/>
          <a:lstStyle/>
          <a:p>
            <a:pPr marL="0" indent="0">
              <a:buNone/>
            </a:pPr>
            <a:r>
              <a:rPr lang="en-US" sz="1300" b="1" dirty="0">
                <a:solidFill>
                  <a:srgbClr val="41659E"/>
                </a:solidFill>
                <a:latin typeface="맑은 고딕" pitchFamily="34" charset="0"/>
                <a:ea typeface="맑은 고딕" pitchFamily="34" charset="-122"/>
                <a:cs typeface="맑은 고딕" pitchFamily="34" charset="-120"/>
              </a:rPr>
              <a:t>음성 인식(STT) · 음성 안내(TTS)</a:t>
            </a:r>
            <a:endParaRPr lang="en-US" sz="1300" dirty="0"/>
          </a:p>
        </p:txBody>
      </p:sp>
      <p:sp>
        <p:nvSpPr>
          <p:cNvPr id="22" name="Shape 15"/>
          <p:cNvSpPr/>
          <p:nvPr/>
        </p:nvSpPr>
        <p:spPr>
          <a:xfrm>
            <a:off x="457200" y="2665984"/>
            <a:ext cx="3566160" cy="676656"/>
          </a:xfrm>
          <a:prstGeom prst="roundRect">
            <a:avLst>
              <a:gd name="adj" fmla="val 10811"/>
            </a:avLst>
          </a:prstGeom>
          <a:solidFill>
            <a:srgbClr val="F9DFDB"/>
          </a:solidFill>
          <a:ln w="12700">
            <a:solidFill>
              <a:srgbClr val="F9DFDB"/>
            </a:solidFill>
            <a:prstDash val="solid"/>
          </a:ln>
        </p:spPr>
        <p:txBody>
          <a:bodyPr/>
          <a:lstStyle/>
          <a:p>
            <a:endParaRPr lang="ko-KR" altLang="en-US"/>
          </a:p>
        </p:txBody>
      </p:sp>
      <p:pic>
        <p:nvPicPr>
          <p:cNvPr id="23" name="Image 4" descr="preencoded.png"/>
          <p:cNvPicPr>
            <a:picLocks noChangeAspect="1"/>
          </p:cNvPicPr>
          <p:nvPr/>
        </p:nvPicPr>
        <p:blipFill>
          <a:blip r:embed="rId7"/>
          <a:stretch>
            <a:fillRect/>
          </a:stretch>
        </p:blipFill>
        <p:spPr>
          <a:xfrm>
            <a:off x="640080" y="2821432"/>
            <a:ext cx="365760" cy="365760"/>
          </a:xfrm>
          <a:prstGeom prst="rect">
            <a:avLst/>
          </a:prstGeom>
        </p:spPr>
      </p:pic>
      <p:sp>
        <p:nvSpPr>
          <p:cNvPr id="24" name="Text 16"/>
          <p:cNvSpPr txBox="1"/>
          <p:nvPr/>
        </p:nvSpPr>
        <p:spPr>
          <a:xfrm>
            <a:off x="1143000" y="2665984"/>
            <a:ext cx="2788920" cy="676656"/>
          </a:xfrm>
          <a:prstGeom prst="rect">
            <a:avLst/>
          </a:prstGeom>
          <a:noFill/>
          <a:ln/>
        </p:spPr>
        <p:txBody>
          <a:bodyPr wrap="square" lIns="0" tIns="0" rIns="0" bIns="0" rtlCol="0" anchor="ctr"/>
          <a:lstStyle/>
          <a:p>
            <a:pPr marL="0" indent="0">
              <a:buNone/>
            </a:pPr>
            <a:r>
              <a:rPr lang="en-US" sz="1300" b="1" dirty="0">
                <a:solidFill>
                  <a:srgbClr val="1E293B"/>
                </a:solidFill>
                <a:latin typeface="맑은 고딕" pitchFamily="34" charset="0"/>
                <a:ea typeface="맑은 고딕" pitchFamily="34" charset="-122"/>
                <a:cs typeface="맑은 고딕" pitchFamily="34" charset="-120"/>
              </a:rPr>
              <a:t>웹 챗봇 단독</a:t>
            </a:r>
            <a:endParaRPr lang="en-US" sz="1300" dirty="0"/>
          </a:p>
        </p:txBody>
      </p:sp>
      <p:sp>
        <p:nvSpPr>
          <p:cNvPr id="25" name="Shape 17"/>
          <p:cNvSpPr/>
          <p:nvPr/>
        </p:nvSpPr>
        <p:spPr>
          <a:xfrm>
            <a:off x="4206240" y="2885440"/>
            <a:ext cx="256032" cy="256032"/>
          </a:xfrm>
          <a:prstGeom prst="rightArrow">
            <a:avLst/>
          </a:prstGeom>
          <a:solidFill>
            <a:srgbClr val="94A3B8"/>
          </a:solidFill>
          <a:ln w="12700">
            <a:solidFill>
              <a:srgbClr val="94A3B8"/>
            </a:solidFill>
            <a:prstDash val="solid"/>
          </a:ln>
        </p:spPr>
        <p:txBody>
          <a:bodyPr/>
          <a:lstStyle/>
          <a:p>
            <a:endParaRPr lang="ko-KR" altLang="en-US"/>
          </a:p>
        </p:txBody>
      </p:sp>
      <p:sp>
        <p:nvSpPr>
          <p:cNvPr id="26" name="Shape 18"/>
          <p:cNvSpPr/>
          <p:nvPr/>
        </p:nvSpPr>
        <p:spPr>
          <a:xfrm>
            <a:off x="4663440" y="2665984"/>
            <a:ext cx="4023360" cy="676656"/>
          </a:xfrm>
          <a:prstGeom prst="roundRect">
            <a:avLst>
              <a:gd name="adj" fmla="val 10811"/>
            </a:avLst>
          </a:prstGeom>
          <a:solidFill>
            <a:srgbClr val="DCE8F6"/>
          </a:solidFill>
          <a:ln w="12700">
            <a:solidFill>
              <a:srgbClr val="DCE8F6"/>
            </a:solidFill>
            <a:prstDash val="solid"/>
          </a:ln>
        </p:spPr>
        <p:txBody>
          <a:bodyPr/>
          <a:lstStyle/>
          <a:p>
            <a:endParaRPr lang="ko-KR" altLang="en-US"/>
          </a:p>
        </p:txBody>
      </p:sp>
      <p:pic>
        <p:nvPicPr>
          <p:cNvPr id="27" name="Image 5" descr="preencoded.png"/>
          <p:cNvPicPr>
            <a:picLocks noChangeAspect="1"/>
          </p:cNvPicPr>
          <p:nvPr/>
        </p:nvPicPr>
        <p:blipFill>
          <a:blip r:embed="rId8"/>
          <a:stretch>
            <a:fillRect/>
          </a:stretch>
        </p:blipFill>
        <p:spPr>
          <a:xfrm>
            <a:off x="4846320" y="2821432"/>
            <a:ext cx="365760" cy="365760"/>
          </a:xfrm>
          <a:prstGeom prst="rect">
            <a:avLst/>
          </a:prstGeom>
        </p:spPr>
      </p:pic>
      <p:sp>
        <p:nvSpPr>
          <p:cNvPr id="28" name="Text 19"/>
          <p:cNvSpPr txBox="1"/>
          <p:nvPr/>
        </p:nvSpPr>
        <p:spPr>
          <a:xfrm>
            <a:off x="5349240" y="2665984"/>
            <a:ext cx="3246120" cy="676656"/>
          </a:xfrm>
          <a:prstGeom prst="rect">
            <a:avLst/>
          </a:prstGeom>
          <a:noFill/>
          <a:ln/>
        </p:spPr>
        <p:txBody>
          <a:bodyPr wrap="square" lIns="0" tIns="0" rIns="0" bIns="0" rtlCol="0" anchor="ctr"/>
          <a:lstStyle/>
          <a:p>
            <a:pPr marL="0" indent="0">
              <a:buNone/>
            </a:pPr>
            <a:r>
              <a:rPr lang="en-US" sz="1300" b="1" dirty="0">
                <a:solidFill>
                  <a:srgbClr val="41659E"/>
                </a:solidFill>
                <a:latin typeface="맑은 고딕" pitchFamily="34" charset="0"/>
                <a:ea typeface="맑은 고딕" pitchFamily="34" charset="-122"/>
                <a:cs typeface="맑은 고딕" pitchFamily="34" charset="-120"/>
              </a:rPr>
              <a:t>온디바이스 AI 에이전트 연동</a:t>
            </a:r>
          </a:p>
          <a:p>
            <a:pPr marL="0" indent="0">
              <a:spcBef>
                <a:spcPts val="200"/>
              </a:spcBef>
              <a:buNone/>
            </a:pPr>
            <a:r>
              <a:rPr lang="ko-KR" sz="950" dirty="0">
                <a:solidFill>
                  <a:srgbClr val="64748B"/>
                </a:solidFill>
                <a:latin typeface="맑은 고딕" pitchFamily="34" charset="0"/>
                <a:ea typeface="맑은 고딕" pitchFamily="34" charset="-122"/>
                <a:cs typeface="맑은 고딕" pitchFamily="34" charset="-120"/>
              </a:rPr>
              <a:t>마스킹 문장만 전달, 실제 값은 기기에서 채움</a:t>
            </a:r>
          </a:p>
        </p:txBody>
      </p:sp>
      <p:sp>
        <p:nvSpPr>
          <p:cNvPr id="29" name="Shape 20"/>
          <p:cNvSpPr/>
          <p:nvPr/>
        </p:nvSpPr>
        <p:spPr>
          <a:xfrm>
            <a:off x="457200" y="3470655"/>
            <a:ext cx="3566160" cy="676656"/>
          </a:xfrm>
          <a:prstGeom prst="roundRect">
            <a:avLst>
              <a:gd name="adj" fmla="val 10811"/>
            </a:avLst>
          </a:prstGeom>
          <a:solidFill>
            <a:srgbClr val="F9DFDB"/>
          </a:solidFill>
          <a:ln w="12700">
            <a:solidFill>
              <a:srgbClr val="F9DFDB"/>
            </a:solidFill>
            <a:prstDash val="solid"/>
          </a:ln>
        </p:spPr>
        <p:txBody>
          <a:bodyPr/>
          <a:lstStyle/>
          <a:p>
            <a:endParaRPr lang="ko-KR" altLang="en-US"/>
          </a:p>
        </p:txBody>
      </p:sp>
      <p:pic>
        <p:nvPicPr>
          <p:cNvPr id="30" name="Image 6" descr="preencoded.png"/>
          <p:cNvPicPr>
            <a:picLocks noChangeAspect="1"/>
          </p:cNvPicPr>
          <p:nvPr/>
        </p:nvPicPr>
        <p:blipFill>
          <a:blip r:embed="rId9"/>
          <a:stretch>
            <a:fillRect/>
          </a:stretch>
        </p:blipFill>
        <p:spPr>
          <a:xfrm>
            <a:off x="640080" y="3626104"/>
            <a:ext cx="365760" cy="365760"/>
          </a:xfrm>
          <a:prstGeom prst="rect">
            <a:avLst/>
          </a:prstGeom>
        </p:spPr>
      </p:pic>
      <p:sp>
        <p:nvSpPr>
          <p:cNvPr id="31" name="Text 21"/>
          <p:cNvSpPr txBox="1"/>
          <p:nvPr/>
        </p:nvSpPr>
        <p:spPr>
          <a:xfrm>
            <a:off x="1143000" y="3470655"/>
            <a:ext cx="2788920" cy="676656"/>
          </a:xfrm>
          <a:prstGeom prst="rect">
            <a:avLst/>
          </a:prstGeom>
          <a:noFill/>
          <a:ln/>
        </p:spPr>
        <p:txBody>
          <a:bodyPr wrap="square" lIns="0" tIns="0" rIns="0" bIns="0" rtlCol="0" anchor="ctr"/>
          <a:lstStyle/>
          <a:p>
            <a:pPr marL="0" indent="0">
              <a:buNone/>
            </a:pPr>
            <a:r>
              <a:rPr lang="en-US" sz="1300" b="1" dirty="0">
                <a:solidFill>
                  <a:srgbClr val="1E293B"/>
                </a:solidFill>
                <a:latin typeface="맑은 고딕" pitchFamily="34" charset="0"/>
                <a:ea typeface="맑은 고딕" pitchFamily="34" charset="-122"/>
                <a:cs typeface="맑은 고딕" pitchFamily="34" charset="-120"/>
              </a:rPr>
              <a:t>모델 오류 일부 남음</a:t>
            </a:r>
            <a:endParaRPr lang="en-US" sz="1300" dirty="0"/>
          </a:p>
        </p:txBody>
      </p:sp>
      <p:sp>
        <p:nvSpPr>
          <p:cNvPr id="32" name="Shape 22"/>
          <p:cNvSpPr/>
          <p:nvPr/>
        </p:nvSpPr>
        <p:spPr>
          <a:xfrm>
            <a:off x="4206240" y="3690112"/>
            <a:ext cx="256032" cy="256032"/>
          </a:xfrm>
          <a:prstGeom prst="rightArrow">
            <a:avLst/>
          </a:prstGeom>
          <a:solidFill>
            <a:srgbClr val="94A3B8"/>
          </a:solidFill>
          <a:ln w="12700">
            <a:solidFill>
              <a:srgbClr val="94A3B8"/>
            </a:solidFill>
            <a:prstDash val="solid"/>
          </a:ln>
        </p:spPr>
        <p:txBody>
          <a:bodyPr/>
          <a:lstStyle/>
          <a:p>
            <a:endParaRPr lang="ko-KR" altLang="en-US"/>
          </a:p>
        </p:txBody>
      </p:sp>
      <p:sp>
        <p:nvSpPr>
          <p:cNvPr id="33" name="Shape 23"/>
          <p:cNvSpPr/>
          <p:nvPr/>
        </p:nvSpPr>
        <p:spPr>
          <a:xfrm>
            <a:off x="4663440" y="3470655"/>
            <a:ext cx="4023360" cy="676656"/>
          </a:xfrm>
          <a:prstGeom prst="roundRect">
            <a:avLst>
              <a:gd name="adj" fmla="val 10811"/>
            </a:avLst>
          </a:prstGeom>
          <a:solidFill>
            <a:srgbClr val="DCE8F6"/>
          </a:solidFill>
          <a:ln w="12700">
            <a:solidFill>
              <a:srgbClr val="DCE8F6"/>
            </a:solidFill>
            <a:prstDash val="solid"/>
          </a:ln>
        </p:spPr>
        <p:txBody>
          <a:bodyPr/>
          <a:lstStyle/>
          <a:p>
            <a:endParaRPr lang="ko-KR" altLang="en-US"/>
          </a:p>
        </p:txBody>
      </p:sp>
      <p:pic>
        <p:nvPicPr>
          <p:cNvPr id="34" name="Image 7" descr="preencoded.png"/>
          <p:cNvPicPr>
            <a:picLocks noChangeAspect="1"/>
          </p:cNvPicPr>
          <p:nvPr/>
        </p:nvPicPr>
        <p:blipFill>
          <a:blip r:embed="rId10"/>
          <a:stretch>
            <a:fillRect/>
          </a:stretch>
        </p:blipFill>
        <p:spPr>
          <a:xfrm>
            <a:off x="4846320" y="3626104"/>
            <a:ext cx="365760" cy="365760"/>
          </a:xfrm>
          <a:prstGeom prst="rect">
            <a:avLst/>
          </a:prstGeom>
        </p:spPr>
      </p:pic>
      <p:sp>
        <p:nvSpPr>
          <p:cNvPr id="35" name="Text 24"/>
          <p:cNvSpPr txBox="1"/>
          <p:nvPr/>
        </p:nvSpPr>
        <p:spPr>
          <a:xfrm>
            <a:off x="5349240" y="3470655"/>
            <a:ext cx="3246120" cy="676656"/>
          </a:xfrm>
          <a:prstGeom prst="rect">
            <a:avLst/>
          </a:prstGeom>
          <a:noFill/>
          <a:ln/>
        </p:spPr>
        <p:txBody>
          <a:bodyPr wrap="square" lIns="0" tIns="0" rIns="0" bIns="0" rtlCol="0" anchor="ctr"/>
          <a:lstStyle/>
          <a:p>
            <a:pPr marL="0" indent="0">
              <a:buNone/>
            </a:pPr>
            <a:r>
              <a:rPr lang="en-US" sz="1300" b="1" dirty="0">
                <a:solidFill>
                  <a:srgbClr val="41659E"/>
                </a:solidFill>
                <a:latin typeface="맑은 고딕" pitchFamily="34" charset="0"/>
                <a:ea typeface="맑은 고딕" pitchFamily="34" charset="-122"/>
                <a:cs typeface="맑은 고딕" pitchFamily="34" charset="-120"/>
              </a:rPr>
              <a:t>검증기 · 정답 데이터 보강</a:t>
            </a:r>
            <a:endParaRPr lang="en-US" sz="1300" dirty="0"/>
          </a:p>
        </p:txBody>
      </p:sp>
    </p:spTree>
    <p:extLst>
      <p:ext uri="{BB962C8B-B14F-4D97-AF65-F5344CB8AC3E}">
        <p14:creationId xmlns:p14="http://schemas.microsoft.com/office/powerpoint/2010/main" val="468776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152400"/>
            <a:ext cx="4572000" cy="177800"/>
          </a:xfrm>
          <a:prstGeom prst="rect">
            <a:avLst/>
          </a:prstGeom>
          <a:noFill/>
          <a:ln/>
        </p:spPr>
        <p:txBody>
          <a:bodyPr wrap="square" lIns="0" tIns="0" rIns="0" bIns="0" rtlCol="0" anchor="t"/>
          <a:lstStyle/>
          <a:p>
            <a:pPr marL="0" indent="0">
              <a:buNone/>
            </a:pPr>
            <a:r>
              <a:rPr lang="en-US" sz="900" b="1" dirty="0">
                <a:solidFill>
                  <a:srgbClr val="41659E"/>
                </a:solidFill>
                <a:latin typeface="맑은 고딕" pitchFamily="34" charset="0"/>
                <a:ea typeface="맑은 고딕" pitchFamily="34" charset="-122"/>
                <a:cs typeface="맑은 고딕" pitchFamily="34" charset="-120"/>
              </a:rPr>
              <a:t>08  성과와 로드맵</a:t>
            </a:r>
            <a:endParaRPr lang="en-US" sz="900" dirty="0"/>
          </a:p>
        </p:txBody>
      </p:sp>
      <p:sp>
        <p:nvSpPr>
          <p:cNvPr id="4" name="Text 2"/>
          <p:cNvSpPr txBox="1"/>
          <p:nvPr/>
        </p:nvSpPr>
        <p:spPr>
          <a:xfrm>
            <a:off x="457200" y="330200"/>
            <a:ext cx="8229600" cy="355600"/>
          </a:xfrm>
          <a:prstGeom prst="rect">
            <a:avLst/>
          </a:prstGeom>
          <a:noFill/>
          <a:ln/>
        </p:spPr>
        <p:txBody>
          <a:bodyPr wrap="square" lIns="0" tIns="0" rIns="0" bIns="0" rtlCol="0" anchor="ctr"/>
          <a:lstStyle/>
          <a:p>
            <a:pPr marL="0" indent="0">
              <a:buNone/>
            </a:pPr>
            <a:r>
              <a:rPr lang="en-US" sz="2000" b="1" dirty="0">
                <a:solidFill>
                  <a:srgbClr val="1B2A3A"/>
                </a:solidFill>
                <a:latin typeface="맑은 고딕" pitchFamily="34" charset="0"/>
                <a:ea typeface="맑은 고딕" pitchFamily="34" charset="-122"/>
                <a:cs typeface="맑은 고딕" pitchFamily="34" charset="-120"/>
              </a:rPr>
              <a:t>기대효과: 누구나 음성으로 하는 은행 조회</a:t>
            </a:r>
            <a:endParaRPr lang="en-US" sz="2000" dirty="0"/>
          </a:p>
        </p:txBody>
      </p:sp>
      <p:sp>
        <p:nvSpPr>
          <p:cNvPr id="6" name="Text 4"/>
          <p:cNvSpPr txBox="1"/>
          <p:nvPr/>
        </p:nvSpPr>
        <p:spPr>
          <a:xfrm>
            <a:off x="8483600" y="4808220"/>
            <a:ext cx="457200" cy="182880"/>
          </a:xfrm>
          <a:prstGeom prst="rect">
            <a:avLst/>
          </a:prstGeom>
          <a:noFill/>
          <a:ln/>
        </p:spPr>
        <p:txBody>
          <a:bodyPr wrap="square" lIns="0" tIns="0" rIns="0" bIns="0" rtlCol="0" anchor="t"/>
          <a:lstStyle/>
          <a:p>
            <a:pPr marL="0" indent="0" algn="r">
              <a:buNone/>
            </a:pPr>
            <a:r>
              <a:rPr lang="en-US" sz="850" dirty="0">
                <a:solidFill>
                  <a:srgbClr val="94A3B8"/>
                </a:solidFill>
                <a:latin typeface="맑은 고딕" pitchFamily="34" charset="0"/>
                <a:ea typeface="맑은 고딕" pitchFamily="34" charset="-122"/>
                <a:cs typeface="맑은 고딕" pitchFamily="34" charset="-120"/>
              </a:rPr>
              <a:t>23</a:t>
            </a:r>
            <a:endParaRPr lang="en-US" sz="850" dirty="0"/>
          </a:p>
        </p:txBody>
      </p:sp>
      <p:sp>
        <p:nvSpPr>
          <p:cNvPr id="8" name="Shape 5"/>
          <p:cNvSpPr/>
          <p:nvPr/>
        </p:nvSpPr>
        <p:spPr>
          <a:xfrm>
            <a:off x="457200" y="1056640"/>
            <a:ext cx="1874520" cy="2011680"/>
          </a:xfrm>
          <a:prstGeom prst="roundRect">
            <a:avLst>
              <a:gd name="adj" fmla="val 3902"/>
            </a:avLst>
          </a:prstGeom>
          <a:solidFill>
            <a:srgbClr val="DCE8F6"/>
          </a:solidFill>
          <a:ln w="12700">
            <a:solidFill>
              <a:srgbClr val="DCE8F6"/>
            </a:solidFill>
            <a:prstDash val="solid"/>
          </a:ln>
        </p:spPr>
        <p:txBody>
          <a:bodyPr/>
          <a:lstStyle/>
          <a:p>
            <a:endParaRPr lang="ko-KR" altLang="en-US"/>
          </a:p>
        </p:txBody>
      </p:sp>
      <p:sp>
        <p:nvSpPr>
          <p:cNvPr id="9" name="Shape 6"/>
          <p:cNvSpPr/>
          <p:nvPr/>
        </p:nvSpPr>
        <p:spPr>
          <a:xfrm>
            <a:off x="1069848" y="1193800"/>
            <a:ext cx="658368" cy="658368"/>
          </a:xfrm>
          <a:prstGeom prst="ellipse">
            <a:avLst/>
          </a:prstGeom>
          <a:solidFill>
            <a:srgbClr val="41659E"/>
          </a:solidFill>
          <a:ln w="12700">
            <a:solidFill>
              <a:srgbClr val="41659E"/>
            </a:solidFill>
            <a:prstDash val="solid"/>
          </a:ln>
        </p:spPr>
        <p:txBody>
          <a:bodyPr/>
          <a:lstStyle/>
          <a:p>
            <a:endParaRPr lang="ko-KR" altLang="en-US"/>
          </a:p>
        </p:txBody>
      </p:sp>
      <p:pic>
        <p:nvPicPr>
          <p:cNvPr id="10" name="Image 0" descr="preencoded.png"/>
          <p:cNvPicPr>
            <a:picLocks noChangeAspect="1"/>
          </p:cNvPicPr>
          <p:nvPr/>
        </p:nvPicPr>
        <p:blipFill>
          <a:blip r:embed="rId3"/>
          <a:stretch>
            <a:fillRect/>
          </a:stretch>
        </p:blipFill>
        <p:spPr>
          <a:xfrm>
            <a:off x="1227856" y="1351808"/>
            <a:ext cx="342351" cy="342351"/>
          </a:xfrm>
          <a:prstGeom prst="rect">
            <a:avLst/>
          </a:prstGeom>
        </p:spPr>
      </p:pic>
      <p:sp>
        <p:nvSpPr>
          <p:cNvPr id="11" name="Text 7"/>
          <p:cNvSpPr txBox="1"/>
          <p:nvPr/>
        </p:nvSpPr>
        <p:spPr>
          <a:xfrm>
            <a:off x="457200" y="1925320"/>
            <a:ext cx="1874520" cy="347472"/>
          </a:xfrm>
          <a:prstGeom prst="rect">
            <a:avLst/>
          </a:prstGeom>
          <a:noFill/>
          <a:ln/>
        </p:spPr>
        <p:txBody>
          <a:bodyPr wrap="square" lIns="0" tIns="0" rIns="0" bIns="0" rtlCol="0" anchor="ctr"/>
          <a:lstStyle/>
          <a:p>
            <a:pPr marL="0" indent="0" algn="ctr">
              <a:buNone/>
            </a:pPr>
            <a:r>
              <a:rPr lang="en-US" sz="1400" b="1" dirty="0">
                <a:solidFill>
                  <a:srgbClr val="1B2A3A"/>
                </a:solidFill>
                <a:latin typeface="맑은 고딕" pitchFamily="34" charset="0"/>
                <a:ea typeface="맑은 고딕" pitchFamily="34" charset="-122"/>
                <a:cs typeface="맑은 고딕" pitchFamily="34" charset="-120"/>
              </a:rPr>
              <a:t>한 번 설정</a:t>
            </a:r>
            <a:endParaRPr lang="en-US" sz="1400" dirty="0"/>
          </a:p>
        </p:txBody>
      </p:sp>
      <p:sp>
        <p:nvSpPr>
          <p:cNvPr id="12" name="Text 8"/>
          <p:cNvSpPr txBox="1"/>
          <p:nvPr/>
        </p:nvSpPr>
        <p:spPr>
          <a:xfrm>
            <a:off x="548640" y="2291080"/>
            <a:ext cx="1691640" cy="640080"/>
          </a:xfrm>
          <a:prstGeom prst="rect">
            <a:avLst/>
          </a:prstGeom>
          <a:noFill/>
          <a:ln/>
        </p:spPr>
        <p:txBody>
          <a:bodyPr wrap="square" lIns="0" tIns="0" rIns="0" bIns="0" rtlCol="0" anchor="ctr"/>
          <a:lstStyle/>
          <a:p>
            <a:pPr marL="0" indent="0" algn="ctr">
              <a:buNone/>
            </a:pPr>
            <a:r>
              <a:rPr lang="en-US" sz="1000" dirty="0">
                <a:solidFill>
                  <a:srgbClr val="2C3E50"/>
                </a:solidFill>
                <a:latin typeface="맑은 고딕" pitchFamily="34" charset="0"/>
                <a:ea typeface="맑은 고딕" pitchFamily="34" charset="-122"/>
                <a:cs typeface="맑은 고딕" pitchFamily="34" charset="-120"/>
              </a:rPr>
              <a:t>조회 대상(자녀 · 은행)</a:t>
            </a:r>
            <a:endParaRPr lang="en-US" sz="1000" dirty="0"/>
          </a:p>
          <a:p>
            <a:pPr marL="0" indent="0" algn="ctr">
              <a:buNone/>
            </a:pPr>
            <a:r>
              <a:rPr lang="en-US" sz="1000" dirty="0">
                <a:solidFill>
                  <a:srgbClr val="2C3E50"/>
                </a:solidFill>
                <a:latin typeface="맑은 고딕" pitchFamily="34" charset="0"/>
                <a:ea typeface="맑은 고딕" pitchFamily="34" charset="-122"/>
                <a:cs typeface="맑은 고딕" pitchFamily="34" charset="-120"/>
              </a:rPr>
              <a:t>갱신 주기 설정</a:t>
            </a:r>
            <a:endParaRPr lang="en-US" sz="1000" dirty="0"/>
          </a:p>
        </p:txBody>
      </p:sp>
      <p:sp>
        <p:nvSpPr>
          <p:cNvPr id="13" name="Shape 9"/>
          <p:cNvSpPr/>
          <p:nvPr/>
        </p:nvSpPr>
        <p:spPr>
          <a:xfrm>
            <a:off x="2350008" y="1925320"/>
            <a:ext cx="219456" cy="219456"/>
          </a:xfrm>
          <a:prstGeom prst="rightArrow">
            <a:avLst/>
          </a:prstGeom>
          <a:solidFill>
            <a:srgbClr val="94A3B8"/>
          </a:solidFill>
          <a:ln w="12700">
            <a:solidFill>
              <a:srgbClr val="94A3B8"/>
            </a:solidFill>
            <a:prstDash val="solid"/>
          </a:ln>
        </p:spPr>
        <p:txBody>
          <a:bodyPr/>
          <a:lstStyle/>
          <a:p>
            <a:endParaRPr lang="ko-KR" altLang="en-US"/>
          </a:p>
        </p:txBody>
      </p:sp>
      <p:sp>
        <p:nvSpPr>
          <p:cNvPr id="14" name="Shape 10"/>
          <p:cNvSpPr/>
          <p:nvPr/>
        </p:nvSpPr>
        <p:spPr>
          <a:xfrm>
            <a:off x="2587752" y="1056640"/>
            <a:ext cx="1874520" cy="2011680"/>
          </a:xfrm>
          <a:prstGeom prst="roundRect">
            <a:avLst>
              <a:gd name="adj" fmla="val 3902"/>
            </a:avLst>
          </a:prstGeom>
          <a:solidFill>
            <a:srgbClr val="1B2A3A"/>
          </a:solidFill>
          <a:ln w="12700">
            <a:solidFill>
              <a:srgbClr val="1B2A3A"/>
            </a:solidFill>
            <a:prstDash val="solid"/>
          </a:ln>
        </p:spPr>
        <p:txBody>
          <a:bodyPr/>
          <a:lstStyle/>
          <a:p>
            <a:endParaRPr lang="ko-KR" altLang="en-US"/>
          </a:p>
        </p:txBody>
      </p:sp>
      <p:sp>
        <p:nvSpPr>
          <p:cNvPr id="15" name="Shape 11"/>
          <p:cNvSpPr/>
          <p:nvPr/>
        </p:nvSpPr>
        <p:spPr>
          <a:xfrm>
            <a:off x="3200400" y="1193800"/>
            <a:ext cx="658368" cy="658368"/>
          </a:xfrm>
          <a:prstGeom prst="ellipse">
            <a:avLst/>
          </a:prstGeom>
          <a:solidFill>
            <a:srgbClr val="F2C94C"/>
          </a:solidFill>
          <a:ln w="12700">
            <a:solidFill>
              <a:srgbClr val="F2C94C"/>
            </a:solidFill>
            <a:prstDash val="solid"/>
          </a:ln>
        </p:spPr>
        <p:txBody>
          <a:bodyPr/>
          <a:lstStyle/>
          <a:p>
            <a:endParaRPr lang="ko-KR" altLang="en-US"/>
          </a:p>
        </p:txBody>
      </p:sp>
      <p:pic>
        <p:nvPicPr>
          <p:cNvPr id="16" name="Image 1" descr="preencoded.png"/>
          <p:cNvPicPr>
            <a:picLocks noChangeAspect="1"/>
          </p:cNvPicPr>
          <p:nvPr/>
        </p:nvPicPr>
        <p:blipFill>
          <a:blip r:embed="rId4"/>
          <a:stretch>
            <a:fillRect/>
          </a:stretch>
        </p:blipFill>
        <p:spPr>
          <a:xfrm>
            <a:off x="3358408" y="1351808"/>
            <a:ext cx="342351" cy="342351"/>
          </a:xfrm>
          <a:prstGeom prst="rect">
            <a:avLst/>
          </a:prstGeom>
        </p:spPr>
      </p:pic>
      <p:sp>
        <p:nvSpPr>
          <p:cNvPr id="17" name="Text 12"/>
          <p:cNvSpPr txBox="1"/>
          <p:nvPr/>
        </p:nvSpPr>
        <p:spPr>
          <a:xfrm>
            <a:off x="2587752" y="1925320"/>
            <a:ext cx="18745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버튼 길게 누르기</a:t>
            </a:r>
            <a:endParaRPr lang="en-US" sz="1400" dirty="0"/>
          </a:p>
        </p:txBody>
      </p:sp>
      <p:sp>
        <p:nvSpPr>
          <p:cNvPr id="18" name="Text 13"/>
          <p:cNvSpPr txBox="1"/>
          <p:nvPr/>
        </p:nvSpPr>
        <p:spPr>
          <a:xfrm>
            <a:off x="2679192" y="2291080"/>
            <a:ext cx="1691640" cy="640080"/>
          </a:xfrm>
          <a:prstGeom prst="rect">
            <a:avLst/>
          </a:prstGeom>
          <a:noFill/>
          <a:ln/>
        </p:spPr>
        <p:txBody>
          <a:bodyPr wrap="square" lIns="0" tIns="0" rIns="0" bIns="0" rtlCol="0" anchor="ctr"/>
          <a:lstStyle/>
          <a:p>
            <a:pPr marL="0" indent="0" algn="ctr">
              <a:buNone/>
            </a:pPr>
            <a:r>
              <a:rPr lang="en-US" sz="1000" dirty="0">
                <a:solidFill>
                  <a:srgbClr val="CBD5E1"/>
                </a:solidFill>
                <a:latin typeface="맑은 고딕" pitchFamily="34" charset="0"/>
                <a:ea typeface="맑은 고딕" pitchFamily="34" charset="-122"/>
                <a:cs typeface="맑은 고딕" pitchFamily="34" charset="-120"/>
              </a:rPr>
              <a:t>AI 에이전트 호출</a:t>
            </a:r>
            <a:endParaRPr lang="en-US" sz="1000" dirty="0"/>
          </a:p>
        </p:txBody>
      </p:sp>
      <p:sp>
        <p:nvSpPr>
          <p:cNvPr id="19" name="Shape 14"/>
          <p:cNvSpPr/>
          <p:nvPr/>
        </p:nvSpPr>
        <p:spPr>
          <a:xfrm>
            <a:off x="4480560" y="1925320"/>
            <a:ext cx="219456" cy="219456"/>
          </a:xfrm>
          <a:prstGeom prst="rightArrow">
            <a:avLst/>
          </a:prstGeom>
          <a:solidFill>
            <a:srgbClr val="94A3B8"/>
          </a:solidFill>
          <a:ln w="12700">
            <a:solidFill>
              <a:srgbClr val="94A3B8"/>
            </a:solidFill>
            <a:prstDash val="solid"/>
          </a:ln>
        </p:spPr>
        <p:txBody>
          <a:bodyPr/>
          <a:lstStyle/>
          <a:p>
            <a:endParaRPr lang="ko-KR" altLang="en-US"/>
          </a:p>
        </p:txBody>
      </p:sp>
      <p:sp>
        <p:nvSpPr>
          <p:cNvPr id="20" name="Shape 15"/>
          <p:cNvSpPr/>
          <p:nvPr/>
        </p:nvSpPr>
        <p:spPr>
          <a:xfrm>
            <a:off x="4718304" y="1056640"/>
            <a:ext cx="1874520" cy="2011680"/>
          </a:xfrm>
          <a:prstGeom prst="roundRect">
            <a:avLst>
              <a:gd name="adj" fmla="val 3902"/>
            </a:avLst>
          </a:prstGeom>
          <a:solidFill>
            <a:srgbClr val="DCE8F6"/>
          </a:solidFill>
          <a:ln w="12700">
            <a:solidFill>
              <a:srgbClr val="DCE8F6"/>
            </a:solidFill>
            <a:prstDash val="solid"/>
          </a:ln>
        </p:spPr>
        <p:txBody>
          <a:bodyPr/>
          <a:lstStyle/>
          <a:p>
            <a:endParaRPr lang="ko-KR" altLang="en-US"/>
          </a:p>
        </p:txBody>
      </p:sp>
      <p:sp>
        <p:nvSpPr>
          <p:cNvPr id="21" name="Shape 16"/>
          <p:cNvSpPr/>
          <p:nvPr/>
        </p:nvSpPr>
        <p:spPr>
          <a:xfrm>
            <a:off x="5330952" y="1193800"/>
            <a:ext cx="658368" cy="658368"/>
          </a:xfrm>
          <a:prstGeom prst="ellipse">
            <a:avLst/>
          </a:prstGeom>
          <a:solidFill>
            <a:srgbClr val="41659E"/>
          </a:solidFill>
          <a:ln w="12700">
            <a:solidFill>
              <a:srgbClr val="41659E"/>
            </a:solidFill>
            <a:prstDash val="solid"/>
          </a:ln>
        </p:spPr>
        <p:txBody>
          <a:bodyPr/>
          <a:lstStyle/>
          <a:p>
            <a:endParaRPr lang="ko-KR" altLang="en-US"/>
          </a:p>
        </p:txBody>
      </p:sp>
      <p:pic>
        <p:nvPicPr>
          <p:cNvPr id="22" name="Image 2" descr="preencoded.png"/>
          <p:cNvPicPr>
            <a:picLocks noChangeAspect="1"/>
          </p:cNvPicPr>
          <p:nvPr/>
        </p:nvPicPr>
        <p:blipFill>
          <a:blip r:embed="rId5"/>
          <a:stretch>
            <a:fillRect/>
          </a:stretch>
        </p:blipFill>
        <p:spPr>
          <a:xfrm>
            <a:off x="5488960" y="1351808"/>
            <a:ext cx="342351" cy="342351"/>
          </a:xfrm>
          <a:prstGeom prst="rect">
            <a:avLst/>
          </a:prstGeom>
        </p:spPr>
      </p:pic>
      <p:sp>
        <p:nvSpPr>
          <p:cNvPr id="23" name="Text 17"/>
          <p:cNvSpPr txBox="1"/>
          <p:nvPr/>
        </p:nvSpPr>
        <p:spPr>
          <a:xfrm>
            <a:off x="4718304" y="1925320"/>
            <a:ext cx="1874520" cy="347472"/>
          </a:xfrm>
          <a:prstGeom prst="rect">
            <a:avLst/>
          </a:prstGeom>
          <a:noFill/>
          <a:ln/>
        </p:spPr>
        <p:txBody>
          <a:bodyPr wrap="square" lIns="0" tIns="0" rIns="0" bIns="0" rtlCol="0" anchor="ctr"/>
          <a:lstStyle/>
          <a:p>
            <a:pPr marL="0" indent="0" algn="ctr">
              <a:buNone/>
            </a:pPr>
            <a:r>
              <a:rPr lang="en-US" sz="1400" b="1" dirty="0">
                <a:solidFill>
                  <a:srgbClr val="1B2A3A"/>
                </a:solidFill>
                <a:latin typeface="맑은 고딕" pitchFamily="34" charset="0"/>
                <a:ea typeface="맑은 고딕" pitchFamily="34" charset="-122"/>
                <a:cs typeface="맑은 고딕" pitchFamily="34" charset="-120"/>
              </a:rPr>
              <a:t>음성 질문</a:t>
            </a:r>
            <a:endParaRPr lang="en-US" sz="1400" dirty="0"/>
          </a:p>
        </p:txBody>
      </p:sp>
      <p:sp>
        <p:nvSpPr>
          <p:cNvPr id="24" name="Text 18"/>
          <p:cNvSpPr txBox="1"/>
          <p:nvPr/>
        </p:nvSpPr>
        <p:spPr>
          <a:xfrm>
            <a:off x="4809744" y="2291080"/>
            <a:ext cx="1691640" cy="640080"/>
          </a:xfrm>
          <a:prstGeom prst="rect">
            <a:avLst/>
          </a:prstGeom>
          <a:noFill/>
          <a:ln/>
        </p:spPr>
        <p:txBody>
          <a:bodyPr wrap="square" lIns="0" tIns="0" rIns="0" bIns="0" rtlCol="0" anchor="ctr"/>
          <a:lstStyle/>
          <a:p>
            <a:pPr marL="0" indent="0" algn="ctr">
              <a:buNone/>
            </a:pPr>
            <a:r>
              <a:rPr lang="en-US" sz="1000" dirty="0">
                <a:solidFill>
                  <a:srgbClr val="2C3E50"/>
                </a:solidFill>
                <a:latin typeface="맑은 고딕" pitchFamily="34" charset="0"/>
                <a:ea typeface="맑은 고딕" pitchFamily="34" charset="-122"/>
                <a:cs typeface="맑은 고딕" pitchFamily="34" charset="-120"/>
              </a:rPr>
              <a:t>"이번 달 이자</a:t>
            </a:r>
            <a:endParaRPr lang="en-US" sz="1000" dirty="0"/>
          </a:p>
          <a:p>
            <a:pPr marL="0" indent="0" algn="ctr">
              <a:buNone/>
            </a:pPr>
            <a:r>
              <a:rPr lang="en-US" sz="1000" dirty="0">
                <a:solidFill>
                  <a:srgbClr val="2C3E50"/>
                </a:solidFill>
                <a:latin typeface="맑은 고딕" pitchFamily="34" charset="0"/>
                <a:ea typeface="맑은 고딕" pitchFamily="34" charset="-122"/>
                <a:cs typeface="맑은 고딕" pitchFamily="34" charset="-120"/>
              </a:rPr>
              <a:t>얼마예요?"</a:t>
            </a:r>
            <a:endParaRPr lang="en-US" sz="1000" dirty="0"/>
          </a:p>
        </p:txBody>
      </p:sp>
      <p:sp>
        <p:nvSpPr>
          <p:cNvPr id="25" name="Shape 19"/>
          <p:cNvSpPr/>
          <p:nvPr/>
        </p:nvSpPr>
        <p:spPr>
          <a:xfrm>
            <a:off x="6611112" y="1925320"/>
            <a:ext cx="219456" cy="219456"/>
          </a:xfrm>
          <a:prstGeom prst="rightArrow">
            <a:avLst/>
          </a:prstGeom>
          <a:solidFill>
            <a:srgbClr val="94A3B8"/>
          </a:solidFill>
          <a:ln w="12700">
            <a:solidFill>
              <a:srgbClr val="94A3B8"/>
            </a:solidFill>
            <a:prstDash val="solid"/>
          </a:ln>
        </p:spPr>
        <p:txBody>
          <a:bodyPr/>
          <a:lstStyle/>
          <a:p>
            <a:endParaRPr lang="ko-KR" altLang="en-US"/>
          </a:p>
        </p:txBody>
      </p:sp>
      <p:sp>
        <p:nvSpPr>
          <p:cNvPr id="26" name="Shape 20"/>
          <p:cNvSpPr/>
          <p:nvPr/>
        </p:nvSpPr>
        <p:spPr>
          <a:xfrm>
            <a:off x="6848856" y="1056640"/>
            <a:ext cx="1874520" cy="2011680"/>
          </a:xfrm>
          <a:prstGeom prst="roundRect">
            <a:avLst>
              <a:gd name="adj" fmla="val 3902"/>
            </a:avLst>
          </a:prstGeom>
          <a:solidFill>
            <a:srgbClr val="DCE8F6"/>
          </a:solidFill>
          <a:ln w="12700">
            <a:solidFill>
              <a:srgbClr val="DCE8F6"/>
            </a:solidFill>
            <a:prstDash val="solid"/>
          </a:ln>
        </p:spPr>
        <p:txBody>
          <a:bodyPr/>
          <a:lstStyle/>
          <a:p>
            <a:endParaRPr lang="ko-KR" altLang="en-US"/>
          </a:p>
        </p:txBody>
      </p:sp>
      <p:sp>
        <p:nvSpPr>
          <p:cNvPr id="27" name="Shape 21"/>
          <p:cNvSpPr/>
          <p:nvPr/>
        </p:nvSpPr>
        <p:spPr>
          <a:xfrm>
            <a:off x="7461504" y="1193800"/>
            <a:ext cx="658368" cy="658368"/>
          </a:xfrm>
          <a:prstGeom prst="ellipse">
            <a:avLst/>
          </a:prstGeom>
          <a:solidFill>
            <a:srgbClr val="41659E"/>
          </a:solidFill>
          <a:ln w="12700">
            <a:solidFill>
              <a:srgbClr val="41659E"/>
            </a:solidFill>
            <a:prstDash val="solid"/>
          </a:ln>
        </p:spPr>
        <p:txBody>
          <a:bodyPr/>
          <a:lstStyle/>
          <a:p>
            <a:endParaRPr lang="ko-KR" altLang="en-US"/>
          </a:p>
        </p:txBody>
      </p:sp>
      <p:pic>
        <p:nvPicPr>
          <p:cNvPr id="28" name="Image 3" descr="preencoded.png"/>
          <p:cNvPicPr>
            <a:picLocks noChangeAspect="1"/>
          </p:cNvPicPr>
          <p:nvPr/>
        </p:nvPicPr>
        <p:blipFill>
          <a:blip r:embed="rId6"/>
          <a:stretch>
            <a:fillRect/>
          </a:stretch>
        </p:blipFill>
        <p:spPr>
          <a:xfrm>
            <a:off x="7619512" y="1351808"/>
            <a:ext cx="342351" cy="342351"/>
          </a:xfrm>
          <a:prstGeom prst="rect">
            <a:avLst/>
          </a:prstGeom>
        </p:spPr>
      </p:pic>
      <p:sp>
        <p:nvSpPr>
          <p:cNvPr id="29" name="Text 22"/>
          <p:cNvSpPr txBox="1"/>
          <p:nvPr/>
        </p:nvSpPr>
        <p:spPr>
          <a:xfrm>
            <a:off x="6848856" y="1925320"/>
            <a:ext cx="1874520" cy="347472"/>
          </a:xfrm>
          <a:prstGeom prst="rect">
            <a:avLst/>
          </a:prstGeom>
          <a:noFill/>
          <a:ln/>
        </p:spPr>
        <p:txBody>
          <a:bodyPr wrap="square" lIns="0" tIns="0" rIns="0" bIns="0" rtlCol="0" anchor="ctr"/>
          <a:lstStyle/>
          <a:p>
            <a:pPr marL="0" indent="0" algn="ctr">
              <a:buNone/>
            </a:pPr>
            <a:r>
              <a:rPr lang="en-US" sz="1400" b="1" dirty="0">
                <a:solidFill>
                  <a:srgbClr val="1B2A3A"/>
                </a:solidFill>
                <a:latin typeface="맑은 고딕" pitchFamily="34" charset="0"/>
                <a:ea typeface="맑은 고딕" pitchFamily="34" charset="-122"/>
                <a:cs typeface="맑은 고딕" pitchFamily="34" charset="-120"/>
              </a:rPr>
              <a:t>음성 답변</a:t>
            </a:r>
            <a:endParaRPr lang="en-US" sz="1400" dirty="0"/>
          </a:p>
        </p:txBody>
      </p:sp>
      <p:sp>
        <p:nvSpPr>
          <p:cNvPr id="30" name="Text 23"/>
          <p:cNvSpPr txBox="1"/>
          <p:nvPr/>
        </p:nvSpPr>
        <p:spPr>
          <a:xfrm>
            <a:off x="6940296" y="2291080"/>
            <a:ext cx="1691640" cy="640080"/>
          </a:xfrm>
          <a:prstGeom prst="rect">
            <a:avLst/>
          </a:prstGeom>
          <a:noFill/>
          <a:ln/>
        </p:spPr>
        <p:txBody>
          <a:bodyPr wrap="square" lIns="0" tIns="0" rIns="0" bIns="0" rtlCol="0" anchor="ctr"/>
          <a:lstStyle/>
          <a:p>
            <a:pPr marL="0" indent="0" algn="ctr">
              <a:buNone/>
            </a:pPr>
            <a:r>
              <a:rPr lang="en-US" sz="1000" dirty="0">
                <a:solidFill>
                  <a:srgbClr val="2C3E50"/>
                </a:solidFill>
                <a:latin typeface="맑은 고딕" pitchFamily="34" charset="0"/>
                <a:ea typeface="맑은 고딕" pitchFamily="34" charset="-122"/>
                <a:cs typeface="맑은 고딕" pitchFamily="34" charset="-120"/>
              </a:rPr>
              <a:t>"이자 58,000원,</a:t>
            </a:r>
            <a:endParaRPr lang="en-US" sz="1000" dirty="0"/>
          </a:p>
          <a:p>
            <a:pPr marL="0" indent="0" algn="ctr">
              <a:buNone/>
            </a:pPr>
            <a:r>
              <a:rPr lang="en-US" sz="1000" dirty="0">
                <a:solidFill>
                  <a:srgbClr val="2C3E50"/>
                </a:solidFill>
                <a:latin typeface="맑은 고딕" pitchFamily="34" charset="0"/>
                <a:ea typeface="맑은 고딕" pitchFamily="34" charset="-122"/>
                <a:cs typeface="맑은 고딕" pitchFamily="34" charset="-120"/>
              </a:rPr>
              <a:t>15일 납부 예정입니다"</a:t>
            </a:r>
            <a:endParaRPr lang="en-US" sz="1000" dirty="0"/>
          </a:p>
        </p:txBody>
      </p:sp>
      <p:sp>
        <p:nvSpPr>
          <p:cNvPr id="31" name="Shape 24"/>
          <p:cNvSpPr/>
          <p:nvPr/>
        </p:nvSpPr>
        <p:spPr>
          <a:xfrm>
            <a:off x="457200" y="3251200"/>
            <a:ext cx="2606040" cy="960120"/>
          </a:xfrm>
          <a:prstGeom prst="roundRect">
            <a:avLst>
              <a:gd name="adj" fmla="val 7619"/>
            </a:avLst>
          </a:prstGeom>
          <a:solidFill>
            <a:srgbClr val="F1F5F9"/>
          </a:solidFill>
          <a:ln w="12700">
            <a:solidFill>
              <a:srgbClr val="F1F5F9"/>
            </a:solidFill>
            <a:prstDash val="solid"/>
          </a:ln>
        </p:spPr>
        <p:txBody>
          <a:bodyPr/>
          <a:lstStyle/>
          <a:p>
            <a:endParaRPr lang="ko-KR" altLang="en-US"/>
          </a:p>
        </p:txBody>
      </p:sp>
      <p:pic>
        <p:nvPicPr>
          <p:cNvPr id="32" name="Image 4" descr="preencoded.png"/>
          <p:cNvPicPr>
            <a:picLocks noChangeAspect="1"/>
          </p:cNvPicPr>
          <p:nvPr/>
        </p:nvPicPr>
        <p:blipFill>
          <a:blip r:embed="rId7"/>
          <a:stretch>
            <a:fillRect/>
          </a:stretch>
        </p:blipFill>
        <p:spPr>
          <a:xfrm>
            <a:off x="640080" y="3507232"/>
            <a:ext cx="457200" cy="457200"/>
          </a:xfrm>
          <a:prstGeom prst="rect">
            <a:avLst/>
          </a:prstGeom>
        </p:spPr>
      </p:pic>
      <p:sp>
        <p:nvSpPr>
          <p:cNvPr id="33" name="Text 25"/>
          <p:cNvSpPr txBox="1"/>
          <p:nvPr/>
        </p:nvSpPr>
        <p:spPr>
          <a:xfrm>
            <a:off x="1234440" y="3342640"/>
            <a:ext cx="1783080" cy="384048"/>
          </a:xfrm>
          <a:prstGeom prst="rect">
            <a:avLst/>
          </a:prstGeom>
          <a:noFill/>
          <a:ln/>
        </p:spPr>
        <p:txBody>
          <a:bodyPr wrap="square" lIns="0" tIns="0" rIns="0" bIns="0" rtlCol="0" anchor="ctr"/>
          <a:lstStyle/>
          <a:p>
            <a:pPr marL="0" indent="0">
              <a:buNone/>
            </a:pPr>
            <a:r>
              <a:rPr lang="en-US" sz="1250" b="1" dirty="0">
                <a:solidFill>
                  <a:srgbClr val="1E293B"/>
                </a:solidFill>
                <a:latin typeface="맑은 고딕" pitchFamily="34" charset="0"/>
                <a:ea typeface="맑은 고딕" pitchFamily="34" charset="-122"/>
                <a:cs typeface="맑은 고딕" pitchFamily="34" charset="-120"/>
              </a:rPr>
              <a:t>어르신 · 시각장애인</a:t>
            </a:r>
            <a:endParaRPr lang="en-US" sz="1250" dirty="0"/>
          </a:p>
        </p:txBody>
      </p:sp>
      <p:sp>
        <p:nvSpPr>
          <p:cNvPr id="34" name="Text 26"/>
          <p:cNvSpPr txBox="1"/>
          <p:nvPr/>
        </p:nvSpPr>
        <p:spPr>
          <a:xfrm>
            <a:off x="1234440" y="3726688"/>
            <a:ext cx="1783080" cy="347472"/>
          </a:xfrm>
          <a:prstGeom prst="rect">
            <a:avLst/>
          </a:prstGeom>
          <a:noFill/>
          <a:ln/>
        </p:spPr>
        <p:txBody>
          <a:bodyPr wrap="square" lIns="0" tIns="0" rIns="0" bIns="0" rtlCol="0" anchor="ctr"/>
          <a:lstStyle/>
          <a:p>
            <a:pPr marL="0" indent="0">
              <a:buNone/>
            </a:pPr>
            <a:r>
              <a:rPr lang="en-US" sz="1000" dirty="0">
                <a:solidFill>
                  <a:srgbClr val="64748B"/>
                </a:solidFill>
                <a:latin typeface="맑은 고딕" pitchFamily="34" charset="0"/>
                <a:ea typeface="맑은 고딕" pitchFamily="34" charset="-122"/>
                <a:cs typeface="맑은 고딕" pitchFamily="34" charset="-120"/>
              </a:rPr>
              <a:t>앱 없이 음성으로</a:t>
            </a:r>
            <a:endParaRPr lang="en-US" sz="1000" dirty="0"/>
          </a:p>
        </p:txBody>
      </p:sp>
      <p:sp>
        <p:nvSpPr>
          <p:cNvPr id="35" name="Shape 27"/>
          <p:cNvSpPr/>
          <p:nvPr/>
        </p:nvSpPr>
        <p:spPr>
          <a:xfrm>
            <a:off x="3246120" y="3251200"/>
            <a:ext cx="2606040" cy="960120"/>
          </a:xfrm>
          <a:prstGeom prst="roundRect">
            <a:avLst>
              <a:gd name="adj" fmla="val 7619"/>
            </a:avLst>
          </a:prstGeom>
          <a:solidFill>
            <a:srgbClr val="F1F5F9"/>
          </a:solidFill>
          <a:ln w="12700">
            <a:solidFill>
              <a:srgbClr val="F1F5F9"/>
            </a:solidFill>
            <a:prstDash val="solid"/>
          </a:ln>
        </p:spPr>
        <p:txBody>
          <a:bodyPr/>
          <a:lstStyle/>
          <a:p>
            <a:endParaRPr lang="ko-KR" altLang="en-US"/>
          </a:p>
        </p:txBody>
      </p:sp>
      <p:pic>
        <p:nvPicPr>
          <p:cNvPr id="36" name="Image 5" descr="preencoded.png"/>
          <p:cNvPicPr>
            <a:picLocks noChangeAspect="1"/>
          </p:cNvPicPr>
          <p:nvPr/>
        </p:nvPicPr>
        <p:blipFill>
          <a:blip r:embed="rId8"/>
          <a:stretch>
            <a:fillRect/>
          </a:stretch>
        </p:blipFill>
        <p:spPr>
          <a:xfrm>
            <a:off x="3429000" y="3507232"/>
            <a:ext cx="457200" cy="457200"/>
          </a:xfrm>
          <a:prstGeom prst="rect">
            <a:avLst/>
          </a:prstGeom>
        </p:spPr>
      </p:pic>
      <p:sp>
        <p:nvSpPr>
          <p:cNvPr id="37" name="Text 28"/>
          <p:cNvSpPr txBox="1"/>
          <p:nvPr/>
        </p:nvSpPr>
        <p:spPr>
          <a:xfrm>
            <a:off x="4023360" y="3342640"/>
            <a:ext cx="1783080" cy="384048"/>
          </a:xfrm>
          <a:prstGeom prst="rect">
            <a:avLst/>
          </a:prstGeom>
          <a:noFill/>
          <a:ln/>
        </p:spPr>
        <p:txBody>
          <a:bodyPr wrap="square" lIns="0" tIns="0" rIns="0" bIns="0" rtlCol="0" anchor="ctr"/>
          <a:lstStyle/>
          <a:p>
            <a:pPr marL="0" indent="0">
              <a:buNone/>
            </a:pPr>
            <a:r>
              <a:rPr lang="en-US" sz="1250" b="1" dirty="0">
                <a:solidFill>
                  <a:srgbClr val="1E293B"/>
                </a:solidFill>
                <a:latin typeface="맑은 고딕" pitchFamily="34" charset="0"/>
                <a:ea typeface="맑은 고딕" pitchFamily="34" charset="-122"/>
                <a:cs typeface="맑은 고딕" pitchFamily="34" charset="-120"/>
              </a:rPr>
              <a:t>텔레뱅킹 대체</a:t>
            </a:r>
            <a:endParaRPr lang="en-US" sz="1250" dirty="0"/>
          </a:p>
        </p:txBody>
      </p:sp>
      <p:sp>
        <p:nvSpPr>
          <p:cNvPr id="38" name="Text 29"/>
          <p:cNvSpPr txBox="1"/>
          <p:nvPr/>
        </p:nvSpPr>
        <p:spPr>
          <a:xfrm>
            <a:off x="4023360" y="3726688"/>
            <a:ext cx="1783080" cy="347472"/>
          </a:xfrm>
          <a:prstGeom prst="rect">
            <a:avLst/>
          </a:prstGeom>
          <a:noFill/>
          <a:ln/>
        </p:spPr>
        <p:txBody>
          <a:bodyPr wrap="square" lIns="0" tIns="0" rIns="0" bIns="0" rtlCol="0" anchor="ctr"/>
          <a:lstStyle/>
          <a:p>
            <a:pPr marL="0" indent="0">
              <a:buNone/>
            </a:pPr>
            <a:r>
              <a:rPr lang="en-US" sz="1000" dirty="0">
                <a:solidFill>
                  <a:srgbClr val="64748B"/>
                </a:solidFill>
                <a:latin typeface="맑은 고딕" pitchFamily="34" charset="0"/>
                <a:ea typeface="맑은 고딕" pitchFamily="34" charset="-122"/>
                <a:cs typeface="맑은 고딕" pitchFamily="34" charset="-120"/>
              </a:rPr>
              <a:t>기다림 없이 바로</a:t>
            </a:r>
            <a:endParaRPr lang="en-US" sz="1000" dirty="0"/>
          </a:p>
        </p:txBody>
      </p:sp>
      <p:sp>
        <p:nvSpPr>
          <p:cNvPr id="39" name="Shape 30"/>
          <p:cNvSpPr/>
          <p:nvPr/>
        </p:nvSpPr>
        <p:spPr>
          <a:xfrm>
            <a:off x="6035040" y="3251200"/>
            <a:ext cx="2606040" cy="960120"/>
          </a:xfrm>
          <a:prstGeom prst="roundRect">
            <a:avLst>
              <a:gd name="adj" fmla="val 7619"/>
            </a:avLst>
          </a:prstGeom>
          <a:solidFill>
            <a:srgbClr val="F1F5F9"/>
          </a:solidFill>
          <a:ln w="12700">
            <a:solidFill>
              <a:srgbClr val="F1F5F9"/>
            </a:solidFill>
            <a:prstDash val="solid"/>
          </a:ln>
        </p:spPr>
        <p:txBody>
          <a:bodyPr/>
          <a:lstStyle/>
          <a:p>
            <a:endParaRPr lang="ko-KR" altLang="en-US"/>
          </a:p>
        </p:txBody>
      </p:sp>
      <p:pic>
        <p:nvPicPr>
          <p:cNvPr id="40" name="Image 6" descr="preencoded.png"/>
          <p:cNvPicPr>
            <a:picLocks noChangeAspect="1"/>
          </p:cNvPicPr>
          <p:nvPr/>
        </p:nvPicPr>
        <p:blipFill>
          <a:blip r:embed="rId9"/>
          <a:stretch>
            <a:fillRect/>
          </a:stretch>
        </p:blipFill>
        <p:spPr>
          <a:xfrm>
            <a:off x="6217920" y="3507232"/>
            <a:ext cx="457200" cy="457200"/>
          </a:xfrm>
          <a:prstGeom prst="rect">
            <a:avLst/>
          </a:prstGeom>
        </p:spPr>
      </p:pic>
      <p:sp>
        <p:nvSpPr>
          <p:cNvPr id="41" name="Text 31"/>
          <p:cNvSpPr txBox="1"/>
          <p:nvPr/>
        </p:nvSpPr>
        <p:spPr>
          <a:xfrm>
            <a:off x="6812280" y="3342640"/>
            <a:ext cx="1783080" cy="384048"/>
          </a:xfrm>
          <a:prstGeom prst="rect">
            <a:avLst/>
          </a:prstGeom>
          <a:noFill/>
          <a:ln/>
        </p:spPr>
        <p:txBody>
          <a:bodyPr wrap="square" lIns="0" tIns="0" rIns="0" bIns="0" rtlCol="0" anchor="ctr"/>
          <a:lstStyle/>
          <a:p>
            <a:pPr marL="0" indent="0">
              <a:buNone/>
            </a:pPr>
            <a:r>
              <a:rPr lang="en-US" sz="1250" b="1" dirty="0">
                <a:solidFill>
                  <a:srgbClr val="1E293B"/>
                </a:solidFill>
                <a:latin typeface="맑은 고딕" pitchFamily="34" charset="0"/>
                <a:ea typeface="맑은 고딕" pitchFamily="34" charset="-122"/>
                <a:cs typeface="맑은 고딕" pitchFamily="34" charset="-120"/>
              </a:rPr>
              <a:t>기기 안에서</a:t>
            </a:r>
            <a:endParaRPr lang="en-US" sz="1250" dirty="0"/>
          </a:p>
        </p:txBody>
      </p:sp>
      <p:sp>
        <p:nvSpPr>
          <p:cNvPr id="42" name="Text 32"/>
          <p:cNvSpPr txBox="1"/>
          <p:nvPr/>
        </p:nvSpPr>
        <p:spPr>
          <a:xfrm>
            <a:off x="6812280" y="3726688"/>
            <a:ext cx="1783080" cy="347472"/>
          </a:xfrm>
          <a:prstGeom prst="rect">
            <a:avLst/>
          </a:prstGeom>
          <a:noFill/>
          <a:ln/>
        </p:spPr>
        <p:txBody>
          <a:bodyPr wrap="square" lIns="0" tIns="0" rIns="0" bIns="0" rtlCol="0" anchor="ctr"/>
          <a:lstStyle/>
          <a:p>
            <a:pPr marL="0" indent="0">
              <a:buNone/>
            </a:pPr>
            <a:r>
              <a:rPr lang="en-US" sz="1000" dirty="0">
                <a:solidFill>
                  <a:srgbClr val="64748B"/>
                </a:solidFill>
                <a:latin typeface="맑은 고딕" pitchFamily="34" charset="0"/>
                <a:ea typeface="맑은 고딕" pitchFamily="34" charset="-122"/>
                <a:cs typeface="맑은 고딕" pitchFamily="34" charset="-120"/>
              </a:rPr>
              <a:t>개인정보 외부 전송 없음</a:t>
            </a:r>
            <a:endParaRPr lang="en-US" sz="1000" dirty="0"/>
          </a:p>
        </p:txBody>
      </p:sp>
    </p:spTree>
    <p:extLst>
      <p:ext uri="{BB962C8B-B14F-4D97-AF65-F5344CB8AC3E}">
        <p14:creationId xmlns:p14="http://schemas.microsoft.com/office/powerpoint/2010/main" val="4109391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3" name="Copied Picture 3" descr="금융 앱 화면, 카드, 동전, 화분이 놓인 일러스트">
            <a:extLst>
              <a:ext uri="{FF2B5EF4-FFF2-40B4-BE49-F238E27FC236}">
                <a16:creationId xmlns:a16="http://schemas.microsoft.com/office/drawing/2014/main" id="{CFF49144-4984-512D-23C9-11B66C5417A0}"/>
              </a:ext>
            </a:extLst>
          </p:cNvPr>
          <p:cNvPicPr>
            <a:picLocks noChangeAspect="1"/>
          </p:cNvPicPr>
          <p:nvPr/>
        </p:nvPicPr>
        <p:blipFill>
          <a:blip r:embed="rId3"/>
          <a:srcRect l="4000" r="40440"/>
          <a:stretch>
            <a:fillRect/>
          </a:stretch>
        </p:blipFill>
        <p:spPr>
          <a:xfrm>
            <a:off x="4013200" y="-279400"/>
            <a:ext cx="5651500" cy="5702300"/>
          </a:xfrm>
          <a:prstGeom prst="rect">
            <a:avLst/>
          </a:prstGeom>
          <a:effectLst>
            <a:softEdge rad="317500"/>
          </a:effectLst>
        </p:spPr>
      </p:pic>
      <p:sp>
        <p:nvSpPr>
          <p:cNvPr id="2" name="Text 0"/>
          <p:cNvSpPr txBox="1"/>
          <p:nvPr/>
        </p:nvSpPr>
        <p:spPr>
          <a:xfrm>
            <a:off x="508000" y="1981200"/>
            <a:ext cx="3302000" cy="1016000"/>
          </a:xfrm>
          <a:prstGeom prst="rect">
            <a:avLst/>
          </a:prstGeom>
          <a:noFill/>
          <a:ln/>
        </p:spPr>
        <p:txBody>
          <a:bodyPr wrap="square" lIns="0" tIns="0" rIns="0" bIns="0" rtlCol="0" anchor="ctr"/>
          <a:lstStyle/>
          <a:p>
            <a:pPr marL="0" indent="0">
              <a:buNone/>
            </a:pPr>
            <a:r>
              <a:rPr lang="en-US" sz="5400" b="1" dirty="0">
                <a:solidFill>
                  <a:srgbClr val="1B2A3A"/>
                </a:solidFill>
                <a:latin typeface="맑은 고딕" pitchFamily="34" charset="0"/>
                <a:ea typeface="맑은 고딕" pitchFamily="34" charset="-122"/>
                <a:cs typeface="맑은 고딕" pitchFamily="34" charset="-120"/>
              </a:rPr>
              <a:t>Q&amp;A</a:t>
            </a:r>
            <a:endParaRPr lang="en-US" sz="5400" dirty="0"/>
          </a:p>
        </p:txBody>
      </p:sp>
      <p:sp>
        <p:nvSpPr>
          <p:cNvPr id="10" name="Eyebrow"/>
          <p:cNvSpPr txBox="1"/>
          <p:nvPr/>
        </p:nvSpPr>
        <p:spPr>
          <a:xfrm>
            <a:off x="508000" y="1524000"/>
            <a:ext cx="3556000" cy="228600"/>
          </a:xfrm>
          <a:prstGeom prst="rect">
            <a:avLst/>
          </a:prstGeom>
          <a:noFill/>
        </p:spPr>
        <p:txBody>
          <a:bodyPr wrap="square" lIns="0" tIns="0" rIns="0" bIns="0" anchor="t"/>
          <a:lstStyle/>
          <a:p>
            <a:pPr marL="0" indent="0">
              <a:buNone/>
            </a:pPr>
            <a:r>
              <a:rPr lang="en-US" sz="1200" b="1" spc="200" dirty="0">
                <a:solidFill>
                  <a:srgbClr val="41659E"/>
                </a:solidFill>
                <a:latin typeface="맑은 고딕" pitchFamily="34" charset="0"/>
                <a:ea typeface="맑은 고딕" pitchFamily="34" charset="-122"/>
                <a:cs typeface="맑은 고딕" pitchFamily="34" charset="-120"/>
              </a:rPr>
              <a:t>BANK WRAP</a:t>
            </a:r>
          </a:p>
        </p:txBody>
      </p:sp>
      <p:sp>
        <p:nvSpPr>
          <p:cNvPr id="11" name="Accent Bar"/>
          <p:cNvSpPr/>
          <p:nvPr/>
        </p:nvSpPr>
        <p:spPr>
          <a:xfrm>
            <a:off x="508000" y="1828800"/>
            <a:ext cx="558800" cy="50800"/>
          </a:xfrm>
          <a:prstGeom prst="rect">
            <a:avLst/>
          </a:prstGeom>
          <a:solidFill>
            <a:srgbClr val="F2C94C"/>
          </a:solidFill>
          <a:ln>
            <a:noFill/>
          </a:ln>
        </p:spPr>
        <p:txBody>
          <a:bodyPr/>
          <a:lstStyle/>
          <a:p>
            <a:endParaRPr lang="en-US"/>
          </a:p>
        </p:txBody>
      </p:sp>
      <p:sp>
        <p:nvSpPr>
          <p:cNvPr id="12" name="Subtitle"/>
          <p:cNvSpPr txBox="1"/>
          <p:nvPr/>
        </p:nvSpPr>
        <p:spPr>
          <a:xfrm>
            <a:off x="508000" y="3098800"/>
            <a:ext cx="3302000" cy="304800"/>
          </a:xfrm>
          <a:prstGeom prst="rect">
            <a:avLst/>
          </a:prstGeom>
          <a:noFill/>
        </p:spPr>
        <p:txBody>
          <a:bodyPr wrap="square" lIns="0" tIns="0" rIns="0" bIns="0" anchor="t"/>
          <a:lstStyle/>
          <a:p>
            <a:pPr marL="0" indent="0">
              <a:buNone/>
            </a:pPr>
            <a:r>
              <a:rPr lang="ko-KR" sz="1600" dirty="0">
                <a:solidFill>
                  <a:srgbClr val="334155"/>
                </a:solidFill>
                <a:latin typeface="맑은 고딕" pitchFamily="34" charset="0"/>
                <a:ea typeface="맑은 고딕" pitchFamily="34" charset="-122"/>
                <a:cs typeface="맑은 고딕" pitchFamily="34" charset="-120"/>
              </a:rPr>
              <a:t>질문과 답변</a:t>
            </a:r>
          </a:p>
        </p:txBody>
      </p:sp>
    </p:spTree>
    <p:extLst>
      <p:ext uri="{BB962C8B-B14F-4D97-AF65-F5344CB8AC3E}">
        <p14:creationId xmlns:p14="http://schemas.microsoft.com/office/powerpoint/2010/main" val="3685927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pic>
        <p:nvPicPr>
          <p:cNvPr id="7" name="Copied Picture 7" descr="금융 앱 화면, 카드, 동전, 화분이 놓인 일러스트">
            <a:extLst>
              <a:ext uri="{FF2B5EF4-FFF2-40B4-BE49-F238E27FC236}">
                <a16:creationId xmlns:a16="http://schemas.microsoft.com/office/drawing/2014/main" id="{CFF49144-4984-512D-23C9-11B66C5417A0}"/>
              </a:ext>
            </a:extLst>
          </p:cNvPr>
          <p:cNvPicPr>
            <a:picLocks noChangeAspect="1"/>
          </p:cNvPicPr>
          <p:nvPr/>
        </p:nvPicPr>
        <p:blipFill>
          <a:blip r:embed="rId3"/>
          <a:srcRect l="44440"/>
          <a:stretch>
            <a:fillRect/>
          </a:stretch>
        </p:blipFill>
        <p:spPr>
          <a:xfrm>
            <a:off x="4013200" y="-279400"/>
            <a:ext cx="5651500" cy="5702300"/>
          </a:xfrm>
          <a:prstGeom prst="rect">
            <a:avLst/>
          </a:prstGeom>
          <a:effectLst>
            <a:softEdge rad="317500"/>
          </a:effectLst>
        </p:spPr>
      </p:pic>
      <p:sp>
        <p:nvSpPr>
          <p:cNvPr id="4" name="Text 1"/>
          <p:cNvSpPr txBox="1"/>
          <p:nvPr/>
        </p:nvSpPr>
        <p:spPr>
          <a:xfrm>
            <a:off x="508000" y="1981200"/>
            <a:ext cx="3429000" cy="812800"/>
          </a:xfrm>
          <a:prstGeom prst="rect">
            <a:avLst/>
          </a:prstGeom>
          <a:noFill/>
          <a:ln/>
        </p:spPr>
        <p:txBody>
          <a:bodyPr wrap="square" lIns="0" tIns="0" rIns="0" bIns="0" rtlCol="0" anchor="ctr"/>
          <a:lstStyle/>
          <a:p>
            <a:pPr marL="0" indent="0">
              <a:buNone/>
            </a:pPr>
            <a:r>
              <a:rPr lang="en-US" sz="4000" b="1" dirty="0">
                <a:solidFill>
                  <a:srgbClr val="1B2A3A"/>
                </a:solidFill>
                <a:latin typeface="맑은 고딕" pitchFamily="34" charset="0"/>
                <a:ea typeface="맑은 고딕" pitchFamily="34" charset="-122"/>
                <a:cs typeface="맑은 고딕" pitchFamily="34" charset="-120"/>
              </a:rPr>
              <a:t>감사합니다</a:t>
            </a:r>
            <a:endParaRPr lang="en-US" sz="4000" dirty="0"/>
          </a:p>
        </p:txBody>
      </p:sp>
      <p:sp>
        <p:nvSpPr>
          <p:cNvPr id="5" name="Text 2"/>
          <p:cNvSpPr txBox="1"/>
          <p:nvPr/>
        </p:nvSpPr>
        <p:spPr>
          <a:xfrm>
            <a:off x="508000" y="2946400"/>
            <a:ext cx="3429000" cy="304800"/>
          </a:xfrm>
          <a:prstGeom prst="rect">
            <a:avLst/>
          </a:prstGeom>
          <a:noFill/>
          <a:ln/>
        </p:spPr>
        <p:txBody>
          <a:bodyPr wrap="square" lIns="0" tIns="0" rIns="0" bIns="0" rtlCol="0" anchor="ctr"/>
          <a:lstStyle/>
          <a:p>
            <a:pPr marL="0" indent="0">
              <a:buNone/>
            </a:pPr>
            <a:r>
              <a:rPr lang="en-US" sz="1600" dirty="0">
                <a:solidFill>
                  <a:srgbClr val="334155"/>
                </a:solidFill>
                <a:latin typeface="맑은 고딕" pitchFamily="34" charset="0"/>
                <a:ea typeface="맑은 고딕" pitchFamily="34" charset="-122"/>
                <a:cs typeface="맑은 고딕" pitchFamily="34" charset="-120"/>
              </a:rPr>
              <a:t>온디바이스 AI에 붙이는 금융 조회 서비스</a:t>
            </a:r>
            <a:endParaRPr lang="en-US" sz="1600" dirty="0"/>
          </a:p>
        </p:txBody>
      </p:sp>
      <p:sp>
        <p:nvSpPr>
          <p:cNvPr id="6" name="Text 3"/>
          <p:cNvSpPr txBox="1"/>
          <p:nvPr/>
        </p:nvSpPr>
        <p:spPr>
          <a:xfrm>
            <a:off x="508000" y="4724400"/>
            <a:ext cx="3429000" cy="228600"/>
          </a:xfrm>
          <a:prstGeom prst="rect">
            <a:avLst/>
          </a:prstGeom>
          <a:noFill/>
          <a:ln/>
        </p:spPr>
        <p:txBody>
          <a:bodyPr wrap="square" lIns="0" tIns="0" rIns="0" bIns="0" rtlCol="0" anchor="t"/>
          <a:lstStyle/>
          <a:p>
            <a:pPr marL="0" indent="0">
              <a:buNone/>
            </a:pPr>
            <a:r>
              <a:rPr lang="en-US" sz="1200" dirty="0">
                <a:solidFill>
                  <a:srgbClr val="475569"/>
                </a:solidFill>
                <a:latin typeface="맑은 고딕" pitchFamily="34" charset="0"/>
                <a:ea typeface="맑은 고딕" pitchFamily="34" charset="-122"/>
                <a:cs typeface="맑은 고딕" pitchFamily="34" charset="-120"/>
              </a:rPr>
              <a:t>AF  ·  [GitHub / 데모 링크]</a:t>
            </a:r>
            <a:endParaRPr lang="en-US" sz="1200" dirty="0"/>
          </a:p>
        </p:txBody>
      </p:sp>
      <p:sp>
        <p:nvSpPr>
          <p:cNvPr id="10" name="Eyebrow"/>
          <p:cNvSpPr txBox="1"/>
          <p:nvPr/>
        </p:nvSpPr>
        <p:spPr>
          <a:xfrm>
            <a:off x="508000" y="1524000"/>
            <a:ext cx="3556000" cy="228600"/>
          </a:xfrm>
          <a:prstGeom prst="rect">
            <a:avLst/>
          </a:prstGeom>
          <a:noFill/>
        </p:spPr>
        <p:txBody>
          <a:bodyPr wrap="square" lIns="0" tIns="0" rIns="0" bIns="0" anchor="t"/>
          <a:lstStyle/>
          <a:p>
            <a:pPr marL="0" indent="0">
              <a:buNone/>
            </a:pPr>
            <a:r>
              <a:rPr lang="en-US" sz="1200" b="1" spc="200" dirty="0">
                <a:solidFill>
                  <a:srgbClr val="41659E"/>
                </a:solidFill>
                <a:latin typeface="맑은 고딕" pitchFamily="34" charset="0"/>
                <a:ea typeface="맑은 고딕" pitchFamily="34" charset="-122"/>
                <a:cs typeface="맑은 고딕" pitchFamily="34" charset="-120"/>
              </a:rPr>
              <a:t>BANK WRAP</a:t>
            </a:r>
          </a:p>
        </p:txBody>
      </p:sp>
      <p:sp>
        <p:nvSpPr>
          <p:cNvPr id="11" name="Accent Bar"/>
          <p:cNvSpPr/>
          <p:nvPr/>
        </p:nvSpPr>
        <p:spPr>
          <a:xfrm>
            <a:off x="508000" y="1828800"/>
            <a:ext cx="558800" cy="50800"/>
          </a:xfrm>
          <a:prstGeom prst="rect">
            <a:avLst/>
          </a:prstGeom>
          <a:solidFill>
            <a:srgbClr val="F2C94C"/>
          </a:solidFill>
          <a:ln>
            <a:noFill/>
          </a:ln>
        </p:spPr>
        <p:txBody>
          <a:bodyPr/>
          <a:lstStyle/>
          <a:p>
            <a:endParaRPr lang="en-US"/>
          </a:p>
        </p:txBody>
      </p:sp>
    </p:spTree>
    <p:extLst>
      <p:ext uri="{BB962C8B-B14F-4D97-AF65-F5344CB8AC3E}">
        <p14:creationId xmlns:p14="http://schemas.microsoft.com/office/powerpoint/2010/main" val="3114818489"/>
      </p:ext>
    </p:extLst>
  </p:cSld>
  <p:clrMapOvr>
    <a:masterClrMapping/>
  </p:clrMapOvr>
</p:sld>
</file>

<file path=ppt/theme/theme1.xml><?xml version="1.0" encoding="utf-8"?>
<a:theme xmlns:a="http://schemas.openxmlformats.org/drawingml/2006/main" name="Office Theme [1790749459345]">
  <a:themeElements>
    <a:clrScheme name="Office">
      <a:dk1>
        <a:sysClr val="windowText" lastClr="000000"/>
      </a:dk1>
      <a:lt1>
        <a:sysClr val="window" lastClr="FFFFFF"/>
      </a:lt1>
      <a:dk2>
        <a:srgbClr val="44546A"/>
      </a:dk2>
      <a:lt2>
        <a:srgbClr val="E7E6E6"/>
      </a:lt2>
      <a:accent1>
        <a:srgbClr val="41659E"/>
      </a:accent1>
      <a:accent2>
        <a:srgbClr val="F2C94C"/>
      </a:accent2>
      <a:accent3>
        <a:srgbClr val="8FA6C4"/>
      </a:accent3>
      <a:accent4>
        <a:srgbClr val="F0B7AE"/>
      </a:accent4>
      <a:accent5>
        <a:srgbClr val="7FB5A8"/>
      </a:accent5>
      <a:accent6>
        <a:srgbClr val="E58A3A"/>
      </a:accent6>
      <a:hlink>
        <a:srgbClr val="41659E"/>
      </a:hlink>
      <a:folHlink>
        <a:srgbClr val="8FA6C4"/>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55580E3-DECF-4F3E-8772-7BCA7518C197}">
  <we:reference id="wa200010725" version="1.0.0.1" store="ko-KR" storeType="OMEX"/>
  <we:alternateReferences>
    <we:reference id="wa200010725" version="1.0.0.1" store="wa200010725" storeType="OMEX"/>
  </we:alternateReferences>
  <we:properties>
    <we:property name="claude.fileId" value="&quot;2a405c4e-329f-4b41-80b0-6946fbaa4f08&quot;"/>
  </we:properties>
  <we:bindings/>
  <we:snapshot xmlns:r="http://schemas.openxmlformats.org/officeDocument/2006/relationships"/>
</we:webextension>
</file>

<file path=ppt/webextensions/webextension2.xml><?xml version="1.0" encoding="utf-8"?>
<we:webextension xmlns:we="http://schemas.microsoft.com/office/webextensions/webextension/2010/11" id="{84313BA8-BAD6-4A94-80DA-538072C8D388}">
  <we:reference id="wa200010215" version="2.0.0.0" store="ko-KR" storeType="OMEX"/>
  <we:alternateReferences>
    <we:reference id="wa200010215" version="2.0.0.0" store="wa20001021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89</TotalTime>
  <Words>4113</Words>
  <Application>Microsoft Office PowerPoint</Application>
  <PresentationFormat>화면 슬라이드 쇼(16:9)</PresentationFormat>
  <Paragraphs>621</Paragraphs>
  <Slides>25</Slides>
  <Notes>25</Notes>
  <HiddenSlides>1</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25</vt:i4>
      </vt:variant>
    </vt:vector>
  </HeadingPairs>
  <TitlesOfParts>
    <vt:vector size="28" baseType="lpstr">
      <vt:lpstr>맑은 고딕</vt:lpstr>
      <vt:lpstr>Arial</vt:lpstr>
      <vt:lpstr>Office Theme [1790749459345]</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대화로 꺼내 보는 내 금융 정보</dc:title>
  <dc:subject>PptxGenJS Presentation</dc:subject>
  <dc:creator>PptxGenJS</dc:creator>
  <cp:lastModifiedBy>Admin</cp:lastModifiedBy>
  <cp:revision>18</cp:revision>
  <dcterms:created xsi:type="dcterms:W3CDTF">2026-09-30T03:32:38Z</dcterms:created>
  <dcterms:modified xsi:type="dcterms:W3CDTF">2026-09-30T07:54:01Z</dcterms:modified>
</cp:coreProperties>
</file>